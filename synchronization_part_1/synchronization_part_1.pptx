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7" r:id="rId2"/>
  </p:sldMasterIdLst>
  <p:notesMasterIdLst>
    <p:notesMasterId r:id="rId50"/>
  </p:notesMasterIdLst>
  <p:sldIdLst>
    <p:sldId id="330" r:id="rId3"/>
    <p:sldId id="526" r:id="rId4"/>
    <p:sldId id="332" r:id="rId5"/>
    <p:sldId id="334" r:id="rId6"/>
    <p:sldId id="257" r:id="rId7"/>
    <p:sldId id="260" r:id="rId8"/>
    <p:sldId id="530" r:id="rId9"/>
    <p:sldId id="335" r:id="rId10"/>
    <p:sldId id="261" r:id="rId11"/>
    <p:sldId id="262" r:id="rId12"/>
    <p:sldId id="263" r:id="rId13"/>
    <p:sldId id="311" r:id="rId14"/>
    <p:sldId id="312" r:id="rId15"/>
    <p:sldId id="313" r:id="rId16"/>
    <p:sldId id="314" r:id="rId17"/>
    <p:sldId id="336" r:id="rId18"/>
    <p:sldId id="315" r:id="rId19"/>
    <p:sldId id="316" r:id="rId20"/>
    <p:sldId id="318" r:id="rId21"/>
    <p:sldId id="328" r:id="rId22"/>
    <p:sldId id="329" r:id="rId23"/>
    <p:sldId id="337" r:id="rId24"/>
    <p:sldId id="321" r:id="rId25"/>
    <p:sldId id="322" r:id="rId26"/>
    <p:sldId id="323" r:id="rId27"/>
    <p:sldId id="324" r:id="rId28"/>
    <p:sldId id="325" r:id="rId29"/>
    <p:sldId id="306" r:id="rId30"/>
    <p:sldId id="338" r:id="rId31"/>
    <p:sldId id="272" r:id="rId32"/>
    <p:sldId id="331" r:id="rId33"/>
    <p:sldId id="274" r:id="rId34"/>
    <p:sldId id="275" r:id="rId35"/>
    <p:sldId id="300" r:id="rId36"/>
    <p:sldId id="339" r:id="rId37"/>
    <p:sldId id="277" r:id="rId38"/>
    <p:sldId id="278" r:id="rId39"/>
    <p:sldId id="279" r:id="rId40"/>
    <p:sldId id="340" r:id="rId41"/>
    <p:sldId id="280" r:id="rId42"/>
    <p:sldId id="283" r:id="rId43"/>
    <p:sldId id="284" r:id="rId44"/>
    <p:sldId id="533" r:id="rId45"/>
    <p:sldId id="527" r:id="rId46"/>
    <p:sldId id="529" r:id="rId47"/>
    <p:sldId id="534" r:id="rId48"/>
    <p:sldId id="535" r:id="rId49"/>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DE4FBF-952D-E04D-838A-86399BBBFCC5}" v="26" dt="2025-09-18T12:07:48.5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681"/>
    <p:restoredTop sz="62785"/>
  </p:normalViewPr>
  <p:slideViewPr>
    <p:cSldViewPr snapToGrid="0" snapToObjects="1" showGuides="1">
      <p:cViewPr varScale="1">
        <p:scale>
          <a:sx n="125" d="100"/>
          <a:sy n="125" d="100"/>
        </p:scale>
        <p:origin x="3840" y="1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similiano Gulisano" userId="887d7398-9e41-4331-abd4-9c23f064ea90" providerId="ADAL" clId="{8EA10870-6395-588A-9409-E8E4CA631CF7}"/>
    <pc:docChg chg="undo redo custSel addSld delSld modSld">
      <pc:chgData name="Vincenzo Massimiliano Gulisano" userId="887d7398-9e41-4331-abd4-9c23f064ea90" providerId="ADAL" clId="{8EA10870-6395-588A-9409-E8E4CA631CF7}" dt="2025-10-02T10:53:41.747" v="1644" actId="20577"/>
      <pc:docMkLst>
        <pc:docMk/>
      </pc:docMkLst>
      <pc:sldChg chg="modNotesTx">
        <pc:chgData name="Vincenzo Massimiliano Gulisano" userId="887d7398-9e41-4331-abd4-9c23f064ea90" providerId="ADAL" clId="{8EA10870-6395-588A-9409-E8E4CA631CF7}" dt="2025-10-02T10:51:11.295" v="1283" actId="20577"/>
        <pc:sldMkLst>
          <pc:docMk/>
          <pc:sldMk cId="3957584932" sldId="261"/>
        </pc:sldMkLst>
      </pc:sldChg>
      <pc:sldChg chg="modNotesTx">
        <pc:chgData name="Vincenzo Massimiliano Gulisano" userId="887d7398-9e41-4331-abd4-9c23f064ea90" providerId="ADAL" clId="{8EA10870-6395-588A-9409-E8E4CA631CF7}" dt="2025-10-02T10:51:29.465" v="1342" actId="20577"/>
        <pc:sldMkLst>
          <pc:docMk/>
          <pc:sldMk cId="342375734" sldId="263"/>
        </pc:sldMkLst>
      </pc:sldChg>
      <pc:sldChg chg="modSp mod">
        <pc:chgData name="Vincenzo Massimiliano Gulisano" userId="887d7398-9e41-4331-abd4-9c23f064ea90" providerId="ADAL" clId="{8EA10870-6395-588A-9409-E8E4CA631CF7}" dt="2025-09-14T13:01:44.391" v="12" actId="27636"/>
        <pc:sldMkLst>
          <pc:docMk/>
          <pc:sldMk cId="2399693422" sldId="272"/>
        </pc:sldMkLst>
        <pc:spChg chg="mod">
          <ac:chgData name="Vincenzo Massimiliano Gulisano" userId="887d7398-9e41-4331-abd4-9c23f064ea90" providerId="ADAL" clId="{8EA10870-6395-588A-9409-E8E4CA631CF7}" dt="2025-09-14T13:01:44.391" v="12" actId="27636"/>
          <ac:spMkLst>
            <pc:docMk/>
            <pc:sldMk cId="2399693422" sldId="272"/>
            <ac:spMk id="4" creationId="{CAF81207-66F7-53D2-5FBA-FD00D03BBFD6}"/>
          </ac:spMkLst>
        </pc:spChg>
      </pc:sldChg>
      <pc:sldChg chg="modSp">
        <pc:chgData name="Vincenzo Massimiliano Gulisano" userId="887d7398-9e41-4331-abd4-9c23f064ea90" providerId="ADAL" clId="{8EA10870-6395-588A-9409-E8E4CA631CF7}" dt="2025-09-18T04:47:08.509" v="360" actId="20577"/>
        <pc:sldMkLst>
          <pc:docMk/>
          <pc:sldMk cId="3590312673" sldId="277"/>
        </pc:sldMkLst>
        <pc:spChg chg="mod">
          <ac:chgData name="Vincenzo Massimiliano Gulisano" userId="887d7398-9e41-4331-abd4-9c23f064ea90" providerId="ADAL" clId="{8EA10870-6395-588A-9409-E8E4CA631CF7}" dt="2025-09-18T04:47:08.509" v="360" actId="20577"/>
          <ac:spMkLst>
            <pc:docMk/>
            <pc:sldMk cId="3590312673" sldId="277"/>
            <ac:spMk id="2" creationId="{00000000-0000-0000-0000-000000000000}"/>
          </ac:spMkLst>
        </pc:spChg>
      </pc:sldChg>
      <pc:sldChg chg="modNotesTx">
        <pc:chgData name="Vincenzo Massimiliano Gulisano" userId="887d7398-9e41-4331-abd4-9c23f064ea90" providerId="ADAL" clId="{8EA10870-6395-588A-9409-E8E4CA631CF7}" dt="2025-09-18T04:53:02.104" v="612" actId="20577"/>
        <pc:sldMkLst>
          <pc:docMk/>
          <pc:sldMk cId="1687524369" sldId="280"/>
        </pc:sldMkLst>
      </pc:sldChg>
      <pc:sldChg chg="modNotesTx">
        <pc:chgData name="Vincenzo Massimiliano Gulisano" userId="887d7398-9e41-4331-abd4-9c23f064ea90" providerId="ADAL" clId="{8EA10870-6395-588A-9409-E8E4CA631CF7}" dt="2025-10-02T10:53:41.747" v="1644" actId="20577"/>
        <pc:sldMkLst>
          <pc:docMk/>
          <pc:sldMk cId="2601383085" sldId="312"/>
        </pc:sldMkLst>
      </pc:sldChg>
      <pc:sldChg chg="modNotesTx">
        <pc:chgData name="Vincenzo Massimiliano Gulisano" userId="887d7398-9e41-4331-abd4-9c23f064ea90" providerId="ADAL" clId="{8EA10870-6395-588A-9409-E8E4CA631CF7}" dt="2025-10-02T10:49:38.566" v="965" actId="20577"/>
        <pc:sldMkLst>
          <pc:docMk/>
          <pc:sldMk cId="1113046739" sldId="332"/>
        </pc:sldMkLst>
      </pc:sldChg>
      <pc:sldChg chg="modSp mod">
        <pc:chgData name="Vincenzo Massimiliano Gulisano" userId="887d7398-9e41-4331-abd4-9c23f064ea90" providerId="ADAL" clId="{8EA10870-6395-588A-9409-E8E4CA631CF7}" dt="2025-09-18T12:07:54.046" v="677" actId="20577"/>
        <pc:sldMkLst>
          <pc:docMk/>
          <pc:sldMk cId="1787128078" sldId="526"/>
        </pc:sldMkLst>
        <pc:spChg chg="mod">
          <ac:chgData name="Vincenzo Massimiliano Gulisano" userId="887d7398-9e41-4331-abd4-9c23f064ea90" providerId="ADAL" clId="{8EA10870-6395-588A-9409-E8E4CA631CF7}" dt="2025-09-18T12:07:54.046" v="677" actId="20577"/>
          <ac:spMkLst>
            <pc:docMk/>
            <pc:sldMk cId="1787128078" sldId="526"/>
            <ac:spMk id="3" creationId="{00000000-0000-0000-0000-000000000000}"/>
          </ac:spMkLst>
        </pc:spChg>
      </pc:sldChg>
      <pc:sldChg chg="addSp modSp new mod modNotesTx">
        <pc:chgData name="Vincenzo Massimiliano Gulisano" userId="887d7398-9e41-4331-abd4-9c23f064ea90" providerId="ADAL" clId="{8EA10870-6395-588A-9409-E8E4CA631CF7}" dt="2025-09-14T13:05:10.416" v="121" actId="20577"/>
        <pc:sldMkLst>
          <pc:docMk/>
          <pc:sldMk cId="672151176" sldId="527"/>
        </pc:sldMkLst>
        <pc:spChg chg="mod">
          <ac:chgData name="Vincenzo Massimiliano Gulisano" userId="887d7398-9e41-4331-abd4-9c23f064ea90" providerId="ADAL" clId="{8EA10870-6395-588A-9409-E8E4CA631CF7}" dt="2025-09-14T13:01:43.004" v="10" actId="20577"/>
          <ac:spMkLst>
            <pc:docMk/>
            <pc:sldMk cId="672151176" sldId="527"/>
            <ac:spMk id="2" creationId="{4B32D54B-AB4D-2C1E-408B-79024E6D4BCF}"/>
          </ac:spMkLst>
        </pc:spChg>
        <pc:spChg chg="mod">
          <ac:chgData name="Vincenzo Massimiliano Gulisano" userId="887d7398-9e41-4331-abd4-9c23f064ea90" providerId="ADAL" clId="{8EA10870-6395-588A-9409-E8E4CA631CF7}" dt="2025-09-14T13:02:50.554" v="79" actId="20577"/>
          <ac:spMkLst>
            <pc:docMk/>
            <pc:sldMk cId="672151176" sldId="527"/>
            <ac:spMk id="3" creationId="{92BBEEEA-0D66-BC0A-7051-F11FD6ECDBDB}"/>
          </ac:spMkLst>
        </pc:spChg>
        <pc:spChg chg="add mod">
          <ac:chgData name="Vincenzo Massimiliano Gulisano" userId="887d7398-9e41-4331-abd4-9c23f064ea90" providerId="ADAL" clId="{8EA10870-6395-588A-9409-E8E4CA631CF7}" dt="2025-09-14T13:02:09.109" v="32" actId="1076"/>
          <ac:spMkLst>
            <pc:docMk/>
            <pc:sldMk cId="672151176" sldId="527"/>
            <ac:spMk id="6" creationId="{C9CDFBBC-A9FC-9E9E-BB32-5C02D267E20D}"/>
          </ac:spMkLst>
        </pc:spChg>
        <pc:spChg chg="add mod">
          <ac:chgData name="Vincenzo Massimiliano Gulisano" userId="887d7398-9e41-4331-abd4-9c23f064ea90" providerId="ADAL" clId="{8EA10870-6395-588A-9409-E8E4CA631CF7}" dt="2025-09-14T13:02:25.043" v="46" actId="1076"/>
          <ac:spMkLst>
            <pc:docMk/>
            <pc:sldMk cId="672151176" sldId="527"/>
            <ac:spMk id="8" creationId="{11FCA536-4919-2995-C128-91B5627DE596}"/>
          </ac:spMkLst>
        </pc:spChg>
        <pc:spChg chg="add mod">
          <ac:chgData name="Vincenzo Massimiliano Gulisano" userId="887d7398-9e41-4331-abd4-9c23f064ea90" providerId="ADAL" clId="{8EA10870-6395-588A-9409-E8E4CA631CF7}" dt="2025-09-14T13:02:39.164" v="59" actId="1076"/>
          <ac:spMkLst>
            <pc:docMk/>
            <pc:sldMk cId="672151176" sldId="527"/>
            <ac:spMk id="10" creationId="{27AA2EB2-ADC6-DFDE-A86D-DA018E32B47A}"/>
          </ac:spMkLst>
        </pc:spChg>
      </pc:sldChg>
      <pc:sldChg chg="modSp add mod modNotesTx">
        <pc:chgData name="Vincenzo Massimiliano Gulisano" userId="887d7398-9e41-4331-abd4-9c23f064ea90" providerId="ADAL" clId="{8EA10870-6395-588A-9409-E8E4CA631CF7}" dt="2025-09-14T13:05:17.862" v="135" actId="20577"/>
        <pc:sldMkLst>
          <pc:docMk/>
          <pc:sldMk cId="2325556078" sldId="528"/>
        </pc:sldMkLst>
        <pc:spChg chg="mod">
          <ac:chgData name="Vincenzo Massimiliano Gulisano" userId="887d7398-9e41-4331-abd4-9c23f064ea90" providerId="ADAL" clId="{8EA10870-6395-588A-9409-E8E4CA631CF7}" dt="2025-09-14T13:03:20.778" v="98" actId="20577"/>
          <ac:spMkLst>
            <pc:docMk/>
            <pc:sldMk cId="2325556078" sldId="528"/>
            <ac:spMk id="3" creationId="{0A4E92D1-AAFA-451F-85FB-B8745F330658}"/>
          </ac:spMkLst>
        </pc:spChg>
      </pc:sldChg>
      <pc:sldChg chg="modSp add mod modNotesTx">
        <pc:chgData name="Vincenzo Massimiliano Gulisano" userId="887d7398-9e41-4331-abd4-9c23f064ea90" providerId="ADAL" clId="{8EA10870-6395-588A-9409-E8E4CA631CF7}" dt="2025-09-14T13:05:22.478" v="141" actId="20577"/>
        <pc:sldMkLst>
          <pc:docMk/>
          <pc:sldMk cId="277847942" sldId="529"/>
        </pc:sldMkLst>
        <pc:spChg chg="mod">
          <ac:chgData name="Vincenzo Massimiliano Gulisano" userId="887d7398-9e41-4331-abd4-9c23f064ea90" providerId="ADAL" clId="{8EA10870-6395-588A-9409-E8E4CA631CF7}" dt="2025-09-14T13:05:02.229" v="119" actId="20577"/>
          <ac:spMkLst>
            <pc:docMk/>
            <pc:sldMk cId="277847942" sldId="529"/>
            <ac:spMk id="3" creationId="{91C2C583-82BF-4E57-1DC6-4D97AE6080E7}"/>
          </ac:spMkLst>
        </pc:spChg>
      </pc:sldChg>
      <pc:sldChg chg="addSp delSp modSp add mod addAnim delAnim modAnim">
        <pc:chgData name="Vincenzo Massimiliano Gulisano" userId="887d7398-9e41-4331-abd4-9c23f064ea90" providerId="ADAL" clId="{8EA10870-6395-588A-9409-E8E4CA631CF7}" dt="2025-09-14T13:12:42.074" v="358" actId="1076"/>
        <pc:sldMkLst>
          <pc:docMk/>
          <pc:sldMk cId="4187201819" sldId="530"/>
        </pc:sldMkLst>
        <pc:spChg chg="mod">
          <ac:chgData name="Vincenzo Massimiliano Gulisano" userId="887d7398-9e41-4331-abd4-9c23f064ea90" providerId="ADAL" clId="{8EA10870-6395-588A-9409-E8E4CA631CF7}" dt="2025-09-14T13:10:02.232" v="151" actId="20577"/>
          <ac:spMkLst>
            <pc:docMk/>
            <pc:sldMk cId="4187201819" sldId="530"/>
            <ac:spMk id="2" creationId="{85CFC4AE-A674-D629-F570-295757EB689F}"/>
          </ac:spMkLst>
        </pc:spChg>
        <pc:spChg chg="add del mod">
          <ac:chgData name="Vincenzo Massimiliano Gulisano" userId="887d7398-9e41-4331-abd4-9c23f064ea90" providerId="ADAL" clId="{8EA10870-6395-588A-9409-E8E4CA631CF7}" dt="2025-09-14T13:12:42.074" v="358" actId="1076"/>
          <ac:spMkLst>
            <pc:docMk/>
            <pc:sldMk cId="4187201819" sldId="530"/>
            <ac:spMk id="12" creationId="{7D8E0334-2094-D24D-A1C1-1C5DF3DDCA0B}"/>
          </ac:spMkLst>
        </pc:spChg>
        <pc:spChg chg="mod">
          <ac:chgData name="Vincenzo Massimiliano Gulisano" userId="887d7398-9e41-4331-abd4-9c23f064ea90" providerId="ADAL" clId="{8EA10870-6395-588A-9409-E8E4CA631CF7}" dt="2025-09-14T13:12:35.501" v="357" actId="14100"/>
          <ac:spMkLst>
            <pc:docMk/>
            <pc:sldMk cId="4187201819" sldId="530"/>
            <ac:spMk id="13" creationId="{91982713-2716-356A-650D-2FAA1F379FA2}"/>
          </ac:spMkLst>
        </pc:spChg>
        <pc:spChg chg="add mod">
          <ac:chgData name="Vincenzo Massimiliano Gulisano" userId="887d7398-9e41-4331-abd4-9c23f064ea90" providerId="ADAL" clId="{8EA10870-6395-588A-9409-E8E4CA631CF7}" dt="2025-09-14T13:11:14.321" v="273" actId="1076"/>
          <ac:spMkLst>
            <pc:docMk/>
            <pc:sldMk cId="4187201819" sldId="530"/>
            <ac:spMk id="15" creationId="{A7F2CAD5-4D40-8A34-F3BA-5F332E184195}"/>
          </ac:spMkLst>
        </pc:spChg>
        <pc:graphicFrameChg chg="add mod">
          <ac:chgData name="Vincenzo Massimiliano Gulisano" userId="887d7398-9e41-4331-abd4-9c23f064ea90" providerId="ADAL" clId="{8EA10870-6395-588A-9409-E8E4CA631CF7}" dt="2025-09-14T13:11:14.321" v="273" actId="1076"/>
          <ac:graphicFrameMkLst>
            <pc:docMk/>
            <pc:sldMk cId="4187201819" sldId="530"/>
            <ac:graphicFrameMk id="5" creationId="{D9023E6C-84D1-88FB-DBF0-9C3AE91508F8}"/>
          </ac:graphicFrameMkLst>
        </pc:graphicFrameChg>
        <pc:graphicFrameChg chg="add mod modGraphic">
          <ac:chgData name="Vincenzo Massimiliano Gulisano" userId="887d7398-9e41-4331-abd4-9c23f064ea90" providerId="ADAL" clId="{8EA10870-6395-588A-9409-E8E4CA631CF7}" dt="2025-09-14T13:11:36.634" v="282" actId="20577"/>
          <ac:graphicFrameMkLst>
            <pc:docMk/>
            <pc:sldMk cId="4187201819" sldId="530"/>
            <ac:graphicFrameMk id="6" creationId="{109A553A-DABD-293B-40D4-287699327CC7}"/>
          </ac:graphicFrameMkLst>
        </pc:graphicFrameChg>
        <pc:graphicFrameChg chg="add del mod">
          <ac:chgData name="Vincenzo Massimiliano Gulisano" userId="887d7398-9e41-4331-abd4-9c23f064ea90" providerId="ADAL" clId="{8EA10870-6395-588A-9409-E8E4CA631CF7}" dt="2025-09-14T13:12:42.074" v="358" actId="1076"/>
          <ac:graphicFrameMkLst>
            <pc:docMk/>
            <pc:sldMk cId="4187201819" sldId="530"/>
            <ac:graphicFrameMk id="7" creationId="{4EA8F231-43C7-8C0F-0D38-490FD267828D}"/>
          </ac:graphicFrameMkLst>
        </pc:graphicFrameChg>
        <pc:graphicFrameChg chg="add del mod">
          <ac:chgData name="Vincenzo Massimiliano Gulisano" userId="887d7398-9e41-4331-abd4-9c23f064ea90" providerId="ADAL" clId="{8EA10870-6395-588A-9409-E8E4CA631CF7}" dt="2025-09-14T13:12:42.074" v="358" actId="1076"/>
          <ac:graphicFrameMkLst>
            <pc:docMk/>
            <pc:sldMk cId="4187201819" sldId="530"/>
            <ac:graphicFrameMk id="8" creationId="{13F24310-FB9C-294F-5AAD-25B9AF79A1E9}"/>
          </ac:graphicFrameMkLst>
        </pc:graphicFrameChg>
        <pc:graphicFrameChg chg="add del mod">
          <ac:chgData name="Vincenzo Massimiliano Gulisano" userId="887d7398-9e41-4331-abd4-9c23f064ea90" providerId="ADAL" clId="{8EA10870-6395-588A-9409-E8E4CA631CF7}" dt="2025-09-14T13:12:42.074" v="358" actId="1076"/>
          <ac:graphicFrameMkLst>
            <pc:docMk/>
            <pc:sldMk cId="4187201819" sldId="530"/>
            <ac:graphicFrameMk id="9" creationId="{BC04AC0C-8CA5-553C-1EDC-7423DEF39BB3}"/>
          </ac:graphicFrameMkLst>
        </pc:graphicFrameChg>
        <pc:graphicFrameChg chg="add mod modGraphic">
          <ac:chgData name="Vincenzo Massimiliano Gulisano" userId="887d7398-9e41-4331-abd4-9c23f064ea90" providerId="ADAL" clId="{8EA10870-6395-588A-9409-E8E4CA631CF7}" dt="2025-09-14T13:11:48.638" v="302" actId="5793"/>
          <ac:graphicFrameMkLst>
            <pc:docMk/>
            <pc:sldMk cId="4187201819" sldId="530"/>
            <ac:graphicFrameMk id="10" creationId="{6FAD8DC7-26C0-95D4-BBA2-C1F4DCDF49EF}"/>
          </ac:graphicFrameMkLst>
        </pc:graphicFrameChg>
        <pc:cxnChg chg="add del mod">
          <ac:chgData name="Vincenzo Massimiliano Gulisano" userId="887d7398-9e41-4331-abd4-9c23f064ea90" providerId="ADAL" clId="{8EA10870-6395-588A-9409-E8E4CA631CF7}" dt="2025-09-14T13:12:42.074" v="358" actId="1076"/>
          <ac:cxnSpMkLst>
            <pc:docMk/>
            <pc:sldMk cId="4187201819" sldId="530"/>
            <ac:cxnSpMk id="11" creationId="{BFD55836-CD5C-50BB-F178-B885086FBE32}"/>
          </ac:cxnSpMkLst>
        </pc:cxnChg>
        <pc:cxnChg chg="add mod">
          <ac:chgData name="Vincenzo Massimiliano Gulisano" userId="887d7398-9e41-4331-abd4-9c23f064ea90" providerId="ADAL" clId="{8EA10870-6395-588A-9409-E8E4CA631CF7}" dt="2025-09-14T13:11:14.321" v="273" actId="1076"/>
          <ac:cxnSpMkLst>
            <pc:docMk/>
            <pc:sldMk cId="4187201819" sldId="530"/>
            <ac:cxnSpMk id="14" creationId="{D256CFAB-8F6D-41E7-26E0-F51EC3DF0EA6}"/>
          </ac:cxnSpMkLst>
        </pc:cxnChg>
      </pc:sldChg>
      <pc:sldChg chg="new del">
        <pc:chgData name="Vincenzo Massimiliano Gulisano" userId="887d7398-9e41-4331-abd4-9c23f064ea90" providerId="ADAL" clId="{8EA10870-6395-588A-9409-E8E4CA631CF7}" dt="2025-09-18T08:12:37.075" v="614" actId="680"/>
        <pc:sldMkLst>
          <pc:docMk/>
          <pc:sldMk cId="2380817091" sldId="531"/>
        </pc:sldMkLst>
      </pc:sldChg>
    </pc:docChg>
  </pc:docChgLst>
  <pc:docChgLst>
    <pc:chgData name="Vincenzo Massimiliano Gulisano" userId="887d7398-9e41-4331-abd4-9c23f064ea90" providerId="ADAL" clId="{6259EB42-2F4C-334B-A99B-A5E9EA13789A}"/>
    <pc:docChg chg="undo custSel modSld">
      <pc:chgData name="Vincenzo Massimiliano Gulisano" userId="887d7398-9e41-4331-abd4-9c23f064ea90" providerId="ADAL" clId="{6259EB42-2F4C-334B-A99B-A5E9EA13789A}" dt="2022-09-19T06:46:23.441" v="7" actId="20577"/>
      <pc:docMkLst>
        <pc:docMk/>
      </pc:docMkLst>
      <pc:sldChg chg="modSp mod">
        <pc:chgData name="Vincenzo Massimiliano Gulisano" userId="887d7398-9e41-4331-abd4-9c23f064ea90" providerId="ADAL" clId="{6259EB42-2F4C-334B-A99B-A5E9EA13789A}" dt="2022-09-19T06:46:23.441" v="7" actId="20577"/>
        <pc:sldMkLst>
          <pc:docMk/>
          <pc:sldMk cId="4168396551" sldId="30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70FC7-431C-3445-825C-360F18AD9FB0}" type="datetimeFigureOut">
              <a:rPr lang="en-US" smtClean="0"/>
              <a:t>9/15/26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BC1079-C5C6-1A45-8E7E-B20B607B09A1}" type="slidenum">
              <a:rPr lang="en-US" smtClean="0"/>
              <a:t>‹#›</a:t>
            </a:fld>
            <a:endParaRPr lang="en-US"/>
          </a:p>
        </p:txBody>
      </p:sp>
    </p:spTree>
    <p:extLst>
      <p:ext uri="{BB962C8B-B14F-4D97-AF65-F5344CB8AC3E}">
        <p14:creationId xmlns:p14="http://schemas.microsoft.com/office/powerpoint/2010/main" val="3201950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a:solidFill>
                  <a:schemeClr val="tx1"/>
                </a:solidFill>
                <a:latin typeface="Verdana" panose="020B0604030504040204" pitchFamily="34" charset="0"/>
                <a:ea typeface="MS PGothic" panose="020B0600070205080204" pitchFamily="34" charset="-128"/>
              </a:defRPr>
            </a:lvl1pPr>
            <a:lvl2pPr marL="742950" indent="-285750" defTabSz="928688">
              <a:defRPr>
                <a:solidFill>
                  <a:schemeClr val="tx1"/>
                </a:solidFill>
                <a:latin typeface="Verdana" panose="020B0604030504040204" pitchFamily="34" charset="0"/>
                <a:ea typeface="MS PGothic" panose="020B0600070205080204" pitchFamily="34" charset="-128"/>
              </a:defRPr>
            </a:lvl2pPr>
            <a:lvl3pPr marL="1143000" indent="-228600" defTabSz="928688">
              <a:defRPr>
                <a:solidFill>
                  <a:schemeClr val="tx1"/>
                </a:solidFill>
                <a:latin typeface="Verdana" panose="020B0604030504040204" pitchFamily="34" charset="0"/>
                <a:ea typeface="MS PGothic" panose="020B0600070205080204" pitchFamily="34" charset="-128"/>
              </a:defRPr>
            </a:lvl3pPr>
            <a:lvl4pPr marL="1600200" indent="-228600" defTabSz="928688">
              <a:defRPr>
                <a:solidFill>
                  <a:schemeClr val="tx1"/>
                </a:solidFill>
                <a:latin typeface="Verdana" panose="020B0604030504040204" pitchFamily="34" charset="0"/>
                <a:ea typeface="MS PGothic" panose="020B0600070205080204" pitchFamily="34" charset="-128"/>
              </a:defRPr>
            </a:lvl4pPr>
            <a:lvl5pPr marL="2057400" indent="-228600" defTabSz="928688">
              <a:defRPr>
                <a:solidFill>
                  <a:schemeClr val="tx1"/>
                </a:solidFill>
                <a:latin typeface="Verdana" panose="020B0604030504040204" pitchFamily="34" charset="0"/>
                <a:ea typeface="MS PGothic" panose="020B0600070205080204" pitchFamily="34" charset="-128"/>
              </a:defRPr>
            </a:lvl5pPr>
            <a:lvl6pPr marL="25146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28B533-8857-427F-B5E5-DF256DF739B8}"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11323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connect back to scheduling of OS threads. Need to have them run concurrently and in parallel, and coarse-grained is not enough. We want to minimize the exclusive access to only the actual required part, how do we do it?</a:t>
            </a:r>
          </a:p>
          <a:p>
            <a:r>
              <a:rPr lang="en-US" dirty="0"/>
              <a:t>Then the actual example of what happens if you don’t</a:t>
            </a:r>
          </a:p>
        </p:txBody>
      </p:sp>
      <p:sp>
        <p:nvSpPr>
          <p:cNvPr id="4" name="Slide Number Placeholder 3"/>
          <p:cNvSpPr>
            <a:spLocks noGrp="1"/>
          </p:cNvSpPr>
          <p:nvPr>
            <p:ph type="sldNum" sz="quarter" idx="5"/>
          </p:nvPr>
        </p:nvSpPr>
        <p:spPr/>
        <p:txBody>
          <a:bodyPr/>
          <a:lstStyle/>
          <a:p>
            <a:fld id="{20BC1079-C5C6-1A45-8E7E-B20B607B09A1}" type="slidenum">
              <a:rPr lang="en-US" smtClean="0"/>
              <a:t>3</a:t>
            </a:fld>
            <a:endParaRPr lang="en-US"/>
          </a:p>
        </p:txBody>
      </p:sp>
    </p:spTree>
    <p:extLst>
      <p:ext uri="{BB962C8B-B14F-4D97-AF65-F5344CB8AC3E}">
        <p14:creationId xmlns:p14="http://schemas.microsoft.com/office/powerpoint/2010/main" val="3659570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this lecture with some motivation</a:t>
            </a:r>
          </a:p>
        </p:txBody>
      </p:sp>
      <p:sp>
        <p:nvSpPr>
          <p:cNvPr id="4" name="Slide Number Placeholder 3"/>
          <p:cNvSpPr>
            <a:spLocks noGrp="1"/>
          </p:cNvSpPr>
          <p:nvPr>
            <p:ph type="sldNum" sz="quarter" idx="5"/>
          </p:nvPr>
        </p:nvSpPr>
        <p:spPr/>
        <p:txBody>
          <a:bodyPr/>
          <a:lstStyle/>
          <a:p>
            <a:fld id="{20BC1079-C5C6-1A45-8E7E-B20B607B09A1}" type="slidenum">
              <a:rPr lang="en-US" smtClean="0"/>
              <a:t>4</a:t>
            </a:fld>
            <a:endParaRPr lang="en-US"/>
          </a:p>
        </p:txBody>
      </p:sp>
    </p:spTree>
    <p:extLst>
      <p:ext uri="{BB962C8B-B14F-4D97-AF65-F5344CB8AC3E}">
        <p14:creationId xmlns:p14="http://schemas.microsoft.com/office/powerpoint/2010/main" val="3660231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of our previous lectures, the one about multithreaded processes, we saw that functions like </a:t>
            </a:r>
            <a:r>
              <a:rPr lang="en-US" dirty="0" err="1"/>
              <a:t>pthread_join</a:t>
            </a:r>
            <a:r>
              <a:rPr lang="en-US" dirty="0"/>
              <a:t> exist to help users coordinate the execution of threads that operate on shared memory.</a:t>
            </a:r>
          </a:p>
          <a:p>
            <a:r>
              <a:rPr lang="en-US" dirty="0"/>
              <a:t>In this lecture, we will discuss synchronization in more detail. Let’s start with an example.</a:t>
            </a:r>
          </a:p>
        </p:txBody>
      </p:sp>
      <p:sp>
        <p:nvSpPr>
          <p:cNvPr id="4" name="Slide Number Placeholder 3"/>
          <p:cNvSpPr>
            <a:spLocks noGrp="1"/>
          </p:cNvSpPr>
          <p:nvPr>
            <p:ph type="sldNum" sz="quarter" idx="5"/>
          </p:nvPr>
        </p:nvSpPr>
        <p:spPr/>
        <p:txBody>
          <a:bodyPr/>
          <a:lstStyle/>
          <a:p>
            <a:fld id="{20BC1079-C5C6-1A45-8E7E-B20B607B09A1}" type="slidenum">
              <a:rPr lang="en-US" smtClean="0"/>
              <a:t>5</a:t>
            </a:fld>
            <a:endParaRPr lang="en-US"/>
          </a:p>
        </p:txBody>
      </p:sp>
    </p:spTree>
    <p:extLst>
      <p:ext uri="{BB962C8B-B14F-4D97-AF65-F5344CB8AC3E}">
        <p14:creationId xmlns:p14="http://schemas.microsoft.com/office/powerpoint/2010/main" val="3964629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assume we have 2 threads, A and B. Each has a local variable x and a shared variable S. That is, A and B share the same S variable. S is initialized with value 20.</a:t>
            </a:r>
          </a:p>
          <a:p>
            <a:r>
              <a:rPr lang="en-US" dirty="0"/>
              <a:t>Let’s also assume A and B run in parallel, each on its core. Their code includes three instructions to update S.</a:t>
            </a:r>
          </a:p>
          <a:p>
            <a:r>
              <a:rPr lang="en-US" dirty="0"/>
              <a:t>Let’s look at the example. </a:t>
            </a:r>
          </a:p>
          <a:p>
            <a:r>
              <a:rPr lang="en-US" dirty="0"/>
              <a:t>[c] Each line represents an execution slot over time. We see that both A and B try to update S: A by adding 50 while B by subtracting 20.</a:t>
            </a:r>
          </a:p>
          <a:p>
            <a:r>
              <a:rPr lang="en-US" dirty="0"/>
              <a:t>In this example, A starts one slot before B. What is the problem with this execution? Since the access to S is not synchronized between A and B, A writes its update to S after B has read the previous value of S.</a:t>
            </a:r>
          </a:p>
          <a:p>
            <a:r>
              <a:rPr lang="en-US" dirty="0"/>
              <a:t>[c] Hence, rather than 20 + 50 - 20, the final value of S is in fact 20 - 20. If S represents your bank account balance, you see such behavior is extremely risky.</a:t>
            </a:r>
          </a:p>
          <a:p>
            <a:r>
              <a:rPr lang="en-US" dirty="0"/>
              <a:t>As we will elaborate next, what we are experiencing here is a race condition because of a critical section that is not accessed exclusively.</a:t>
            </a:r>
          </a:p>
        </p:txBody>
      </p:sp>
      <p:sp>
        <p:nvSpPr>
          <p:cNvPr id="4" name="Slide Number Placeholder 3"/>
          <p:cNvSpPr>
            <a:spLocks noGrp="1"/>
          </p:cNvSpPr>
          <p:nvPr>
            <p:ph type="sldNum" sz="quarter" idx="5"/>
          </p:nvPr>
        </p:nvSpPr>
        <p:spPr/>
        <p:txBody>
          <a:bodyPr/>
          <a:lstStyle/>
          <a:p>
            <a:fld id="{20BC1079-C5C6-1A45-8E7E-B20B607B09A1}" type="slidenum">
              <a:rPr lang="en-US" smtClean="0"/>
              <a:t>6</a:t>
            </a:fld>
            <a:endParaRPr lang="en-US"/>
          </a:p>
        </p:txBody>
      </p:sp>
    </p:spTree>
    <p:extLst>
      <p:ext uri="{BB962C8B-B14F-4D97-AF65-F5344CB8AC3E}">
        <p14:creationId xmlns:p14="http://schemas.microsoft.com/office/powerpoint/2010/main" val="37528282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2BAC1-A707-9DAF-31C4-8DB3E22D5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9995E-CF43-A3C4-E549-E9145D1FF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6EEA84-7183-9158-8042-A6BD9299AF97}"/>
              </a:ext>
            </a:extLst>
          </p:cNvPr>
          <p:cNvSpPr>
            <a:spLocks noGrp="1"/>
          </p:cNvSpPr>
          <p:nvPr>
            <p:ph type="body" idx="1"/>
          </p:nvPr>
        </p:nvSpPr>
        <p:spPr/>
        <p:txBody>
          <a:bodyPr/>
          <a:lstStyle/>
          <a:p>
            <a:r>
              <a:rPr lang="en-US" dirty="0"/>
              <a:t>Let’s assume we have 2 threads, A and B. Each has a local variable x and a shared variable S. That is, A and B share the same S variable. S is initialized with value 20.</a:t>
            </a:r>
          </a:p>
          <a:p>
            <a:r>
              <a:rPr lang="en-US" dirty="0"/>
              <a:t>Let’s also assume A and B run in parallel, each on its core. Their code includes three operations to update S.</a:t>
            </a:r>
          </a:p>
          <a:p>
            <a:r>
              <a:rPr lang="en-US" dirty="0"/>
              <a:t>Let’s look at the example. </a:t>
            </a:r>
          </a:p>
          <a:p>
            <a:r>
              <a:rPr lang="en-US" dirty="0"/>
              <a:t>[c] Each line represents an execution slot over time. We see that both A and B try to update S: A by adding 50 while B by subtracting 20.</a:t>
            </a:r>
          </a:p>
          <a:p>
            <a:r>
              <a:rPr lang="en-US" dirty="0"/>
              <a:t>In this example, A starts one slot before B. What is the problem with this execution? Since the access to S is not synchronized between A and B, A writes its update to S after B has read the previous value of S.</a:t>
            </a:r>
          </a:p>
          <a:p>
            <a:r>
              <a:rPr lang="en-US" dirty="0"/>
              <a:t>[c] Hence, rather than 20 + 50 - 20, the final value of S is in fact 20 - 20. If S represents your bank account balance, you see such behavior is extremely risky.</a:t>
            </a:r>
          </a:p>
          <a:p>
            <a:r>
              <a:rPr lang="en-US" dirty="0"/>
              <a:t>As we will elaborate next, what we are experiencing here is a race condition because of a critical section that is not accessed exclusively.</a:t>
            </a:r>
          </a:p>
        </p:txBody>
      </p:sp>
      <p:sp>
        <p:nvSpPr>
          <p:cNvPr id="4" name="Slide Number Placeholder 3">
            <a:extLst>
              <a:ext uri="{FF2B5EF4-FFF2-40B4-BE49-F238E27FC236}">
                <a16:creationId xmlns:a16="http://schemas.microsoft.com/office/drawing/2014/main" id="{5E0541E8-C6FA-144F-365F-55E7D7B9ED12}"/>
              </a:ext>
            </a:extLst>
          </p:cNvPr>
          <p:cNvSpPr>
            <a:spLocks noGrp="1"/>
          </p:cNvSpPr>
          <p:nvPr>
            <p:ph type="sldNum" sz="quarter" idx="5"/>
          </p:nvPr>
        </p:nvSpPr>
        <p:spPr/>
        <p:txBody>
          <a:bodyPr/>
          <a:lstStyle/>
          <a:p>
            <a:fld id="{20BC1079-C5C6-1A45-8E7E-B20B607B09A1}" type="slidenum">
              <a:rPr lang="en-US" smtClean="0"/>
              <a:t>7</a:t>
            </a:fld>
            <a:endParaRPr lang="en-US"/>
          </a:p>
        </p:txBody>
      </p:sp>
    </p:spTree>
    <p:extLst>
      <p:ext uri="{BB962C8B-B14F-4D97-AF65-F5344CB8AC3E}">
        <p14:creationId xmlns:p14="http://schemas.microsoft.com/office/powerpoint/2010/main" val="4224369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8</a:t>
            </a:fld>
            <a:endParaRPr lang="en-US"/>
          </a:p>
        </p:txBody>
      </p:sp>
    </p:spTree>
    <p:extLst>
      <p:ext uri="{BB962C8B-B14F-4D97-AF65-F5344CB8AC3E}">
        <p14:creationId xmlns:p14="http://schemas.microsoft.com/office/powerpoint/2010/main" val="106755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we will look into whether 2 or more concurrent threads are correctly handling shared variables, let's introduce a system model for the critical-section problem.</a:t>
            </a:r>
          </a:p>
          <a:p>
            <a:r>
              <a:rPr lang="en-US" dirty="0"/>
              <a:t>[c] From now on, we assume each of our threads looks like this: </a:t>
            </a:r>
          </a:p>
          <a:p>
            <a:r>
              <a:rPr lang="en-US" dirty="0"/>
              <a:t>we have a loop that runs forever (it's a model, of course it will stop in practice, but from the model perspective we do not assume anything about when it will stop)</a:t>
            </a:r>
          </a:p>
          <a:p>
            <a:r>
              <a:rPr lang="en-US" dirty="0"/>
              <a:t>inside the loop, we have a critical section, the one in which we read/write shared variables, </a:t>
            </a:r>
          </a:p>
          <a:p>
            <a:r>
              <a:rPr lang="en-US" dirty="0"/>
              <a:t>we assume shared variables are accessed with atomic read/write operations, so only one read or write operation can be performed at a time</a:t>
            </a:r>
          </a:p>
          <a:p>
            <a:r>
              <a:rPr lang="en-US" dirty="0"/>
              <a:t>before the critical section, we have an entry section, a statement/line/multiple lines whose execution implies the critical section can start: you can see the entry section as the portion in which the thread is trying to acquire a LOCK, its right to enter its critical section</a:t>
            </a:r>
          </a:p>
          <a:p>
            <a:r>
              <a:rPr lang="en-US" dirty="0"/>
              <a:t>after the critical section, we have an exit section, a statement/line/multiple lines whose execution implies the critical section is over: you can see the exit section as the portion in which the thread releases its LOCK, for someone else to enter their critical section</a:t>
            </a:r>
          </a:p>
          <a:p>
            <a:r>
              <a:rPr lang="en-US" dirty="0"/>
              <a:t>and a remainder section, basically the rest of the code in which we do not worry about reading/writing shared variables.</a:t>
            </a:r>
          </a:p>
          <a:p>
            <a:r>
              <a:rPr lang="en-US" dirty="0"/>
              <a:t>Notice that for simplicity we also assume threads' execution does not fail!</a:t>
            </a:r>
          </a:p>
          <a:p>
            <a:r>
              <a:rPr lang="en-US" dirty="0"/>
              <a:t>[c] Our goal of having 2 or more concurrent threads correctly handling shared variables can then be formulated as:</a:t>
            </a:r>
          </a:p>
          <a:p>
            <a:r>
              <a:rPr lang="en-US" dirty="0"/>
              <a:t>Define an entry and an exit section that ensure:</a:t>
            </a:r>
          </a:p>
          <a:p>
            <a:r>
              <a:rPr lang="en-US" dirty="0"/>
              <a:t>Mutual exclusion,</a:t>
            </a:r>
          </a:p>
          <a:p>
            <a:r>
              <a:rPr lang="en-US" dirty="0"/>
              <a:t>Progress (i.e., no deadlock/no </a:t>
            </a:r>
            <a:r>
              <a:rPr lang="en-US" dirty="0" err="1"/>
              <a:t>livelock</a:t>
            </a:r>
            <a:r>
              <a:rPr lang="en-US" dirty="0"/>
              <a:t>), and</a:t>
            </a:r>
          </a:p>
          <a:p>
            <a:r>
              <a:rPr lang="en-US" dirty="0"/>
              <a:t>Fairness (e.g., bounded waiting or no starvation).</a:t>
            </a:r>
          </a:p>
          <a:p>
            <a:r>
              <a:rPr lang="en-US" dirty="0"/>
              <a:t>Mutual exclusion means that only one thread at a time can execute its critical section.</a:t>
            </a:r>
          </a:p>
          <a:p>
            <a:r>
              <a:rPr lang="en-US" dirty="0"/>
              <a:t>Progress means that if no thread is in its critical section and one is/some are trying to enter their, then one must enter its critical section in bounded time.</a:t>
            </a:r>
          </a:p>
          <a:p>
            <a:r>
              <a:rPr lang="en-US" dirty="0"/>
              <a:t>Notice that we do not make any assumption about the duration of the remainder section of a thread. A thread can stay there for as long as it needs. The duration of the remainder section is NOT bounded in time.</a:t>
            </a:r>
          </a:p>
          <a:p>
            <a:endParaRPr lang="en-US" dirty="0"/>
          </a:p>
          <a:p>
            <a:r>
              <a:rPr lang="en-US" dirty="0"/>
              <a:t>Let's put also a temporary extra assumption for now: we only have 2 concurrent threads.</a:t>
            </a:r>
          </a:p>
          <a:p>
            <a:endParaRPr lang="en-US" dirty="0"/>
          </a:p>
          <a:p>
            <a:r>
              <a:rPr lang="en-US" dirty="0"/>
              <a:t>NOTES</a:t>
            </a:r>
            <a:br>
              <a:rPr lang="en-US" dirty="0"/>
            </a:br>
            <a:r>
              <a:rPr lang="en-US" dirty="0"/>
              <a:t>Atomic read/write -&gt; it happens in its entirety</a:t>
            </a:r>
          </a:p>
          <a:p>
            <a:r>
              <a:rPr lang="en-US" dirty="0"/>
              <a:t>Some slides use the term “safety” later on. Is that mutual exclusion or more than that?</a:t>
            </a:r>
          </a:p>
          <a:p>
            <a:r>
              <a:rPr lang="en-US" dirty="0"/>
              <a:t>Deadlock: usual example with the chopsticks. Live lock: two people trying to pass in the corridor and not </a:t>
            </a:r>
            <a:r>
              <a:rPr lang="en-US" dirty="0" err="1"/>
              <a:t>mananging</a:t>
            </a:r>
            <a:endParaRPr lang="en-US" dirty="0"/>
          </a:p>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9</a:t>
            </a:fld>
            <a:endParaRPr lang="en-US"/>
          </a:p>
        </p:txBody>
      </p:sp>
    </p:spTree>
    <p:extLst>
      <p:ext uri="{BB962C8B-B14F-4D97-AF65-F5344CB8AC3E}">
        <p14:creationId xmlns:p14="http://schemas.microsoft.com/office/powerpoint/2010/main" val="1114775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want to visualize such behavior it looks like this figure.</a:t>
            </a:r>
          </a:p>
          <a:p>
            <a:r>
              <a:rPr lang="en-US" dirty="0"/>
              <a:t>As you can see, only one thread at a time can enter the critical region. If a thread B tries to enter it when another thread A is in it, then B waits. </a:t>
            </a:r>
          </a:p>
          <a:p>
            <a:r>
              <a:rPr lang="en-US" dirty="0"/>
              <a:t>Note here the term blocked refers to the fact that Process B cannot execute its critical region, the process/thread is not necessarily blocked from the perspective of the OS (e.g., it might busy-waiting).</a:t>
            </a:r>
          </a:p>
        </p:txBody>
      </p:sp>
      <p:sp>
        <p:nvSpPr>
          <p:cNvPr id="4" name="Slide Number Placeholder 3"/>
          <p:cNvSpPr>
            <a:spLocks noGrp="1"/>
          </p:cNvSpPr>
          <p:nvPr>
            <p:ph type="sldNum" sz="quarter" idx="5"/>
          </p:nvPr>
        </p:nvSpPr>
        <p:spPr/>
        <p:txBody>
          <a:bodyPr/>
          <a:lstStyle/>
          <a:p>
            <a:fld id="{20BC1079-C5C6-1A45-8E7E-B20B607B09A1}" type="slidenum">
              <a:rPr lang="en-US" smtClean="0"/>
              <a:t>10</a:t>
            </a:fld>
            <a:endParaRPr lang="en-US"/>
          </a:p>
        </p:txBody>
      </p:sp>
    </p:spTree>
    <p:extLst>
      <p:ext uri="{BB962C8B-B14F-4D97-AF65-F5344CB8AC3E}">
        <p14:creationId xmlns:p14="http://schemas.microsoft.com/office/powerpoint/2010/main" val="3489823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are going to do next is to look at various ways of defining the entry and exit section and ask ourselves: does solution X ensure mutual exclusion, progress, and fairness?</a:t>
            </a:r>
          </a:p>
          <a:p>
            <a:endParaRPr lang="en-US" dirty="0"/>
          </a:p>
          <a:p>
            <a:r>
              <a:rPr lang="en-US" dirty="0"/>
              <a:t>We want formal correctness proofs. We cannot answer with "it looks like it does!" nor with "I tried running the code 1000000 times and it never broke, so I am confident it does". </a:t>
            </a:r>
          </a:p>
          <a:p>
            <a:endParaRPr lang="en-US" dirty="0"/>
          </a:p>
          <a:p>
            <a:r>
              <a:rPr lang="en-US" dirty="0"/>
              <a:t>To provide a formal answer, we are going to try to find one execution of the threads that breaks one of the properties. If we find it, then the solution is not valid (it breaks one of the desired properties). If we show such an execution does not exist, then the solution is valid.</a:t>
            </a:r>
          </a:p>
          <a:p>
            <a:endParaRPr lang="en-US" dirty="0"/>
          </a:p>
          <a:p>
            <a:r>
              <a:rPr lang="en-US" dirty="0"/>
              <a:t>Note</a:t>
            </a:r>
            <a:br>
              <a:rPr lang="en-US" dirty="0"/>
            </a:br>
            <a:r>
              <a:rPr lang="en-US" dirty="0"/>
              <a:t>That it runs and it works means nothing.</a:t>
            </a:r>
          </a:p>
        </p:txBody>
      </p:sp>
      <p:sp>
        <p:nvSpPr>
          <p:cNvPr id="4" name="Slide Number Placeholder 3"/>
          <p:cNvSpPr>
            <a:spLocks noGrp="1"/>
          </p:cNvSpPr>
          <p:nvPr>
            <p:ph type="sldNum" sz="quarter" idx="5"/>
          </p:nvPr>
        </p:nvSpPr>
        <p:spPr/>
        <p:txBody>
          <a:bodyPr/>
          <a:lstStyle/>
          <a:p>
            <a:fld id="{20BC1079-C5C6-1A45-8E7E-B20B607B09A1}" type="slidenum">
              <a:rPr lang="en-US" smtClean="0"/>
              <a:t>11</a:t>
            </a:fld>
            <a:endParaRPr lang="en-US"/>
          </a:p>
        </p:txBody>
      </p:sp>
    </p:spTree>
    <p:extLst>
      <p:ext uri="{BB962C8B-B14F-4D97-AF65-F5344CB8AC3E}">
        <p14:creationId xmlns:p14="http://schemas.microsoft.com/office/powerpoint/2010/main" val="2318041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90478">
              <a:defRPr/>
            </a:pPr>
            <a:r>
              <a:rPr lang="en-US" sz="1300" dirty="0">
                <a:latin typeface="Comic Sans MS" pitchFamily="66" charset="0"/>
              </a:rPr>
              <a:t>Let's try to look at a specific (simple) example, which we refer to as check-completion.</a:t>
            </a:r>
          </a:p>
          <a:p>
            <a:pPr defTabSz="990478">
              <a:defRPr/>
            </a:pPr>
            <a:endParaRPr lang="en-US" sz="1300" dirty="0">
              <a:latin typeface="Comic Sans MS" pitchFamily="66" charset="0"/>
            </a:endParaRPr>
          </a:p>
          <a:p>
            <a:pPr defTabSz="990478">
              <a:defRPr/>
            </a:pPr>
            <a:r>
              <a:rPr lang="en-US" sz="1300" dirty="0">
                <a:latin typeface="Comic Sans MS" pitchFamily="66" charset="0"/>
              </a:rPr>
              <a:t>Let's say the code of our 2 threads, A and B, looks like this.</a:t>
            </a:r>
          </a:p>
          <a:p>
            <a:pPr defTabSz="990478">
              <a:defRPr/>
            </a:pPr>
            <a:r>
              <a:rPr lang="en-US" sz="1300" dirty="0">
                <a:latin typeface="Comic Sans MS" pitchFamily="66" charset="0"/>
              </a:rPr>
              <a:t>They both share 2 </a:t>
            </a:r>
            <a:r>
              <a:rPr lang="en-US" sz="1300" dirty="0" err="1">
                <a:latin typeface="Comic Sans MS" pitchFamily="66" charset="0"/>
              </a:rPr>
              <a:t>boolean</a:t>
            </a:r>
            <a:r>
              <a:rPr lang="en-US" sz="1300" dirty="0">
                <a:latin typeface="Comic Sans MS" pitchFamily="66" charset="0"/>
              </a:rPr>
              <a:t> variables, </a:t>
            </a:r>
            <a:r>
              <a:rPr lang="en-US" sz="1300" dirty="0" err="1">
                <a:latin typeface="Comic Sans MS" pitchFamily="66" charset="0"/>
              </a:rPr>
              <a:t>flagA</a:t>
            </a:r>
            <a:r>
              <a:rPr lang="en-US" sz="1300" dirty="0">
                <a:latin typeface="Comic Sans MS" pitchFamily="66" charset="0"/>
              </a:rPr>
              <a:t> and </a:t>
            </a:r>
            <a:r>
              <a:rPr lang="en-US" sz="1300" dirty="0" err="1">
                <a:latin typeface="Comic Sans MS" pitchFamily="66" charset="0"/>
              </a:rPr>
              <a:t>flagB</a:t>
            </a:r>
            <a:r>
              <a:rPr lang="en-US" sz="1300" dirty="0">
                <a:latin typeface="Comic Sans MS" pitchFamily="66" charset="0"/>
              </a:rPr>
              <a:t>, initially set to false, which they use to indicate their intention to enter the critical section.</a:t>
            </a:r>
          </a:p>
          <a:p>
            <a:pPr defTabSz="990478">
              <a:defRPr/>
            </a:pPr>
            <a:endParaRPr lang="en-US" sz="1300" dirty="0">
              <a:latin typeface="Comic Sans MS" pitchFamily="66" charset="0"/>
            </a:endParaRPr>
          </a:p>
          <a:p>
            <a:pPr defTabSz="990478">
              <a:defRPr/>
            </a:pPr>
            <a:r>
              <a:rPr lang="en-US" sz="1300" dirty="0">
                <a:latin typeface="Comic Sans MS" pitchFamily="66" charset="0"/>
              </a:rPr>
              <a:t>Here I show A's code. B's code is symmetric.</a:t>
            </a:r>
          </a:p>
          <a:p>
            <a:pPr defTabSz="990478">
              <a:defRPr/>
            </a:pPr>
            <a:r>
              <a:rPr lang="en-US" sz="1300" dirty="0">
                <a:latin typeface="Comic Sans MS" pitchFamily="66" charset="0"/>
              </a:rPr>
              <a:t>In its entry section, A waits as long as B's flag is true in a while loop.</a:t>
            </a:r>
          </a:p>
          <a:p>
            <a:pPr defTabSz="990478">
              <a:defRPr/>
            </a:pPr>
            <a:r>
              <a:rPr lang="en-US" sz="1300" dirty="0">
                <a:latin typeface="Comic Sans MS" pitchFamily="66" charset="0"/>
              </a:rPr>
              <a:t>This is called busy-wait because A is using CPU cycles to spin in a loop.</a:t>
            </a:r>
          </a:p>
          <a:p>
            <a:pPr defTabSz="990478">
              <a:defRPr/>
            </a:pPr>
            <a:r>
              <a:rPr lang="en-US" sz="1300" dirty="0">
                <a:latin typeface="Comic Sans MS" pitchFamily="66" charset="0"/>
              </a:rPr>
              <a:t>The loop ends when B sets its flag to false. </a:t>
            </a:r>
          </a:p>
          <a:p>
            <a:pPr defTabSz="990478">
              <a:defRPr/>
            </a:pPr>
            <a:r>
              <a:rPr lang="en-US" sz="1300" dirty="0">
                <a:latin typeface="Comic Sans MS" pitchFamily="66" charset="0"/>
              </a:rPr>
              <a:t>After that, A sets its flag to true, enters the critical section, and when the critical section is over sets its flag to false.</a:t>
            </a:r>
          </a:p>
          <a:p>
            <a:pPr defTabSz="990478">
              <a:defRPr/>
            </a:pPr>
            <a:r>
              <a:rPr lang="en-US" sz="1300" dirty="0">
                <a:latin typeface="Comic Sans MS" pitchFamily="66" charset="0"/>
              </a:rPr>
              <a:t>Is this a solution to the critical-section problem valid or not?</a:t>
            </a:r>
          </a:p>
          <a:p>
            <a:pPr defTabSz="990478">
              <a:defRPr/>
            </a:pPr>
            <a:r>
              <a:rPr lang="en-US" sz="1300" dirty="0">
                <a:latin typeface="Comic Sans MS" pitchFamily="66" charset="0"/>
              </a:rPr>
              <a:t>I strongly suggest you stop the video and try to reason and provide a formal answer.</a:t>
            </a:r>
            <a:endParaRPr lang="sv-SE" dirty="0"/>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12</a:t>
            </a:fld>
            <a:endParaRPr lang="sv-SE">
              <a:solidFill>
                <a:prstClr val="black"/>
              </a:solidFill>
            </a:endParaRPr>
          </a:p>
        </p:txBody>
      </p:sp>
    </p:spTree>
    <p:extLst>
      <p:ext uri="{BB962C8B-B14F-4D97-AF65-F5344CB8AC3E}">
        <p14:creationId xmlns:p14="http://schemas.microsoft.com/office/powerpoint/2010/main" val="3032842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Now let's try to answer the question together.</a:t>
            </a:r>
          </a:p>
          <a:p>
            <a:r>
              <a:rPr lang="en-US" noProof="0" dirty="0"/>
              <a:t>That is, let's try to find an example showing one of the properties can be violated.</a:t>
            </a:r>
          </a:p>
          <a:p>
            <a:r>
              <a:rPr lang="en-US" noProof="0" dirty="0"/>
              <a:t>Can the property of mutual exclusion be violated? </a:t>
            </a:r>
          </a:p>
          <a:p>
            <a:r>
              <a:rPr lang="en-US" noProof="0" dirty="0"/>
              <a:t>For instance, can A enter its critical section while B is in its critical section?</a:t>
            </a:r>
          </a:p>
          <a:p>
            <a:r>
              <a:rPr lang="en-US" noProof="0" dirty="0"/>
              <a:t>Let's answer the question with the help of this drawing.</a:t>
            </a:r>
          </a:p>
          <a:p>
            <a:r>
              <a:rPr lang="en-US" noProof="0" dirty="0"/>
              <a:t>In this drawing, we see that A enters its critical section after B entered its own but before B exited it. Can this happen?.</a:t>
            </a:r>
          </a:p>
          <a:p>
            <a:endParaRPr lang="en-US" noProof="0" dirty="0"/>
          </a:p>
          <a:p>
            <a:r>
              <a:rPr lang="en-US" noProof="0" dirty="0"/>
              <a:t>To happen, sometime before entering its critical section [c] A needs to set its flag to true (that's what the code says).</a:t>
            </a:r>
          </a:p>
          <a:p>
            <a:r>
              <a:rPr lang="en-US" noProof="0" dirty="0"/>
              <a:t>And before that, [c] A needs to see that the value of </a:t>
            </a:r>
            <a:r>
              <a:rPr lang="en-US" noProof="0" dirty="0" err="1"/>
              <a:t>flagB</a:t>
            </a:r>
            <a:r>
              <a:rPr lang="en-US" noProof="0" dirty="0"/>
              <a:t> is false to exit the busy-wait while loop (again, that's what the code says).</a:t>
            </a:r>
          </a:p>
          <a:p>
            <a:r>
              <a:rPr lang="en-US" noProof="0" dirty="0"/>
              <a:t>Now let's focus on B. To enter its critical section, B needs to set </a:t>
            </a:r>
            <a:r>
              <a:rPr lang="en-US" noProof="0" dirty="0" err="1"/>
              <a:t>flagB</a:t>
            </a:r>
            <a:r>
              <a:rPr lang="en-US" noProof="0" dirty="0"/>
              <a:t> to true (that's what the code says).</a:t>
            </a:r>
          </a:p>
          <a:p>
            <a:r>
              <a:rPr lang="en-US" noProof="0" dirty="0"/>
              <a:t>Now we are at a critical point. In our example, if we assume B sets its </a:t>
            </a:r>
            <a:r>
              <a:rPr lang="en-US" noProof="0" dirty="0" err="1"/>
              <a:t>flagB</a:t>
            </a:r>
            <a:r>
              <a:rPr lang="en-US" noProof="0" dirty="0"/>
              <a:t> to true before A sees </a:t>
            </a:r>
            <a:r>
              <a:rPr lang="en-US" noProof="0" dirty="0" err="1"/>
              <a:t>flagB's</a:t>
            </a:r>
            <a:r>
              <a:rPr lang="en-US" noProof="0" dirty="0"/>
              <a:t> value is false [c], then it means in between these two events B completes its critical section, otherwise A cannot see </a:t>
            </a:r>
            <a:r>
              <a:rPr lang="en-US" noProof="0" dirty="0" err="1"/>
              <a:t>flagB</a:t>
            </a:r>
            <a:r>
              <a:rPr lang="en-US" noProof="0" dirty="0"/>
              <a:t> being false... </a:t>
            </a:r>
          </a:p>
          <a:p>
            <a:endParaRPr lang="en-US" noProof="0" dirty="0"/>
          </a:p>
          <a:p>
            <a:r>
              <a:rPr lang="en-US" noProof="0" dirty="0"/>
              <a:t>NOTES</a:t>
            </a:r>
          </a:p>
          <a:p>
            <a:r>
              <a:rPr lang="en-US" noProof="0" dirty="0"/>
              <a:t>What this slide is trying to show with the line 5 before the “sees </a:t>
            </a:r>
            <a:r>
              <a:rPr lang="en-US" noProof="0" dirty="0" err="1"/>
              <a:t>flagb</a:t>
            </a:r>
            <a:r>
              <a:rPr lang="en-US" noProof="0" dirty="0"/>
              <a:t>” for A is that if you place it there, then there can be another B in CS before the blue point and we are back to the same initial situation, so it’s about placing it after the first blue dot</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13</a:t>
            </a:fld>
            <a:endParaRPr lang="sv-SE">
              <a:solidFill>
                <a:prstClr val="black"/>
              </a:solidFill>
            </a:endParaRPr>
          </a:p>
        </p:txBody>
      </p:sp>
    </p:spTree>
    <p:extLst>
      <p:ext uri="{BB962C8B-B14F-4D97-AF65-F5344CB8AC3E}">
        <p14:creationId xmlns:p14="http://schemas.microsoft.com/office/powerpoint/2010/main" val="1658445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the example we are studying, the point at which B sets </a:t>
            </a:r>
            <a:r>
              <a:rPr lang="en-US" noProof="0" dirty="0" err="1"/>
              <a:t>flagB</a:t>
            </a:r>
            <a:r>
              <a:rPr lang="en-US" noProof="0" dirty="0"/>
              <a:t> to true comes after A sees </a:t>
            </a:r>
            <a:r>
              <a:rPr lang="en-US" noProof="0" dirty="0" err="1"/>
              <a:t>flagB</a:t>
            </a:r>
            <a:r>
              <a:rPr lang="en-US" noProof="0" dirty="0"/>
              <a:t> value to be false.</a:t>
            </a:r>
          </a:p>
          <a:p>
            <a:r>
              <a:rPr lang="en-US" noProof="0" dirty="0"/>
              <a:t>So now we are left with one question: can B see </a:t>
            </a:r>
            <a:r>
              <a:rPr lang="en-US" noProof="0" dirty="0" err="1"/>
              <a:t>flagA</a:t>
            </a:r>
            <a:r>
              <a:rPr lang="en-US" noProof="0" dirty="0"/>
              <a:t> being false in between the time A sees </a:t>
            </a:r>
            <a:r>
              <a:rPr lang="en-US" noProof="0" dirty="0" err="1"/>
              <a:t>flagB</a:t>
            </a:r>
            <a:r>
              <a:rPr lang="en-US" noProof="0" dirty="0"/>
              <a:t> to be false and B sets </a:t>
            </a:r>
            <a:r>
              <a:rPr lang="en-US" noProof="0" dirty="0" err="1"/>
              <a:t>flagB</a:t>
            </a:r>
            <a:r>
              <a:rPr lang="en-US" noProof="0" dirty="0"/>
              <a:t> to true? [c]</a:t>
            </a:r>
          </a:p>
          <a:p>
            <a:r>
              <a:rPr lang="en-US" noProof="0" dirty="0"/>
              <a:t>The answer is yes because </a:t>
            </a:r>
            <a:r>
              <a:rPr lang="en-US" noProof="0" dirty="0" err="1"/>
              <a:t>flagA</a:t>
            </a:r>
            <a:r>
              <a:rPr lang="en-US" noProof="0" dirty="0"/>
              <a:t> is initially set to false and is also set to false every time A exits its critical section. </a:t>
            </a:r>
          </a:p>
          <a:p>
            <a:r>
              <a:rPr lang="en-US" noProof="0" dirty="0"/>
              <a:t>So, in the figure, the portion of time during which A has not yet entered its critical section is a period during which </a:t>
            </a:r>
            <a:r>
              <a:rPr lang="en-US" noProof="0" dirty="0" err="1"/>
              <a:t>flagA's</a:t>
            </a:r>
            <a:r>
              <a:rPr lang="en-US" noProof="0" dirty="0"/>
              <a:t> value is false.</a:t>
            </a:r>
          </a:p>
          <a:p>
            <a:r>
              <a:rPr lang="en-US" noProof="0" dirty="0"/>
              <a:t>We have found an example that breaks the mutual exclusion, which implies the code is NOT a solution to the critical-section problem.</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14</a:t>
            </a:fld>
            <a:endParaRPr lang="sv-SE">
              <a:solidFill>
                <a:prstClr val="black"/>
              </a:solidFill>
            </a:endParaRPr>
          </a:p>
        </p:txBody>
      </p:sp>
    </p:spTree>
    <p:extLst>
      <p:ext uri="{BB962C8B-B14F-4D97-AF65-F5344CB8AC3E}">
        <p14:creationId xmlns:p14="http://schemas.microsoft.com/office/powerpoint/2010/main" val="2776142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Once you listen to this argumentation, you "digest" it and you understand it, you will probably agree that proving whether a solution to the critical-section problem is valid or not is very challenging. In all the following videos, I strongly suggest you stop and try to formally find out yourself whether a solution is correct or not!</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15</a:t>
            </a:fld>
            <a:endParaRPr lang="sv-SE">
              <a:solidFill>
                <a:prstClr val="black"/>
              </a:solidFill>
            </a:endParaRPr>
          </a:p>
        </p:txBody>
      </p:sp>
    </p:spTree>
    <p:extLst>
      <p:ext uri="{BB962C8B-B14F-4D97-AF65-F5344CB8AC3E}">
        <p14:creationId xmlns:p14="http://schemas.microsoft.com/office/powerpoint/2010/main" val="2793955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16</a:t>
            </a:fld>
            <a:endParaRPr lang="en-US"/>
          </a:p>
        </p:txBody>
      </p:sp>
    </p:spTree>
    <p:extLst>
      <p:ext uri="{BB962C8B-B14F-4D97-AF65-F5344CB8AC3E}">
        <p14:creationId xmlns:p14="http://schemas.microsoft.com/office/powerpoint/2010/main" val="10888009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together at a second example: the check-order one.</a:t>
            </a:r>
          </a:p>
          <a:p>
            <a:r>
              <a:rPr lang="en-US" dirty="0"/>
              <a:t>In this case, we have only one shared variable called turn. Its value represents which thread is allowed to enter the critical section.</a:t>
            </a:r>
          </a:p>
          <a:p>
            <a:r>
              <a:rPr lang="en-US" dirty="0"/>
              <a:t>The entry section of each thread does a busy-wait loop while it does not see its id in the variable turn.</a:t>
            </a:r>
          </a:p>
          <a:p>
            <a:r>
              <a:rPr lang="en-US" dirty="0"/>
              <a:t>Once it completes its critical section, each thread sets the value of the other thread into the variable turn. When A is done it allows B to enter the critical section and vice-versa.</a:t>
            </a:r>
          </a:p>
          <a:p>
            <a:r>
              <a:rPr lang="en-US" dirty="0"/>
              <a:t>Is this a valid solution to the critical-section problem?</a:t>
            </a:r>
            <a:endParaRPr lang="sv-SE" dirty="0"/>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17</a:t>
            </a:fld>
            <a:endParaRPr lang="sv-SE">
              <a:solidFill>
                <a:prstClr val="black"/>
              </a:solidFill>
            </a:endParaRPr>
          </a:p>
        </p:txBody>
      </p:sp>
    </p:spTree>
    <p:extLst>
      <p:ext uri="{BB962C8B-B14F-4D97-AF65-F5344CB8AC3E}">
        <p14:creationId xmlns:p14="http://schemas.microsoft.com/office/powerpoint/2010/main" val="1162644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Let's start by checking the mutual exclusion property, in the same case we were looking at before, that of A entering its critical section while B is in its critical section.</a:t>
            </a:r>
          </a:p>
          <a:p>
            <a:r>
              <a:rPr lang="en-US" noProof="0" dirty="0"/>
              <a:t>[c] Before entering its critical section, A must see that turn's value is A.</a:t>
            </a:r>
          </a:p>
          <a:p>
            <a:r>
              <a:rPr lang="en-US" noProof="0" dirty="0"/>
              <a:t>[c] Can B see the value of turn being "B" during this period?</a:t>
            </a:r>
          </a:p>
          <a:p>
            <a:r>
              <a:rPr lang="en-US" noProof="0" dirty="0"/>
              <a:t>[c] The answer is no because A will set it to B only after the critical section.</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18</a:t>
            </a:fld>
            <a:endParaRPr lang="sv-SE">
              <a:solidFill>
                <a:prstClr val="black"/>
              </a:solidFill>
            </a:endParaRPr>
          </a:p>
        </p:txBody>
      </p:sp>
    </p:spTree>
    <p:extLst>
      <p:ext uri="{BB962C8B-B14F-4D97-AF65-F5344CB8AC3E}">
        <p14:creationId xmlns:p14="http://schemas.microsoft.com/office/powerpoint/2010/main" val="1674682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Notice that if you think it could because you are considering the case in which the period in which A's critical section happens is here [c], then you are considering a portion of time during which the execution is valid,  but the case we are looking at needs still to be explored assuming A sees turn value being A after B completes line 4.</a:t>
            </a:r>
          </a:p>
          <a:p>
            <a:r>
              <a:rPr lang="en-US" noProof="0" dirty="0"/>
              <a:t>Now that we know that A cannot enter its critical section while B is in it, we need to check if B can enter its critical section while A is in it.</a:t>
            </a:r>
          </a:p>
          <a:p>
            <a:r>
              <a:rPr lang="en-US" noProof="0" dirty="0"/>
              <a:t>If you think about this, you can immediately conclude that this can be shown with the same example, by switching A with B, so the answer is still no.</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19</a:t>
            </a:fld>
            <a:endParaRPr lang="sv-SE">
              <a:solidFill>
                <a:prstClr val="black"/>
              </a:solidFill>
            </a:endParaRPr>
          </a:p>
        </p:txBody>
      </p:sp>
    </p:spTree>
    <p:extLst>
      <p:ext uri="{BB962C8B-B14F-4D97-AF65-F5344CB8AC3E}">
        <p14:creationId xmlns:p14="http://schemas.microsoft.com/office/powerpoint/2010/main" val="8918864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Good, we have proven we cannot find an example that breaks mutual exclusion.</a:t>
            </a:r>
          </a:p>
          <a:p>
            <a:r>
              <a:rPr lang="en-US" noProof="0" dirty="0"/>
              <a:t>Let's check the progress property now. </a:t>
            </a:r>
          </a:p>
          <a:p>
            <a:r>
              <a:rPr lang="en-US" noProof="0" dirty="0"/>
              <a:t>[c] Can one of the threads be willing to enter the critical section but unable to do that while the other thread is also outside its critical section?</a:t>
            </a:r>
          </a:p>
          <a:p>
            <a:r>
              <a:rPr lang="en-US" noProof="0" dirty="0"/>
              <a:t>For instance, let's say A is in its waiting loop because turn's value is B.</a:t>
            </a:r>
          </a:p>
          <a:p>
            <a:r>
              <a:rPr lang="en-US" noProof="0" dirty="0"/>
              <a:t>Can it happen that B does not put turn value to A in a bounded time? Yes, B can be in its remainder section and, as we said, the duration of the remainder section is arbitrarily long, which means the progress property is violated.</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20</a:t>
            </a:fld>
            <a:endParaRPr lang="sv-SE">
              <a:solidFill>
                <a:prstClr val="black"/>
              </a:solidFill>
            </a:endParaRPr>
          </a:p>
        </p:txBody>
      </p:sp>
    </p:spTree>
    <p:extLst>
      <p:ext uri="{BB962C8B-B14F-4D97-AF65-F5344CB8AC3E}">
        <p14:creationId xmlns:p14="http://schemas.microsoft.com/office/powerpoint/2010/main" val="41628337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can then conclude this code is not a valid solution to the critical-section problem, because it breaks the progress property.</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21</a:t>
            </a:fld>
            <a:endParaRPr lang="sv-SE">
              <a:solidFill>
                <a:prstClr val="black"/>
              </a:solidFill>
            </a:endParaRPr>
          </a:p>
        </p:txBody>
      </p:sp>
    </p:spTree>
    <p:extLst>
      <p:ext uri="{BB962C8B-B14F-4D97-AF65-F5344CB8AC3E}">
        <p14:creationId xmlns:p14="http://schemas.microsoft.com/office/powerpoint/2010/main" val="25485918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22</a:t>
            </a:fld>
            <a:endParaRPr lang="en-US"/>
          </a:p>
        </p:txBody>
      </p:sp>
    </p:spTree>
    <p:extLst>
      <p:ext uri="{BB962C8B-B14F-4D97-AF65-F5344CB8AC3E}">
        <p14:creationId xmlns:p14="http://schemas.microsoft.com/office/powerpoint/2010/main" val="14100842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seeing two examples that are not valid, let's study one that is: Peterson's algorithm (the check-order &amp; competition approach).</a:t>
            </a:r>
          </a:p>
          <a:p>
            <a:endParaRPr lang="en-US" dirty="0"/>
          </a:p>
          <a:p>
            <a:r>
              <a:rPr lang="en-US" dirty="0"/>
              <a:t>In this case, we have one shared turn variable and two flag variables, one for each thread. The variable turn is set to A and both flags are set to false.</a:t>
            </a:r>
          </a:p>
          <a:p>
            <a:r>
              <a:rPr lang="en-US" dirty="0"/>
              <a:t>In the entry section, thread A sets its flag to true, sets turn to B, and then waits while turn value is B and B's flag is true.</a:t>
            </a:r>
          </a:p>
          <a:p>
            <a:r>
              <a:rPr lang="en-US" dirty="0"/>
              <a:t>Once A exits the critical section, it sets its flag to false.</a:t>
            </a:r>
          </a:p>
          <a:p>
            <a:r>
              <a:rPr lang="en-US" dirty="0"/>
              <a:t>Let's see why this approach is valid, and let's start with mutual exclusion.</a:t>
            </a:r>
          </a:p>
        </p:txBody>
      </p:sp>
      <p:sp>
        <p:nvSpPr>
          <p:cNvPr id="4" name="Slide Number Placeholder 3"/>
          <p:cNvSpPr>
            <a:spLocks noGrp="1"/>
          </p:cNvSpPr>
          <p:nvPr>
            <p:ph type="sldNum" sz="quarter" idx="5"/>
          </p:nvPr>
        </p:nvSpPr>
        <p:spPr/>
        <p:txBody>
          <a:bodyPr/>
          <a:lstStyle/>
          <a:p>
            <a:fld id="{20BC1079-C5C6-1A45-8E7E-B20B607B09A1}" type="slidenum">
              <a:rPr lang="en-US" smtClean="0"/>
              <a:t>23</a:t>
            </a:fld>
            <a:endParaRPr lang="en-US"/>
          </a:p>
        </p:txBody>
      </p:sp>
    </p:spTree>
    <p:extLst>
      <p:ext uri="{BB962C8B-B14F-4D97-AF65-F5344CB8AC3E}">
        <p14:creationId xmlns:p14="http://schemas.microsoft.com/office/powerpoint/2010/main" val="29170135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consider the same setup we considered before, and we check if A can enter its critical section while B is in its critical section.</a:t>
            </a:r>
          </a:p>
          <a:p>
            <a:r>
              <a:rPr lang="en-US" noProof="0" dirty="0"/>
              <a:t>What we can say is that, before entering its critical section, A needs to exit the while loop. This can happen in 2 cases: if </a:t>
            </a:r>
            <a:r>
              <a:rPr lang="en-US" noProof="0" dirty="0" err="1"/>
              <a:t>flagB</a:t>
            </a:r>
            <a:r>
              <a:rPr lang="en-US" noProof="0" dirty="0"/>
              <a:t> is false or if turn is set to A.</a:t>
            </a:r>
          </a:p>
          <a:p>
            <a:r>
              <a:rPr lang="en-US" noProof="0" dirty="0"/>
              <a:t>[c] Let's look at the first case, let's say </a:t>
            </a:r>
            <a:r>
              <a:rPr lang="en-US" noProof="0" dirty="0" err="1"/>
              <a:t>flagB</a:t>
            </a:r>
            <a:r>
              <a:rPr lang="en-US" noProof="0" dirty="0"/>
              <a:t> is false.</a:t>
            </a:r>
          </a:p>
          <a:p>
            <a:r>
              <a:rPr lang="en-US" noProof="0" dirty="0"/>
              <a:t>[c] For B to enter its critical section, it needs to set </a:t>
            </a:r>
            <a:r>
              <a:rPr lang="en-US" noProof="0" dirty="0" err="1"/>
              <a:t>flagB</a:t>
            </a:r>
            <a:r>
              <a:rPr lang="en-US" noProof="0" dirty="0"/>
              <a:t> to true (first instruction of the entry section). Since we are considering the case in which A sees </a:t>
            </a:r>
            <a:r>
              <a:rPr lang="en-US" noProof="0" dirty="0" err="1"/>
              <a:t>flagB</a:t>
            </a:r>
            <a:r>
              <a:rPr lang="en-US" noProof="0" dirty="0"/>
              <a:t> set to false, it means in this case B would set </a:t>
            </a:r>
            <a:r>
              <a:rPr lang="en-US" noProof="0" dirty="0" err="1"/>
              <a:t>flagB</a:t>
            </a:r>
            <a:r>
              <a:rPr lang="en-US" noProof="0" dirty="0"/>
              <a:t> to true after A sees </a:t>
            </a:r>
            <a:r>
              <a:rPr lang="en-US" noProof="0" dirty="0" err="1"/>
              <a:t>flagB</a:t>
            </a:r>
            <a:r>
              <a:rPr lang="en-US" noProof="0" dirty="0"/>
              <a:t> being false (we use an arrow connecting event X to event Y to denote that X happened before Y).</a:t>
            </a:r>
          </a:p>
          <a:p>
            <a:r>
              <a:rPr lang="en-US" noProof="0" dirty="0"/>
              <a:t>[c] After setting its flag to true, B sets turn to </a:t>
            </a:r>
            <a:r>
              <a:rPr lang="en-US" noProof="0" dirty="0" err="1"/>
              <a:t>idA</a:t>
            </a:r>
            <a:r>
              <a:rPr lang="en-US" noProof="0" dirty="0"/>
              <a:t>.</a:t>
            </a:r>
          </a:p>
          <a:p>
            <a:r>
              <a:rPr lang="en-US" noProof="0" dirty="0"/>
              <a:t>[c] Then B will enter the while loop. Will B exit it? Not until it sees </a:t>
            </a:r>
            <a:r>
              <a:rPr lang="en-US" noProof="0" dirty="0" err="1"/>
              <a:t>flagA</a:t>
            </a:r>
            <a:r>
              <a:rPr lang="en-US" noProof="0" dirty="0"/>
              <a:t> being false, but that will only happen after A exits its critical section, which means </a:t>
            </a:r>
          </a:p>
          <a:p>
            <a:r>
              <a:rPr lang="en-US" noProof="0" dirty="0"/>
              <a:t>[c] we cannot find a counterexample in this case.</a:t>
            </a:r>
          </a:p>
        </p:txBody>
      </p:sp>
      <p:sp>
        <p:nvSpPr>
          <p:cNvPr id="4" name="Slide Number Placeholder 3"/>
          <p:cNvSpPr>
            <a:spLocks noGrp="1"/>
          </p:cNvSpPr>
          <p:nvPr>
            <p:ph type="sldNum" sz="quarter" idx="10"/>
          </p:nvPr>
        </p:nvSpPr>
        <p:spPr/>
        <p:txBody>
          <a:bodyPr/>
          <a:lstStyle/>
          <a:p>
            <a:fld id="{009293D5-4692-4550-8F52-A74959CB9C43}" type="slidenum">
              <a:rPr lang="sv-SE" smtClean="0">
                <a:solidFill>
                  <a:prstClr val="black"/>
                </a:solidFill>
              </a:rPr>
              <a:pPr/>
              <a:t>24</a:t>
            </a:fld>
            <a:endParaRPr lang="sv-SE">
              <a:solidFill>
                <a:prstClr val="black"/>
              </a:solidFill>
            </a:endParaRPr>
          </a:p>
        </p:txBody>
      </p:sp>
    </p:spTree>
    <p:extLst>
      <p:ext uri="{BB962C8B-B14F-4D97-AF65-F5344CB8AC3E}">
        <p14:creationId xmlns:p14="http://schemas.microsoft.com/office/powerpoint/2010/main" val="976913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are left with the second case, let's say A sees the turn value is </a:t>
            </a:r>
            <a:r>
              <a:rPr lang="en-US" noProof="0" dirty="0" err="1"/>
              <a:t>idA</a:t>
            </a:r>
            <a:r>
              <a:rPr lang="en-US" noProof="0" dirty="0"/>
              <a:t>.</a:t>
            </a:r>
          </a:p>
          <a:p>
            <a:r>
              <a:rPr lang="en-US" noProof="0" dirty="0"/>
              <a:t>Let's resume our previous example.</a:t>
            </a:r>
          </a:p>
          <a:p>
            <a:r>
              <a:rPr lang="en-US" noProof="0" dirty="0"/>
              <a:t>[c] A sets </a:t>
            </a:r>
            <a:r>
              <a:rPr lang="en-US" noProof="0" dirty="0" err="1"/>
              <a:t>flagA</a:t>
            </a:r>
            <a:r>
              <a:rPr lang="en-US" noProof="0" dirty="0"/>
              <a:t> to true, then A sets turn to </a:t>
            </a:r>
            <a:r>
              <a:rPr lang="en-US" noProof="0" dirty="0" err="1"/>
              <a:t>idB</a:t>
            </a:r>
            <a:r>
              <a:rPr lang="en-US" noProof="0" dirty="0"/>
              <a:t>, and finally, A sees turn is equal to </a:t>
            </a:r>
            <a:r>
              <a:rPr lang="en-US" noProof="0" dirty="0" err="1"/>
              <a:t>idA</a:t>
            </a:r>
            <a:r>
              <a:rPr lang="en-US" noProof="0" dirty="0"/>
              <a:t> and thus exits the while loop.</a:t>
            </a:r>
          </a:p>
          <a:p>
            <a:r>
              <a:rPr lang="en-US" noProof="0" dirty="0"/>
              <a:t>[c] Notice in this case the value of turn was set to B by A in the second instruction of the entry section, but then B must have set it to A for A to read its id during the execution of the third instruction of the entry section.</a:t>
            </a:r>
          </a:p>
          <a:p>
            <a:r>
              <a:rPr lang="en-US" noProof="0" dirty="0"/>
              <a:t>[c] After setting turn to </a:t>
            </a:r>
            <a:r>
              <a:rPr lang="en-US" noProof="0" dirty="0" err="1"/>
              <a:t>idA</a:t>
            </a:r>
            <a:r>
              <a:rPr lang="en-US" noProof="0" dirty="0"/>
              <a:t>, B enters its while loop. Can it exit it and enter its critical section before A? No, because turn is set to </a:t>
            </a:r>
            <a:r>
              <a:rPr lang="en-US" noProof="0" dirty="0" err="1"/>
              <a:t>idA</a:t>
            </a:r>
            <a:r>
              <a:rPr lang="en-US" noProof="0" dirty="0"/>
              <a:t> and </a:t>
            </a:r>
            <a:r>
              <a:rPr lang="en-US" noProof="0" dirty="0" err="1"/>
              <a:t>flagA</a:t>
            </a:r>
            <a:r>
              <a:rPr lang="en-US" noProof="0" dirty="0"/>
              <a:t> will remain true until A exits its critical section. So, also in this case, we cannot find a counterexample.</a:t>
            </a:r>
          </a:p>
          <a:p>
            <a:endParaRPr lang="en-US" noProof="0" dirty="0"/>
          </a:p>
          <a:p>
            <a:r>
              <a:rPr lang="en-US" noProof="0" dirty="0"/>
              <a:t>As for previous algorithms, you can switch A and B and show B cannot enter its critical section while A is running its own.</a:t>
            </a:r>
          </a:p>
        </p:txBody>
      </p:sp>
      <p:sp>
        <p:nvSpPr>
          <p:cNvPr id="4" name="Slide Number Placeholder 3"/>
          <p:cNvSpPr>
            <a:spLocks noGrp="1"/>
          </p:cNvSpPr>
          <p:nvPr>
            <p:ph type="sldNum" sz="quarter" idx="5"/>
          </p:nvPr>
        </p:nvSpPr>
        <p:spPr/>
        <p:txBody>
          <a:bodyPr/>
          <a:lstStyle/>
          <a:p>
            <a:fld id="{C9D9014B-6F5D-41AB-8170-B3F0D387CE29}" type="slidenum">
              <a:rPr lang="sv-SE" smtClean="0"/>
              <a:t>25</a:t>
            </a:fld>
            <a:endParaRPr lang="sv-SE"/>
          </a:p>
        </p:txBody>
      </p:sp>
    </p:spTree>
    <p:extLst>
      <p:ext uri="{BB962C8B-B14F-4D97-AF65-F5344CB8AC3E}">
        <p14:creationId xmlns:p14="http://schemas.microsoft.com/office/powerpoint/2010/main" val="4049902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Now that we know mutual exclusion is guaranteed, let's check progress.</a:t>
            </a:r>
          </a:p>
          <a:p>
            <a:r>
              <a:rPr lang="en-US" noProof="0" dirty="0"/>
              <a:t>Can it happen that one thread wants to enter its critical section, but it has to wait for unbounded time while the other thread is not in its critical section?</a:t>
            </a:r>
          </a:p>
          <a:p>
            <a:r>
              <a:rPr lang="en-US" noProof="0" dirty="0"/>
              <a:t>[c] Can A want to enter its critical section and be waiting for B even though B is not in its critical section?</a:t>
            </a:r>
          </a:p>
          <a:p>
            <a:r>
              <a:rPr lang="en-US" noProof="0" dirty="0"/>
              <a:t>[c] It is easy to show this is not possible: if A is waiting, then B can enter its critical section because </a:t>
            </a:r>
            <a:r>
              <a:rPr lang="en-US" noProof="0" dirty="0" err="1"/>
              <a:t>flagB</a:t>
            </a:r>
            <a:r>
              <a:rPr lang="en-US" noProof="0" dirty="0"/>
              <a:t> is true and turn value is </a:t>
            </a:r>
            <a:r>
              <a:rPr lang="en-US" noProof="0" dirty="0" err="1"/>
              <a:t>idB</a:t>
            </a:r>
            <a:r>
              <a:rPr lang="en-US" noProof="0" dirty="0"/>
              <a:t>. But if B is in its remainder section, then </a:t>
            </a:r>
            <a:r>
              <a:rPr lang="en-US" noProof="0" dirty="0" err="1"/>
              <a:t>flagB</a:t>
            </a:r>
            <a:r>
              <a:rPr lang="en-US" noProof="0" dirty="0"/>
              <a:t> is false, which means A can enter its section.</a:t>
            </a:r>
          </a:p>
          <a:p>
            <a:r>
              <a:rPr lang="en-US" noProof="0" dirty="0"/>
              <a:t>Similarly, if B is waiting, then A can enter its critical section because </a:t>
            </a:r>
            <a:r>
              <a:rPr lang="en-US" noProof="0" dirty="0" err="1"/>
              <a:t>flagA</a:t>
            </a:r>
            <a:r>
              <a:rPr lang="en-US" noProof="0" dirty="0"/>
              <a:t> is true and turn value is </a:t>
            </a:r>
            <a:r>
              <a:rPr lang="en-US" noProof="0" dirty="0" err="1"/>
              <a:t>idA</a:t>
            </a:r>
            <a:r>
              <a:rPr lang="en-US" noProof="0" dirty="0"/>
              <a:t> or B can enter its own because A set </a:t>
            </a:r>
            <a:r>
              <a:rPr lang="en-US" noProof="0" dirty="0" err="1"/>
              <a:t>flagA</a:t>
            </a:r>
            <a:r>
              <a:rPr lang="en-US" noProof="0" dirty="0"/>
              <a:t> to false before entering its remainder section</a:t>
            </a:r>
          </a:p>
        </p:txBody>
      </p:sp>
      <p:sp>
        <p:nvSpPr>
          <p:cNvPr id="4" name="Slide Number Placeholder 3"/>
          <p:cNvSpPr>
            <a:spLocks noGrp="1"/>
          </p:cNvSpPr>
          <p:nvPr>
            <p:ph type="sldNum" sz="quarter" idx="5"/>
          </p:nvPr>
        </p:nvSpPr>
        <p:spPr/>
        <p:txBody>
          <a:bodyPr/>
          <a:lstStyle/>
          <a:p>
            <a:fld id="{C9D9014B-6F5D-41AB-8170-B3F0D387CE29}" type="slidenum">
              <a:rPr lang="sv-SE" smtClean="0"/>
              <a:t>26</a:t>
            </a:fld>
            <a:endParaRPr lang="sv-SE"/>
          </a:p>
        </p:txBody>
      </p:sp>
    </p:spTree>
    <p:extLst>
      <p:ext uri="{BB962C8B-B14F-4D97-AF65-F5344CB8AC3E}">
        <p14:creationId xmlns:p14="http://schemas.microsoft.com/office/powerpoint/2010/main" val="33479130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are now left with fairness. In this case, we are going to look into bounded waiting.</a:t>
            </a:r>
          </a:p>
          <a:p>
            <a:r>
              <a:rPr lang="en-US" noProof="0" dirty="0"/>
              <a:t>Is it possible for one thread, let's say B, to wait to enter its critical section while A manages to enter its critical section an unbounded number of times?</a:t>
            </a:r>
          </a:p>
          <a:p>
            <a:r>
              <a:rPr lang="en-US" noProof="0" dirty="0"/>
              <a:t>Let's try to find an example of this happening.</a:t>
            </a:r>
          </a:p>
          <a:p>
            <a:r>
              <a:rPr lang="en-US" noProof="0" dirty="0"/>
              <a:t>[c] In this case, A is running its critical section and B is waiting. </a:t>
            </a:r>
          </a:p>
          <a:p>
            <a:r>
              <a:rPr lang="en-US" noProof="0" dirty="0"/>
              <a:t>[c] What we are trying to find is an execution in which A enters again its critical section while B still waits. If this can happen once, then fairness </a:t>
            </a:r>
            <a:r>
              <a:rPr lang="en-US" noProof="0"/>
              <a:t>is compromised.</a:t>
            </a:r>
            <a:endParaRPr lang="en-US" noProof="0" dirty="0"/>
          </a:p>
          <a:p>
            <a:r>
              <a:rPr lang="en-US" noProof="0" dirty="0"/>
              <a:t>[c] After exiting its critical section, A sets </a:t>
            </a:r>
            <a:r>
              <a:rPr lang="en-US" noProof="0" dirty="0" err="1"/>
              <a:t>flagA</a:t>
            </a:r>
            <a:r>
              <a:rPr lang="en-US" noProof="0" dirty="0"/>
              <a:t> to false.</a:t>
            </a:r>
          </a:p>
          <a:p>
            <a:r>
              <a:rPr lang="en-US" noProof="0" dirty="0"/>
              <a:t>[c] A runs its remainder section and then starts the loop again by setting </a:t>
            </a:r>
            <a:r>
              <a:rPr lang="en-US" noProof="0" dirty="0" err="1"/>
              <a:t>flagA</a:t>
            </a:r>
            <a:r>
              <a:rPr lang="en-US" noProof="0" dirty="0"/>
              <a:t> to true.</a:t>
            </a:r>
          </a:p>
          <a:p>
            <a:r>
              <a:rPr lang="en-US" noProof="0" dirty="0"/>
              <a:t>[c] Then, A sets turn to </a:t>
            </a:r>
            <a:r>
              <a:rPr lang="en-US" noProof="0" dirty="0" err="1"/>
              <a:t>idB</a:t>
            </a:r>
            <a:r>
              <a:rPr lang="en-US" noProof="0" dirty="0"/>
              <a:t> and enters the while loop. </a:t>
            </a:r>
          </a:p>
          <a:p>
            <a:r>
              <a:rPr lang="en-US" noProof="0" dirty="0"/>
              <a:t>If B is waiting in its loop, then </a:t>
            </a:r>
            <a:r>
              <a:rPr lang="en-US" noProof="0" dirty="0" err="1"/>
              <a:t>flagB</a:t>
            </a:r>
            <a:r>
              <a:rPr lang="en-US" noProof="0" dirty="0"/>
              <a:t> is true. The value of turn is </a:t>
            </a:r>
            <a:r>
              <a:rPr lang="en-US" noProof="0" dirty="0" err="1"/>
              <a:t>idB</a:t>
            </a:r>
            <a:r>
              <a:rPr lang="en-US" noProof="0" dirty="0"/>
              <a:t> (because A just set it). </a:t>
            </a:r>
          </a:p>
          <a:p>
            <a:r>
              <a:rPr lang="en-US" noProof="0" dirty="0"/>
              <a:t>[c] Then, we can conclude A cannot exit the loop until B is done with its critical section. Hence, this cannot happen.</a:t>
            </a:r>
          </a:p>
          <a:p>
            <a:r>
              <a:rPr lang="en-US" noProof="0" dirty="0"/>
              <a:t>As before, swap A with B, and the same reasoning applies.</a:t>
            </a:r>
          </a:p>
          <a:p>
            <a:r>
              <a:rPr lang="en-US" noProof="0" dirty="0"/>
              <a:t>So, after all this, we can conclude that Peterson's algorithm is valid!</a:t>
            </a:r>
          </a:p>
        </p:txBody>
      </p:sp>
      <p:sp>
        <p:nvSpPr>
          <p:cNvPr id="4" name="Slide Number Placeholder 3"/>
          <p:cNvSpPr>
            <a:spLocks noGrp="1"/>
          </p:cNvSpPr>
          <p:nvPr>
            <p:ph type="sldNum" sz="quarter" idx="5"/>
          </p:nvPr>
        </p:nvSpPr>
        <p:spPr/>
        <p:txBody>
          <a:bodyPr/>
          <a:lstStyle/>
          <a:p>
            <a:fld id="{C9D9014B-6F5D-41AB-8170-B3F0D387CE29}" type="slidenum">
              <a:rPr lang="sv-SE" smtClean="0"/>
              <a:t>27</a:t>
            </a:fld>
            <a:endParaRPr lang="sv-SE"/>
          </a:p>
        </p:txBody>
      </p:sp>
    </p:spTree>
    <p:extLst>
      <p:ext uri="{BB962C8B-B14F-4D97-AF65-F5344CB8AC3E}">
        <p14:creationId xmlns:p14="http://schemas.microsoft.com/office/powerpoint/2010/main" val="3810128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moving to the next part of the lecture, please have a look at these links about counterexamples and proofs by way of contradiction if you are not familiar with these concepts.</a:t>
            </a:r>
          </a:p>
        </p:txBody>
      </p:sp>
      <p:sp>
        <p:nvSpPr>
          <p:cNvPr id="4" name="Slide Number Placeholder 3"/>
          <p:cNvSpPr>
            <a:spLocks noGrp="1"/>
          </p:cNvSpPr>
          <p:nvPr>
            <p:ph type="sldNum" sz="quarter" idx="5"/>
          </p:nvPr>
        </p:nvSpPr>
        <p:spPr/>
        <p:txBody>
          <a:bodyPr/>
          <a:lstStyle/>
          <a:p>
            <a:fld id="{20BC1079-C5C6-1A45-8E7E-B20B607B09A1}" type="slidenum">
              <a:rPr lang="en-US" smtClean="0"/>
              <a:t>28</a:t>
            </a:fld>
            <a:endParaRPr lang="en-US"/>
          </a:p>
        </p:txBody>
      </p:sp>
    </p:spTree>
    <p:extLst>
      <p:ext uri="{BB962C8B-B14F-4D97-AF65-F5344CB8AC3E}">
        <p14:creationId xmlns:p14="http://schemas.microsoft.com/office/powerpoint/2010/main" val="10151005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29</a:t>
            </a:fld>
            <a:endParaRPr lang="en-US"/>
          </a:p>
        </p:txBody>
      </p:sp>
    </p:spTree>
    <p:extLst>
      <p:ext uri="{BB962C8B-B14F-4D97-AF65-F5344CB8AC3E}">
        <p14:creationId xmlns:p14="http://schemas.microsoft.com/office/powerpoint/2010/main" val="712704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seen a valid solution to the critical-section problem, let's look into how hardware can help us in this context.</a:t>
            </a:r>
          </a:p>
          <a:p>
            <a:r>
              <a:rPr lang="en-US" dirty="0"/>
              <a:t>As mentioned in previous lectures, collaboration between the OS and the hardware is essential and it can be observed in many modules and aspects of modern OSs.</a:t>
            </a:r>
          </a:p>
          <a:p>
            <a:endParaRPr lang="en-US" dirty="0"/>
          </a:p>
          <a:p>
            <a:r>
              <a:rPr lang="en-US" dirty="0"/>
              <a:t>The first option we look at is a function that allows users to disable/enable interrupts on one specific core, as shown in the slide.</a:t>
            </a:r>
          </a:p>
          <a:p>
            <a:r>
              <a:rPr lang="en-US" dirty="0"/>
              <a:t>Such a function could in principle help, but you probably agree with me that disabling interrupts can lead to limited ability of interleaving programs. In a sense, the user might be given "too much power" and affect/limit the OS control.</a:t>
            </a:r>
          </a:p>
          <a:p>
            <a:r>
              <a:rPr lang="en-US" dirty="0"/>
              <a:t>More importantly, the problem with this solution is that by disabling the interrupts on one core, threads running on different cores are still able to lead to behavior that does not satisfy the critical-section problem.</a:t>
            </a:r>
          </a:p>
        </p:txBody>
      </p:sp>
      <p:sp>
        <p:nvSpPr>
          <p:cNvPr id="4" name="Slide Number Placeholder 3"/>
          <p:cNvSpPr>
            <a:spLocks noGrp="1"/>
          </p:cNvSpPr>
          <p:nvPr>
            <p:ph type="sldNum" sz="quarter" idx="5"/>
          </p:nvPr>
        </p:nvSpPr>
        <p:spPr/>
        <p:txBody>
          <a:bodyPr/>
          <a:lstStyle/>
          <a:p>
            <a:fld id="{20BC1079-C5C6-1A45-8E7E-B20B607B09A1}" type="slidenum">
              <a:rPr lang="en-US" smtClean="0"/>
              <a:t>30</a:t>
            </a:fld>
            <a:endParaRPr lang="en-US"/>
          </a:p>
        </p:txBody>
      </p:sp>
    </p:spTree>
    <p:extLst>
      <p:ext uri="{BB962C8B-B14F-4D97-AF65-F5344CB8AC3E}">
        <p14:creationId xmlns:p14="http://schemas.microsoft.com/office/powerpoint/2010/main" val="2223772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better is provided by Read-Modify-Write (RMW) operations. In this case we are not talking of individual atomic reads or writes, but of an atomic operation that performs both a read and a write. </a:t>
            </a:r>
          </a:p>
          <a:p>
            <a:r>
              <a:rPr lang="en-US" dirty="0"/>
              <a:t>Examples of these operations are </a:t>
            </a:r>
            <a:r>
              <a:rPr lang="en-US" dirty="0" err="1"/>
              <a:t>TestAndSet</a:t>
            </a:r>
            <a:r>
              <a:rPr lang="en-US" dirty="0"/>
              <a:t>, </a:t>
            </a:r>
            <a:r>
              <a:rPr lang="en-US" dirty="0" err="1"/>
              <a:t>FetchAndAdd</a:t>
            </a:r>
            <a:r>
              <a:rPr lang="en-US" dirty="0"/>
              <a:t>, </a:t>
            </a:r>
            <a:r>
              <a:rPr lang="en-US" dirty="0" err="1"/>
              <a:t>CompareAndSwap</a:t>
            </a:r>
            <a:r>
              <a:rPr lang="en-US" dirty="0"/>
              <a:t>, and so on. We will look at some of these next.</a:t>
            </a:r>
          </a:p>
          <a:p>
            <a:endParaRPr lang="en-US" dirty="0"/>
          </a:p>
          <a:p>
            <a:r>
              <a:rPr lang="en-US" dirty="0"/>
              <a:t>Let's try with the </a:t>
            </a:r>
            <a:r>
              <a:rPr lang="en-US" dirty="0" err="1"/>
              <a:t>TestAndSet</a:t>
            </a:r>
            <a:r>
              <a:rPr lang="en-US" dirty="0"/>
              <a:t> (TAS) instruction.</a:t>
            </a:r>
          </a:p>
          <a:p>
            <a:r>
              <a:rPr lang="en-US" dirty="0"/>
              <a:t>As shown in the slide, the function gets a </a:t>
            </a:r>
            <a:r>
              <a:rPr lang="en-US" dirty="0" err="1"/>
              <a:t>boolean</a:t>
            </a:r>
            <a:r>
              <a:rPr lang="en-US" dirty="0"/>
              <a:t> variable, sets it to true and returns the previous value. As I said, this instruction is executed atomically, so it either runs in its entirety or it does not. Under the hood, it works because </a:t>
            </a:r>
            <a:r>
              <a:rPr lang="en-US" sz="1200" kern="1200" dirty="0">
                <a:solidFill>
                  <a:schemeClr val="tx1"/>
                </a:solidFill>
                <a:effectLst/>
                <a:latin typeface="+mn-lt"/>
                <a:ea typeface="+mn-ea"/>
                <a:cs typeface="+mn-cs"/>
              </a:rPr>
              <a:t>processors usually obtain exclusive ownership of the relevant cache line through the cache-coherence mechanism</a:t>
            </a:r>
            <a:r>
              <a:rPr lang="en-US" dirty="0">
                <a:effectLst/>
              </a:rPr>
              <a:t> </a:t>
            </a:r>
            <a:r>
              <a:rPr lang="en-US" dirty="0"/>
              <a:t>.</a:t>
            </a:r>
          </a:p>
          <a:p>
            <a:r>
              <a:rPr lang="en-US" dirty="0"/>
              <a:t>Now, if you think about it, you will agree with me that if the target variable is set to false and N concurrent threads invoke the TAS, then only one will get false in return. If you agree with this, then probably you can see how we can use the TAS in the entry section as shown in the example. A thread can enter its critical section only if the TAS returns false. If there are concurrent invocations, the TAS will only return false to one thread, and no other thread will be able to enter its critical section until another thread exits its own and sets lock to false.</a:t>
            </a:r>
          </a:p>
          <a:p>
            <a:r>
              <a:rPr lang="en-US" dirty="0"/>
              <a:t>Please, take a moment and try to reason formally about whether this solution meets the mutual exclusion, progress and fairness properties.</a:t>
            </a:r>
          </a:p>
        </p:txBody>
      </p:sp>
      <p:sp>
        <p:nvSpPr>
          <p:cNvPr id="4" name="Slide Number Placeholder 3"/>
          <p:cNvSpPr>
            <a:spLocks noGrp="1"/>
          </p:cNvSpPr>
          <p:nvPr>
            <p:ph type="sldNum" sz="quarter" idx="5"/>
          </p:nvPr>
        </p:nvSpPr>
        <p:spPr/>
        <p:txBody>
          <a:bodyPr/>
          <a:lstStyle/>
          <a:p>
            <a:fld id="{20BC1079-C5C6-1A45-8E7E-B20B607B09A1}" type="slidenum">
              <a:rPr lang="en-US" smtClean="0"/>
              <a:t>31</a:t>
            </a:fld>
            <a:endParaRPr lang="en-US"/>
          </a:p>
        </p:txBody>
      </p:sp>
    </p:spTree>
    <p:extLst>
      <p:ext uri="{BB962C8B-B14F-4D97-AF65-F5344CB8AC3E}">
        <p14:creationId xmlns:p14="http://schemas.microsoft.com/office/powerpoint/2010/main" val="41491949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An alternative </a:t>
            </a:r>
            <a:r>
              <a:rPr lang="sv-SE" dirty="0" err="1"/>
              <a:t>instruction</a:t>
            </a:r>
            <a:r>
              <a:rPr lang="sv-SE" dirty="0"/>
              <a:t> </a:t>
            </a:r>
            <a:r>
              <a:rPr lang="sv-SE" dirty="0" err="1"/>
              <a:t>we</a:t>
            </a:r>
            <a:r>
              <a:rPr lang="sv-SE" dirty="0"/>
              <a:t> </a:t>
            </a:r>
            <a:r>
              <a:rPr lang="sv-SE" dirty="0" err="1"/>
              <a:t>could</a:t>
            </a:r>
            <a:r>
              <a:rPr lang="sv-SE" dirty="0"/>
              <a:t> </a:t>
            </a:r>
            <a:r>
              <a:rPr lang="sv-SE" dirty="0" err="1"/>
              <a:t>use</a:t>
            </a:r>
            <a:r>
              <a:rPr lang="sv-SE" dirty="0"/>
              <a:t> is the </a:t>
            </a:r>
            <a:r>
              <a:rPr lang="sv-SE" dirty="0" err="1"/>
              <a:t>CompareAndSwap</a:t>
            </a:r>
            <a:r>
              <a:rPr lang="sv-SE" dirty="0"/>
              <a:t> (CAS). In </a:t>
            </a:r>
            <a:r>
              <a:rPr lang="sv-SE" dirty="0" err="1"/>
              <a:t>this</a:t>
            </a:r>
            <a:r>
              <a:rPr lang="sv-SE" dirty="0"/>
              <a:t> </a:t>
            </a:r>
            <a:r>
              <a:rPr lang="sv-SE" dirty="0" err="1"/>
              <a:t>case</a:t>
            </a:r>
            <a:r>
              <a:rPr lang="sv-SE" dirty="0"/>
              <a:t>, the </a:t>
            </a:r>
            <a:r>
              <a:rPr lang="sv-SE" dirty="0" err="1"/>
              <a:t>instructions</a:t>
            </a:r>
            <a:r>
              <a:rPr lang="sv-SE" dirty="0"/>
              <a:t> </a:t>
            </a:r>
            <a:r>
              <a:rPr lang="sv-SE" dirty="0" err="1"/>
              <a:t>that</a:t>
            </a:r>
            <a:r>
              <a:rPr lang="sv-SE" dirty="0"/>
              <a:t> </a:t>
            </a:r>
            <a:r>
              <a:rPr lang="sv-SE" dirty="0" err="1"/>
              <a:t>are</a:t>
            </a:r>
            <a:r>
              <a:rPr lang="sv-SE" dirty="0"/>
              <a:t> </a:t>
            </a:r>
            <a:r>
              <a:rPr lang="sv-SE" dirty="0" err="1"/>
              <a:t>run</a:t>
            </a:r>
            <a:r>
              <a:rPr lang="sv-SE" dirty="0"/>
              <a:t> </a:t>
            </a:r>
            <a:r>
              <a:rPr lang="sv-SE" dirty="0" err="1"/>
              <a:t>atomically</a:t>
            </a:r>
            <a:r>
              <a:rPr lang="sv-SE" dirty="0"/>
              <a:t> </a:t>
            </a:r>
            <a:r>
              <a:rPr lang="sv-SE" dirty="0" err="1"/>
              <a:t>will</a:t>
            </a:r>
            <a:r>
              <a:rPr lang="sv-SE" dirty="0"/>
              <a:t> set a given </a:t>
            </a:r>
            <a:r>
              <a:rPr lang="sv-SE" dirty="0" err="1"/>
              <a:t>value</a:t>
            </a:r>
            <a:r>
              <a:rPr lang="sv-SE" dirty="0"/>
              <a:t> to a given </a:t>
            </a:r>
            <a:r>
              <a:rPr lang="sv-SE" dirty="0" err="1"/>
              <a:t>variable</a:t>
            </a:r>
            <a:r>
              <a:rPr lang="sv-SE" dirty="0"/>
              <a:t> </a:t>
            </a:r>
            <a:r>
              <a:rPr lang="sv-SE" dirty="0" err="1"/>
              <a:t>only</a:t>
            </a:r>
            <a:r>
              <a:rPr lang="sv-SE" dirty="0"/>
              <a:t> </a:t>
            </a:r>
            <a:r>
              <a:rPr lang="sv-SE" dirty="0" err="1"/>
              <a:t>if</a:t>
            </a:r>
            <a:r>
              <a:rPr lang="sv-SE" dirty="0"/>
              <a:t> the </a:t>
            </a:r>
            <a:r>
              <a:rPr lang="sv-SE" dirty="0" err="1"/>
              <a:t>current</a:t>
            </a:r>
            <a:r>
              <a:rPr lang="sv-SE" dirty="0"/>
              <a:t> </a:t>
            </a:r>
            <a:r>
              <a:rPr lang="sv-SE" dirty="0" err="1"/>
              <a:t>value</a:t>
            </a:r>
            <a:r>
              <a:rPr lang="sv-SE" dirty="0"/>
              <a:t> of </a:t>
            </a:r>
            <a:r>
              <a:rPr lang="sv-SE" dirty="0" err="1"/>
              <a:t>such</a:t>
            </a:r>
            <a:r>
              <a:rPr lang="sv-SE" dirty="0"/>
              <a:t> </a:t>
            </a:r>
            <a:r>
              <a:rPr lang="sv-SE" dirty="0" err="1"/>
              <a:t>variable</a:t>
            </a:r>
            <a:r>
              <a:rPr lang="sv-SE" dirty="0"/>
              <a:t> is the </a:t>
            </a:r>
            <a:r>
              <a:rPr lang="sv-SE" dirty="0" err="1"/>
              <a:t>expected</a:t>
            </a:r>
            <a:r>
              <a:rPr lang="sv-SE" dirty="0"/>
              <a:t> </a:t>
            </a:r>
            <a:r>
              <a:rPr lang="sv-SE" dirty="0" err="1"/>
              <a:t>one</a:t>
            </a:r>
            <a:r>
              <a:rPr lang="sv-SE" dirty="0"/>
              <a:t>. If </a:t>
            </a:r>
            <a:r>
              <a:rPr lang="sv-SE" dirty="0" err="1"/>
              <a:t>you</a:t>
            </a:r>
            <a:r>
              <a:rPr lang="sv-SE" dirty="0"/>
              <a:t> look at </a:t>
            </a:r>
            <a:r>
              <a:rPr lang="sv-SE" dirty="0" err="1"/>
              <a:t>this</a:t>
            </a:r>
            <a:r>
              <a:rPr lang="sv-SE" dirty="0"/>
              <a:t> alternative </a:t>
            </a:r>
            <a:r>
              <a:rPr lang="sv-SE" dirty="0" err="1"/>
              <a:t>formulation</a:t>
            </a:r>
            <a:r>
              <a:rPr lang="sv-SE" dirty="0"/>
              <a:t> of the </a:t>
            </a:r>
            <a:r>
              <a:rPr lang="sv-SE" dirty="0" err="1"/>
              <a:t>critical</a:t>
            </a:r>
            <a:r>
              <a:rPr lang="sv-SE" dirty="0"/>
              <a:t> </a:t>
            </a:r>
            <a:r>
              <a:rPr lang="sv-SE" dirty="0" err="1"/>
              <a:t>section</a:t>
            </a:r>
            <a:r>
              <a:rPr lang="sv-SE" dirty="0"/>
              <a:t>, </a:t>
            </a:r>
            <a:r>
              <a:rPr lang="sv-SE" dirty="0" err="1"/>
              <a:t>you</a:t>
            </a:r>
            <a:r>
              <a:rPr lang="sv-SE" dirty="0"/>
              <a:t> </a:t>
            </a:r>
            <a:r>
              <a:rPr lang="sv-SE" dirty="0" err="1"/>
              <a:t>will</a:t>
            </a:r>
            <a:r>
              <a:rPr lang="sv-SE" dirty="0"/>
              <a:t> </a:t>
            </a:r>
            <a:r>
              <a:rPr lang="sv-SE" dirty="0" err="1"/>
              <a:t>see</a:t>
            </a:r>
            <a:r>
              <a:rPr lang="sv-SE" dirty="0"/>
              <a:t> </a:t>
            </a:r>
            <a:r>
              <a:rPr lang="sv-SE" dirty="0" err="1"/>
              <a:t>it's</a:t>
            </a:r>
            <a:r>
              <a:rPr lang="sv-SE" dirty="0"/>
              <a:t> </a:t>
            </a:r>
            <a:r>
              <a:rPr lang="sv-SE" dirty="0" err="1"/>
              <a:t>equivalent</a:t>
            </a:r>
            <a:r>
              <a:rPr lang="sv-SE" dirty="0"/>
              <a:t> to the </a:t>
            </a:r>
            <a:r>
              <a:rPr lang="sv-SE" dirty="0" err="1"/>
              <a:t>one</a:t>
            </a:r>
            <a:r>
              <a:rPr lang="sv-SE" dirty="0"/>
              <a:t> </a:t>
            </a:r>
            <a:r>
              <a:rPr lang="sv-SE" dirty="0" err="1"/>
              <a:t>using</a:t>
            </a:r>
            <a:r>
              <a:rPr lang="sv-SE" dirty="0"/>
              <a:t> the TAS.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9014B-6F5D-41AB-8170-B3F0D387CE29}" type="slidenum">
              <a:rPr kumimoji="0" lang="sv-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sv-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8631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worth noticing about these solutions is that they are busy-waiting / spinning. </a:t>
            </a:r>
          </a:p>
          <a:p>
            <a:endParaRPr lang="en-US" dirty="0"/>
          </a:p>
          <a:p>
            <a:r>
              <a:rPr lang="en-US" dirty="0"/>
              <a:t>[c] Each thread will keep consuming CPU cycles until it manages to enter its critical section, which is a waste of resources.</a:t>
            </a:r>
          </a:p>
          <a:p>
            <a:endParaRPr lang="en-US" dirty="0"/>
          </a:p>
          <a:p>
            <a:r>
              <a:rPr lang="en-US" dirty="0"/>
              <a:t>[c] If you have tried to argue yourself about whether these are valid solutions to the critical-section problem, you probably have reached the conclusion that from the fairness perspective, they are also not optimal.</a:t>
            </a:r>
          </a:p>
          <a:p>
            <a:r>
              <a:rPr lang="en-US" dirty="0"/>
              <a:t>More concretely, they can lead to starvation, with the same thread being the one that keeps entering its critical section and other threads not managing to do so.</a:t>
            </a:r>
          </a:p>
          <a:p>
            <a:endParaRPr lang="en-US" dirty="0"/>
          </a:p>
          <a:p>
            <a:r>
              <a:rPr lang="en-US" dirty="0"/>
              <a:t>[c] The third point to think about is the underlying OS scheduling mechanism. Even if in this lecture we have not really made any assumption on the scheduling mechanism the underlying OS is using, you should not think we do not need to make assumptions when looking at a specific solution. For instance, if we assume the OS is running a preemptive priority-based scheduler and the thread that is spinning in its entry section is the one with the highest priority, then the solution can lead to a deadlock, and no thread is able to make any progress.</a:t>
            </a:r>
          </a:p>
          <a:p>
            <a:endParaRPr lang="en-US" dirty="0"/>
          </a:p>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33</a:t>
            </a:fld>
            <a:endParaRPr lang="en-US"/>
          </a:p>
        </p:txBody>
      </p:sp>
    </p:spTree>
    <p:extLst>
      <p:ext uri="{BB962C8B-B14F-4D97-AF65-F5344CB8AC3E}">
        <p14:creationId xmlns:p14="http://schemas.microsoft.com/office/powerpoint/2010/main" val="156347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now go back to the observation about starvation, let's look at an alternative formulation that can help us achieve better fairness.</a:t>
            </a:r>
          </a:p>
          <a:p>
            <a:r>
              <a:rPr lang="en-US" dirty="0"/>
              <a:t>Let's assume the entry and exit sections are as shown in this slide.</a:t>
            </a:r>
          </a:p>
          <a:p>
            <a:r>
              <a:rPr lang="en-US" dirty="0"/>
              <a:t>Besides a shared lock variable initially set to false, we have a shared array of </a:t>
            </a:r>
            <a:r>
              <a:rPr lang="en-US" dirty="0" err="1"/>
              <a:t>boolean</a:t>
            </a:r>
            <a:r>
              <a:rPr lang="en-US" dirty="0"/>
              <a:t> values called waiting. The array has one </a:t>
            </a:r>
            <a:r>
              <a:rPr lang="en-US" dirty="0" err="1"/>
              <a:t>boolean</a:t>
            </a:r>
            <a:r>
              <a:rPr lang="en-US" dirty="0"/>
              <a:t> per thread, initially set to false.</a:t>
            </a:r>
          </a:p>
          <a:p>
            <a:r>
              <a:rPr lang="en-US" dirty="0"/>
              <a:t>In its entry section, before entering the while loop, each thread shares its will of entering the critical section by setting its entry in the waiting array to true.</a:t>
            </a:r>
          </a:p>
          <a:p>
            <a:r>
              <a:rPr lang="en-US" dirty="0"/>
              <a:t>The thread will stay in the loop until it manages to run TAS (as before) and while its waiting entry remains true. After exiting the while loop and before entering its critical section, the thread sets its entry in waiting to false.</a:t>
            </a:r>
          </a:p>
          <a:p>
            <a:r>
              <a:rPr lang="en-US" dirty="0"/>
              <a:t>Now let's look at what happens after the thread exits its critical section.</a:t>
            </a:r>
          </a:p>
          <a:p>
            <a:r>
              <a:rPr lang="en-US" dirty="0"/>
              <a:t>The thread circles over the waiting array, starting from the next thread in the array (as if the buffer is circular) and then stops as soon as it finds one entry for which waiting is true or if it completes the circle.</a:t>
            </a:r>
          </a:p>
          <a:p>
            <a:r>
              <a:rPr lang="en-US" dirty="0"/>
              <a:t>If no other thread is waiting in its loop inside its entry section, then this thread sets lock to false, so some other thread that wants to enter its critical section later on can do so. Notice that the thread that enters its critical section next could be the thread that just set lock to false, but this cannot happen for an unbounded number of times (if another thread is waiting), since if another thread also wants to enter the critical section, then its entry in waiting will be true and the thread that manages to enter its critical section will then hand over the lock in its exit section, as shown in line 14.</a:t>
            </a:r>
          </a:p>
          <a:p>
            <a:r>
              <a:rPr lang="en-US" dirty="0"/>
              <a:t>As before, try to formally reason about whether this solution is valid or not by yourselves.</a:t>
            </a:r>
          </a:p>
        </p:txBody>
      </p:sp>
      <p:sp>
        <p:nvSpPr>
          <p:cNvPr id="4" name="Slide Number Placeholder 3"/>
          <p:cNvSpPr>
            <a:spLocks noGrp="1"/>
          </p:cNvSpPr>
          <p:nvPr>
            <p:ph type="sldNum" sz="quarter" idx="5"/>
          </p:nvPr>
        </p:nvSpPr>
        <p:spPr/>
        <p:txBody>
          <a:bodyPr/>
          <a:lstStyle/>
          <a:p>
            <a:fld id="{20BC1079-C5C6-1A45-8E7E-B20B607B09A1}" type="slidenum">
              <a:rPr lang="en-US" smtClean="0"/>
              <a:t>34</a:t>
            </a:fld>
            <a:endParaRPr lang="en-US"/>
          </a:p>
        </p:txBody>
      </p:sp>
    </p:spTree>
    <p:extLst>
      <p:ext uri="{BB962C8B-B14F-4D97-AF65-F5344CB8AC3E}">
        <p14:creationId xmlns:p14="http://schemas.microsoft.com/office/powerpoint/2010/main" val="30192871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35</a:t>
            </a:fld>
            <a:endParaRPr lang="en-US"/>
          </a:p>
        </p:txBody>
      </p:sp>
    </p:spTree>
    <p:extLst>
      <p:ext uri="{BB962C8B-B14F-4D97-AF65-F5344CB8AC3E}">
        <p14:creationId xmlns:p14="http://schemas.microsoft.com/office/powerpoint/2010/main" val="28189727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video, we are going to look at another synchronization primitive: semaphores.</a:t>
            </a:r>
          </a:p>
          <a:p>
            <a:r>
              <a:rPr lang="en-US" dirty="0"/>
              <a:t>A semaphore is a special variable/data object that can be used for signaling.</a:t>
            </a:r>
          </a:p>
          <a:p>
            <a:r>
              <a:rPr lang="en-US" dirty="0"/>
              <a:t>It is handled via 2 atomic operations: wait and signal. If a thread is waiting for a signal, it will remain blocked until that signal is sent.</a:t>
            </a:r>
          </a:p>
          <a:p>
            <a:r>
              <a:rPr lang="en-US" dirty="0"/>
              <a:t>We have seen such a behavior in the lecture about multi-threaded processes and </a:t>
            </a:r>
            <a:r>
              <a:rPr lang="en-US" dirty="0" err="1"/>
              <a:t>pthreads</a:t>
            </a:r>
            <a:r>
              <a:rPr lang="en-US" dirty="0"/>
              <a:t>.</a:t>
            </a:r>
          </a:p>
          <a:p>
            <a:r>
              <a:rPr lang="en-US" dirty="0"/>
              <a:t>[c] Here we have the description of how signal and wait work.</a:t>
            </a:r>
          </a:p>
          <a:p>
            <a:r>
              <a:rPr lang="en-US" dirty="0"/>
              <a:t>When invoking signal on variable S, the variable is atomically incremented.</a:t>
            </a:r>
          </a:p>
          <a:p>
            <a:r>
              <a:rPr lang="en-US" dirty="0"/>
              <a:t>When invoking wait on S, the thread invoking the function will loop or wait while S is zero and proceed when S &gt; 0. After that, it will exit after decreasing the value of S.</a:t>
            </a:r>
          </a:p>
          <a:p>
            <a:r>
              <a:rPr lang="en-US" dirty="0"/>
              <a:t>[c] S can take only values 0 and 1 if it is a binary semaphore or also greater than one if it is a counting semaphore.</a:t>
            </a:r>
          </a:p>
        </p:txBody>
      </p:sp>
      <p:sp>
        <p:nvSpPr>
          <p:cNvPr id="4" name="Slide Number Placeholder 3"/>
          <p:cNvSpPr>
            <a:spLocks noGrp="1"/>
          </p:cNvSpPr>
          <p:nvPr>
            <p:ph type="sldNum" sz="quarter" idx="5"/>
          </p:nvPr>
        </p:nvSpPr>
        <p:spPr/>
        <p:txBody>
          <a:bodyPr/>
          <a:lstStyle/>
          <a:p>
            <a:fld id="{20BC1079-C5C6-1A45-8E7E-B20B607B09A1}" type="slidenum">
              <a:rPr lang="en-US" smtClean="0"/>
              <a:t>36</a:t>
            </a:fld>
            <a:endParaRPr lang="en-US"/>
          </a:p>
        </p:txBody>
      </p:sp>
    </p:spTree>
    <p:extLst>
      <p:ext uri="{BB962C8B-B14F-4D97-AF65-F5344CB8AC3E}">
        <p14:creationId xmlns:p14="http://schemas.microsoft.com/office/powerpoint/2010/main" val="32268917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you can hopefully see semaphores can be used as shown in this pseudocode to handle the critical-section problem (but please try to reason formally by yourself!)</a:t>
            </a:r>
          </a:p>
        </p:txBody>
      </p:sp>
      <p:sp>
        <p:nvSpPr>
          <p:cNvPr id="4" name="Slide Number Placeholder 3"/>
          <p:cNvSpPr>
            <a:spLocks noGrp="1"/>
          </p:cNvSpPr>
          <p:nvPr>
            <p:ph type="sldNum" sz="quarter" idx="5"/>
          </p:nvPr>
        </p:nvSpPr>
        <p:spPr/>
        <p:txBody>
          <a:bodyPr/>
          <a:lstStyle/>
          <a:p>
            <a:fld id="{20BC1079-C5C6-1A45-8E7E-B20B607B09A1}" type="slidenum">
              <a:rPr lang="en-US" smtClean="0"/>
              <a:t>37</a:t>
            </a:fld>
            <a:endParaRPr lang="en-US"/>
          </a:p>
        </p:txBody>
      </p:sp>
    </p:spTree>
    <p:extLst>
      <p:ext uri="{BB962C8B-B14F-4D97-AF65-F5344CB8AC3E}">
        <p14:creationId xmlns:p14="http://schemas.microsoft.com/office/powerpoint/2010/main" val="41121968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worth noticing about semaphores is that they can be used to create an order in the execution of two threads. If we want to execute code segment </a:t>
            </a:r>
            <a:r>
              <a:rPr lang="en-US" dirty="0" err="1"/>
              <a:t>opB</a:t>
            </a:r>
            <a:r>
              <a:rPr lang="en-US" dirty="0"/>
              <a:t> from TB only after code segment </a:t>
            </a:r>
            <a:r>
              <a:rPr lang="en-US" dirty="0" err="1"/>
              <a:t>opA</a:t>
            </a:r>
            <a:r>
              <a:rPr lang="en-US" dirty="0"/>
              <a:t> has been executed in TA, we can do it as shown in the slide. Since B waits for a signal from A, and A sends a signal after </a:t>
            </a:r>
            <a:r>
              <a:rPr lang="en-US" dirty="0" err="1"/>
              <a:t>opA</a:t>
            </a:r>
            <a:r>
              <a:rPr lang="en-US" dirty="0"/>
              <a:t>, then </a:t>
            </a:r>
            <a:r>
              <a:rPr lang="en-US" dirty="0" err="1"/>
              <a:t>opB</a:t>
            </a:r>
            <a:r>
              <a:rPr lang="en-US" dirty="0"/>
              <a:t> will be executed after </a:t>
            </a:r>
            <a:r>
              <a:rPr lang="en-US" dirty="0" err="1"/>
              <a:t>opA</a:t>
            </a:r>
            <a:r>
              <a:rPr lang="en-US" dirty="0"/>
              <a:t>.</a:t>
            </a:r>
          </a:p>
        </p:txBody>
      </p:sp>
      <p:sp>
        <p:nvSpPr>
          <p:cNvPr id="4" name="Slide Number Placeholder 3"/>
          <p:cNvSpPr>
            <a:spLocks noGrp="1"/>
          </p:cNvSpPr>
          <p:nvPr>
            <p:ph type="sldNum" sz="quarter" idx="5"/>
          </p:nvPr>
        </p:nvSpPr>
        <p:spPr/>
        <p:txBody>
          <a:bodyPr/>
          <a:lstStyle/>
          <a:p>
            <a:fld id="{20BC1079-C5C6-1A45-8E7E-B20B607B09A1}" type="slidenum">
              <a:rPr lang="en-US" smtClean="0"/>
              <a:t>38</a:t>
            </a:fld>
            <a:endParaRPr lang="en-US"/>
          </a:p>
        </p:txBody>
      </p:sp>
    </p:spTree>
    <p:extLst>
      <p:ext uri="{BB962C8B-B14F-4D97-AF65-F5344CB8AC3E}">
        <p14:creationId xmlns:p14="http://schemas.microsoft.com/office/powerpoint/2010/main" val="16030884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39</a:t>
            </a:fld>
            <a:endParaRPr lang="en-US"/>
          </a:p>
        </p:txBody>
      </p:sp>
    </p:spTree>
    <p:extLst>
      <p:ext uri="{BB962C8B-B14F-4D97-AF65-F5344CB8AC3E}">
        <p14:creationId xmlns:p14="http://schemas.microsoft.com/office/powerpoint/2010/main" val="39494188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243FCA-7A08-4468-A667-3967CDB9A6A2}"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marL="0" lvl="1" defTabSz="921625" eaLnBrk="0" fontAlgn="base" hangingPunct="0">
              <a:spcBef>
                <a:spcPct val="30000"/>
              </a:spcBef>
              <a:spcAft>
                <a:spcPct val="0"/>
              </a:spcAft>
              <a:defRPr/>
            </a:pPr>
            <a:r>
              <a:rPr lang="en-US" dirty="0"/>
              <a:t>Notice that besides RMW instructions and semaphores, there are more available synchronization mechanisms.</a:t>
            </a:r>
          </a:p>
          <a:p>
            <a:pPr marL="0" lvl="1" defTabSz="921625" eaLnBrk="0" fontAlgn="base" hangingPunct="0">
              <a:spcBef>
                <a:spcPct val="30000"/>
              </a:spcBef>
              <a:spcAft>
                <a:spcPct val="0"/>
              </a:spcAft>
              <a:defRPr/>
            </a:pPr>
            <a:r>
              <a:rPr lang="en-US" dirty="0"/>
              <a:t>Linux for instance offers synchronization primitives like mutex, condition variables, monitors, and barriers, among others.</a:t>
            </a:r>
          </a:p>
          <a:p>
            <a:pPr marL="0" lvl="1" defTabSz="921625" eaLnBrk="0" fontAlgn="base" hangingPunct="0">
              <a:spcBef>
                <a:spcPct val="30000"/>
              </a:spcBef>
              <a:spcAft>
                <a:spcPct val="0"/>
              </a:spcAft>
              <a:defRPr/>
            </a:pPr>
            <a:endParaRPr lang="en-US" dirty="0"/>
          </a:p>
          <a:p>
            <a:pPr marL="0" lvl="1" defTabSz="921625" eaLnBrk="0" fontAlgn="base" hangingPunct="0">
              <a:spcBef>
                <a:spcPct val="30000"/>
              </a:spcBef>
              <a:spcAft>
                <a:spcPct val="0"/>
              </a:spcAft>
              <a:defRPr/>
            </a:pPr>
            <a:r>
              <a:rPr lang="en-US" dirty="0"/>
              <a:t>Mutex and semaphores are not exactly the same thing. Semaphore can be binary but also have values greater than 1. It’s not really important who decrements the semaphore, while the mutex needs to be released by the one that acquires it</a:t>
            </a:r>
          </a:p>
          <a:p>
            <a:pPr marL="0" lvl="1" defTabSz="921625" eaLnBrk="0" fontAlgn="base" hangingPunct="0">
              <a:spcBef>
                <a:spcPct val="30000"/>
              </a:spcBef>
              <a:spcAft>
                <a:spcPct val="0"/>
              </a:spcAft>
              <a:defRPr/>
            </a:pPr>
            <a:endParaRPr lang="en-US" dirty="0"/>
          </a:p>
        </p:txBody>
      </p:sp>
    </p:spTree>
    <p:extLst>
      <p:ext uri="{BB962C8B-B14F-4D97-AF65-F5344CB8AC3E}">
        <p14:creationId xmlns:p14="http://schemas.microsoft.com/office/powerpoint/2010/main" val="39861267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C131F9-2B3B-450D-B45C-AF3D72CBFA2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Which one to use is something that depends on the application. For instance, if you have to choose between an entry section that relies on spinning or one that uses a Linux </a:t>
            </a:r>
            <a:r>
              <a:rPr lang="en-US" dirty="0" err="1"/>
              <a:t>futex</a:t>
            </a:r>
            <a:r>
              <a:rPr lang="en-US" dirty="0"/>
              <a:t> (which tries to acquire a lock in the entry section but instead of spinning puts the thread in the waiting queue), you might want to consider how long the critical section is. It might be OK to spin and "waste" CPU for a relatively short critical section that happens sporadically, but maybe not for a long one that is executed frequently...</a:t>
            </a:r>
            <a:endParaRPr lang="sv-SE" dirty="0">
              <a:latin typeface="Times New Roman" pitchFamily="18" charset="0"/>
            </a:endParaRPr>
          </a:p>
          <a:p>
            <a:endParaRPr lang="sv-SE" dirty="0"/>
          </a:p>
        </p:txBody>
      </p:sp>
    </p:spTree>
    <p:extLst>
      <p:ext uri="{BB962C8B-B14F-4D97-AF65-F5344CB8AC3E}">
        <p14:creationId xmlns:p14="http://schemas.microsoft.com/office/powerpoint/2010/main" val="28285966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B15479-77C4-4247-86C7-895882BE5E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r>
              <a:rPr lang="sv-SE" dirty="0"/>
              <a:t>If </a:t>
            </a:r>
            <a:r>
              <a:rPr lang="sv-SE" dirty="0" err="1"/>
              <a:t>we</a:t>
            </a:r>
            <a:r>
              <a:rPr lang="sv-SE" dirty="0"/>
              <a:t> look at </a:t>
            </a:r>
            <a:r>
              <a:rPr lang="sv-SE" dirty="0" err="1"/>
              <a:t>pthreads</a:t>
            </a:r>
            <a:r>
              <a:rPr lang="sv-SE" dirty="0"/>
              <a:t>, </a:t>
            </a:r>
            <a:r>
              <a:rPr lang="sv-SE" dirty="0" err="1"/>
              <a:t>you</a:t>
            </a:r>
            <a:r>
              <a:rPr lang="sv-SE" dirty="0"/>
              <a:t> </a:t>
            </a:r>
            <a:r>
              <a:rPr lang="sv-SE" dirty="0" err="1"/>
              <a:t>will</a:t>
            </a:r>
            <a:r>
              <a:rPr lang="sv-SE" dirty="0"/>
              <a:t> </a:t>
            </a:r>
            <a:r>
              <a:rPr lang="sv-SE" dirty="0" err="1"/>
              <a:t>see</a:t>
            </a:r>
            <a:r>
              <a:rPr lang="sv-SE" dirty="0"/>
              <a:t> it </a:t>
            </a:r>
            <a:r>
              <a:rPr lang="sv-SE" dirty="0" err="1"/>
              <a:t>also</a:t>
            </a:r>
            <a:r>
              <a:rPr lang="sv-SE" dirty="0"/>
              <a:t> offers </a:t>
            </a:r>
            <a:r>
              <a:rPr lang="sv-SE" dirty="0" err="1"/>
              <a:t>synchronization</a:t>
            </a:r>
            <a:r>
              <a:rPr lang="sv-SE" dirty="0"/>
              <a:t> </a:t>
            </a:r>
            <a:r>
              <a:rPr lang="sv-SE" dirty="0" err="1"/>
              <a:t>mechanisms</a:t>
            </a:r>
            <a:r>
              <a:rPr lang="sv-SE" dirty="0"/>
              <a:t> like </a:t>
            </a:r>
            <a:r>
              <a:rPr lang="sv-SE" dirty="0" err="1"/>
              <a:t>mutex</a:t>
            </a:r>
            <a:r>
              <a:rPr lang="sv-SE" dirty="0"/>
              <a:t> locks </a:t>
            </a:r>
            <a:r>
              <a:rPr lang="sv-SE" dirty="0" err="1"/>
              <a:t>with</a:t>
            </a:r>
            <a:r>
              <a:rPr lang="sv-SE" dirty="0"/>
              <a:t> </a:t>
            </a:r>
            <a:r>
              <a:rPr lang="sv-SE" dirty="0" err="1"/>
              <a:t>blocking</a:t>
            </a:r>
            <a:r>
              <a:rPr lang="sv-SE" dirty="0"/>
              <a:t> </a:t>
            </a:r>
            <a:r>
              <a:rPr lang="sv-SE" dirty="0" err="1"/>
              <a:t>queues</a:t>
            </a:r>
            <a:r>
              <a:rPr lang="sv-SE" dirty="0"/>
              <a:t>, </a:t>
            </a:r>
            <a:r>
              <a:rPr lang="sv-SE" dirty="0" err="1"/>
              <a:t>which</a:t>
            </a:r>
            <a:r>
              <a:rPr lang="sv-SE" dirty="0"/>
              <a:t> </a:t>
            </a:r>
            <a:r>
              <a:rPr lang="sv-SE" dirty="0" err="1"/>
              <a:t>can</a:t>
            </a:r>
            <a:r>
              <a:rPr lang="sv-SE" dirty="0"/>
              <a:t> </a:t>
            </a:r>
            <a:r>
              <a:rPr lang="sv-SE" dirty="0" err="1"/>
              <a:t>also</a:t>
            </a:r>
            <a:r>
              <a:rPr lang="sv-SE" dirty="0"/>
              <a:t> support </a:t>
            </a:r>
            <a:r>
              <a:rPr lang="sv-SE" dirty="0" err="1"/>
              <a:t>fairness</a:t>
            </a:r>
            <a:r>
              <a:rPr lang="sv-SE" dirty="0"/>
              <a:t>, </a:t>
            </a:r>
            <a:r>
              <a:rPr lang="sv-SE" dirty="0" err="1"/>
              <a:t>condition</a:t>
            </a:r>
            <a:r>
              <a:rPr lang="sv-SE" dirty="0"/>
              <a:t> </a:t>
            </a:r>
            <a:r>
              <a:rPr lang="sv-SE" dirty="0" err="1"/>
              <a:t>variables</a:t>
            </a:r>
            <a:r>
              <a:rPr lang="sv-SE" dirty="0"/>
              <a:t>, and </a:t>
            </a:r>
            <a:r>
              <a:rPr lang="sv-SE" dirty="0" err="1"/>
              <a:t>other</a:t>
            </a:r>
            <a:r>
              <a:rPr lang="sv-SE" dirty="0"/>
              <a:t> non-portable extensions.</a:t>
            </a:r>
          </a:p>
          <a:p>
            <a:endParaRPr lang="sv-SE" dirty="0"/>
          </a:p>
          <a:p>
            <a:r>
              <a:rPr lang="sv-SE" dirty="0" err="1"/>
              <a:t>Notice</a:t>
            </a:r>
            <a:r>
              <a:rPr lang="sv-SE" dirty="0"/>
              <a:t> </a:t>
            </a:r>
            <a:r>
              <a:rPr lang="sv-SE" dirty="0" err="1"/>
              <a:t>that</a:t>
            </a:r>
            <a:r>
              <a:rPr lang="sv-SE" dirty="0"/>
              <a:t> an OS </a:t>
            </a:r>
            <a:r>
              <a:rPr lang="sv-SE" dirty="0" err="1"/>
              <a:t>that</a:t>
            </a:r>
            <a:r>
              <a:rPr lang="sv-SE" dirty="0"/>
              <a:t> </a:t>
            </a:r>
            <a:r>
              <a:rPr lang="sv-SE" dirty="0" err="1"/>
              <a:t>defines</a:t>
            </a:r>
            <a:r>
              <a:rPr lang="sv-SE" dirty="0"/>
              <a:t> and offers </a:t>
            </a:r>
            <a:r>
              <a:rPr lang="sv-SE" dirty="0" err="1"/>
              <a:t>such</a:t>
            </a:r>
            <a:r>
              <a:rPr lang="sv-SE" dirty="0"/>
              <a:t> </a:t>
            </a:r>
            <a:r>
              <a:rPr lang="sv-SE" dirty="0" err="1"/>
              <a:t>synchronization</a:t>
            </a:r>
            <a:r>
              <a:rPr lang="sv-SE" dirty="0"/>
              <a:t> primitives </a:t>
            </a:r>
            <a:r>
              <a:rPr lang="sv-SE" dirty="0" err="1"/>
              <a:t>usually</a:t>
            </a:r>
            <a:r>
              <a:rPr lang="sv-SE" dirty="0"/>
              <a:t> </a:t>
            </a:r>
            <a:r>
              <a:rPr lang="sv-SE" dirty="0" err="1"/>
              <a:t>needs</a:t>
            </a:r>
            <a:r>
              <a:rPr lang="sv-SE" dirty="0"/>
              <a:t> </a:t>
            </a:r>
            <a:r>
              <a:rPr lang="sv-SE" dirty="0" err="1"/>
              <a:t>such</a:t>
            </a:r>
            <a:r>
              <a:rPr lang="sv-SE" dirty="0"/>
              <a:t> </a:t>
            </a:r>
            <a:r>
              <a:rPr lang="sv-SE" dirty="0" err="1"/>
              <a:t>synchronization</a:t>
            </a:r>
            <a:r>
              <a:rPr lang="sv-SE" dirty="0"/>
              <a:t> primitives </a:t>
            </a:r>
            <a:r>
              <a:rPr lang="sv-SE" dirty="0" err="1"/>
              <a:t>itself</a:t>
            </a:r>
            <a:r>
              <a:rPr lang="sv-SE" dirty="0"/>
              <a:t>, to </a:t>
            </a:r>
            <a:r>
              <a:rPr lang="sv-SE" dirty="0" err="1"/>
              <a:t>protect</a:t>
            </a:r>
            <a:r>
              <a:rPr lang="sv-SE" dirty="0"/>
              <a:t> </a:t>
            </a:r>
            <a:r>
              <a:rPr lang="sv-SE" dirty="0" err="1"/>
              <a:t>its</a:t>
            </a:r>
            <a:r>
              <a:rPr lang="sv-SE" dirty="0"/>
              <a:t> </a:t>
            </a:r>
            <a:r>
              <a:rPr lang="sv-SE" dirty="0" err="1"/>
              <a:t>shared</a:t>
            </a:r>
            <a:r>
              <a:rPr lang="sv-SE" dirty="0"/>
              <a:t> </a:t>
            </a:r>
            <a:r>
              <a:rPr lang="sv-SE" dirty="0" err="1"/>
              <a:t>variables</a:t>
            </a:r>
            <a:r>
              <a:rPr lang="sv-SE" dirty="0"/>
              <a:t> </a:t>
            </a:r>
            <a:r>
              <a:rPr lang="sv-SE" dirty="0" err="1"/>
              <a:t>when</a:t>
            </a:r>
            <a:r>
              <a:rPr lang="sv-SE" dirty="0"/>
              <a:t> </a:t>
            </a:r>
            <a:r>
              <a:rPr lang="sv-SE" dirty="0" err="1"/>
              <a:t>multiple</a:t>
            </a:r>
            <a:r>
              <a:rPr lang="sv-SE" dirty="0"/>
              <a:t> </a:t>
            </a:r>
            <a:r>
              <a:rPr lang="sv-SE" dirty="0" err="1"/>
              <a:t>concurrent</a:t>
            </a:r>
            <a:r>
              <a:rPr lang="sv-SE" dirty="0"/>
              <a:t>/</a:t>
            </a:r>
            <a:r>
              <a:rPr lang="sv-SE" dirty="0" err="1"/>
              <a:t>parallel</a:t>
            </a:r>
            <a:r>
              <a:rPr lang="sv-SE" dirty="0"/>
              <a:t> </a:t>
            </a:r>
            <a:r>
              <a:rPr lang="sv-SE" dirty="0" err="1"/>
              <a:t>threads</a:t>
            </a:r>
            <a:r>
              <a:rPr lang="sv-SE" dirty="0"/>
              <a:t> </a:t>
            </a:r>
            <a:r>
              <a:rPr lang="sv-SE" dirty="0" err="1"/>
              <a:t>run</a:t>
            </a:r>
            <a:r>
              <a:rPr lang="sv-SE" dirty="0"/>
              <a:t> the OS </a:t>
            </a:r>
            <a:r>
              <a:rPr lang="sv-SE" dirty="0" err="1"/>
              <a:t>code</a:t>
            </a:r>
            <a:r>
              <a:rPr lang="sv-SE" dirty="0"/>
              <a:t>!</a:t>
            </a:r>
          </a:p>
        </p:txBody>
      </p:sp>
    </p:spTree>
    <p:extLst>
      <p:ext uri="{BB962C8B-B14F-4D97-AF65-F5344CB8AC3E}">
        <p14:creationId xmlns:p14="http://schemas.microsoft.com/office/powerpoint/2010/main" val="16032408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p>
        </p:txBody>
      </p:sp>
      <p:sp>
        <p:nvSpPr>
          <p:cNvPr id="4" name="Slide Number Placeholder 3"/>
          <p:cNvSpPr>
            <a:spLocks noGrp="1"/>
          </p:cNvSpPr>
          <p:nvPr>
            <p:ph type="sldNum" sz="quarter" idx="5"/>
          </p:nvPr>
        </p:nvSpPr>
        <p:spPr/>
        <p:txBody>
          <a:bodyPr/>
          <a:lstStyle/>
          <a:p>
            <a:fld id="{20BC1079-C5C6-1A45-8E7E-B20B607B09A1}" type="slidenum">
              <a:rPr lang="en-US" smtClean="0"/>
              <a:t>44</a:t>
            </a:fld>
            <a:endParaRPr lang="en-US"/>
          </a:p>
        </p:txBody>
      </p:sp>
    </p:spTree>
    <p:extLst>
      <p:ext uri="{BB962C8B-B14F-4D97-AF65-F5344CB8AC3E}">
        <p14:creationId xmlns:p14="http://schemas.microsoft.com/office/powerpoint/2010/main" val="41812081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a:t>
            </a:r>
          </a:p>
          <a:p>
            <a:endParaRPr lang="en-US" dirty="0"/>
          </a:p>
          <a:p>
            <a:endParaRPr lang="en-US" dirty="0"/>
          </a:p>
        </p:txBody>
      </p:sp>
      <p:sp>
        <p:nvSpPr>
          <p:cNvPr id="4" name="Slide Number Placeholder 3"/>
          <p:cNvSpPr>
            <a:spLocks noGrp="1"/>
          </p:cNvSpPr>
          <p:nvPr>
            <p:ph type="sldNum" sz="quarter" idx="5"/>
          </p:nvPr>
        </p:nvSpPr>
        <p:spPr/>
        <p:txBody>
          <a:bodyPr/>
          <a:lstStyle/>
          <a:p>
            <a:fld id="{20BC1079-C5C6-1A45-8E7E-B20B607B09A1}" type="slidenum">
              <a:rPr lang="en-US" smtClean="0"/>
              <a:t>45</a:t>
            </a:fld>
            <a:endParaRPr lang="en-US"/>
          </a:p>
        </p:txBody>
      </p:sp>
    </p:spTree>
    <p:extLst>
      <p:ext uri="{BB962C8B-B14F-4D97-AF65-F5344CB8AC3E}">
        <p14:creationId xmlns:p14="http://schemas.microsoft.com/office/powerpoint/2010/main" val="11081238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p>
        </p:txBody>
      </p:sp>
      <p:sp>
        <p:nvSpPr>
          <p:cNvPr id="4" name="Slide Number Placeholder 3"/>
          <p:cNvSpPr>
            <a:spLocks noGrp="1"/>
          </p:cNvSpPr>
          <p:nvPr>
            <p:ph type="sldNum" sz="quarter" idx="5"/>
          </p:nvPr>
        </p:nvSpPr>
        <p:spPr/>
        <p:txBody>
          <a:bodyPr/>
          <a:lstStyle/>
          <a:p>
            <a:fld id="{20BC1079-C5C6-1A45-8E7E-B20B607B09A1}" type="slidenum">
              <a:rPr lang="en-US" smtClean="0"/>
              <a:t>46</a:t>
            </a:fld>
            <a:endParaRPr lang="en-US"/>
          </a:p>
        </p:txBody>
      </p:sp>
    </p:spTree>
    <p:extLst>
      <p:ext uri="{BB962C8B-B14F-4D97-AF65-F5344CB8AC3E}">
        <p14:creationId xmlns:p14="http://schemas.microsoft.com/office/powerpoint/2010/main" val="17566883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a:t>
            </a:r>
          </a:p>
        </p:txBody>
      </p:sp>
      <p:sp>
        <p:nvSpPr>
          <p:cNvPr id="4" name="Slide Number Placeholder 3"/>
          <p:cNvSpPr>
            <a:spLocks noGrp="1"/>
          </p:cNvSpPr>
          <p:nvPr>
            <p:ph type="sldNum" sz="quarter" idx="5"/>
          </p:nvPr>
        </p:nvSpPr>
        <p:spPr/>
        <p:txBody>
          <a:bodyPr/>
          <a:lstStyle/>
          <a:p>
            <a:fld id="{20BC1079-C5C6-1A45-8E7E-B20B607B09A1}" type="slidenum">
              <a:rPr lang="en-US" smtClean="0"/>
              <a:t>47</a:t>
            </a:fld>
            <a:endParaRPr lang="en-US"/>
          </a:p>
        </p:txBody>
      </p:sp>
    </p:spTree>
    <p:extLst>
      <p:ext uri="{BB962C8B-B14F-4D97-AF65-F5344CB8AC3E}">
        <p14:creationId xmlns:p14="http://schemas.microsoft.com/office/powerpoint/2010/main" val="4002864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FFD56-97C5-2413-1522-9C7FE401807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AF637D9-0F7A-ED49-F7BB-2EAE18F558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D091891-F120-83FC-C3D0-ECCF0E8B93D4}"/>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1429B924-AEB0-D999-3F12-48311D9E48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FAE6BC-29BC-FEDA-1014-E5A78DC258A2}"/>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687944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7046-91B7-D9CB-869A-951E885CDDD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373CC4-F743-81DB-130A-50AFB9D9B26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78AC1FC-A46B-E833-F764-EA390DEAC832}"/>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33C9463C-63C7-A51F-551E-BAF2BD0566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40C09D-CE64-BF3D-7667-87D8C1FDF90A}"/>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546207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38A41-61C0-70B9-214C-8D332AB7DBE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5B1C6C2-BAFE-F6D2-5A7D-7D1BAF11B9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6CF67BE-29B4-939B-6E0A-DF56F935851A}"/>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3BA06DB4-1486-762C-F609-57BED43F84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88B826-8DAE-4B63-799B-C8F2BFF4F95F}"/>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382041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93E10-C569-76C1-AE47-A51D46BD0BD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849C559-87B5-F758-39B8-17640676B2B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8C706C4-22AA-E4BA-CF71-F14062B1E08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25172FA-D4F5-2605-1E8E-0E30167E354A}"/>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D1074274-3CFF-A7D2-8166-138207EECE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E39839-979E-D811-3D8D-1C7F74AFD162}"/>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35735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71679-D666-03FB-6211-B765ACEBA34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F095166-8E43-9421-0E47-14661915F8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BB0BA1C-9B71-415E-BD11-24C61993164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BDC3786-F6F4-85B1-BCB8-2E24C68374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64014E0-421E-2575-0E1F-7DA0C8BEAF5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025C9BB-3716-2051-0F6E-3F5C1F7C7CA3}"/>
              </a:ext>
            </a:extLst>
          </p:cNvPr>
          <p:cNvSpPr>
            <a:spLocks noGrp="1"/>
          </p:cNvSpPr>
          <p:nvPr>
            <p:ph type="dt" sz="half" idx="10"/>
          </p:nvPr>
        </p:nvSpPr>
        <p:spPr/>
        <p:txBody>
          <a:bodyPr/>
          <a:lstStyle/>
          <a:p>
            <a:r>
              <a:rPr lang="en-US"/>
              <a:t>Vincenzo Gulisano</a:t>
            </a:r>
          </a:p>
        </p:txBody>
      </p:sp>
      <p:sp>
        <p:nvSpPr>
          <p:cNvPr id="8" name="Footer Placeholder 7">
            <a:extLst>
              <a:ext uri="{FF2B5EF4-FFF2-40B4-BE49-F238E27FC236}">
                <a16:creationId xmlns:a16="http://schemas.microsoft.com/office/drawing/2014/main" id="{DFFDF65C-E752-6828-EC79-E4FF85C566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4A5345-0A9C-3867-F8BC-E0F9F8A921C3}"/>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02541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140A-8AFE-88C9-070A-C99B5EF3E8D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BF53121-C8FF-75BC-4CA6-1B68180CAEC3}"/>
              </a:ext>
            </a:extLst>
          </p:cNvPr>
          <p:cNvSpPr>
            <a:spLocks noGrp="1"/>
          </p:cNvSpPr>
          <p:nvPr>
            <p:ph type="dt" sz="half" idx="10"/>
          </p:nvPr>
        </p:nvSpPr>
        <p:spPr/>
        <p:txBody>
          <a:bodyPr/>
          <a:lstStyle/>
          <a:p>
            <a:r>
              <a:rPr lang="en-US"/>
              <a:t>Vincenzo Gulisano</a:t>
            </a:r>
          </a:p>
        </p:txBody>
      </p:sp>
      <p:sp>
        <p:nvSpPr>
          <p:cNvPr id="4" name="Footer Placeholder 3">
            <a:extLst>
              <a:ext uri="{FF2B5EF4-FFF2-40B4-BE49-F238E27FC236}">
                <a16:creationId xmlns:a16="http://schemas.microsoft.com/office/drawing/2014/main" id="{2D2FAD93-0874-D388-B5B0-1844D46C1C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A0C8C2-7CB0-F227-9788-B65F4100E1F3}"/>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777563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746887-6CD7-3182-2D7B-19D720783625}"/>
              </a:ext>
            </a:extLst>
          </p:cNvPr>
          <p:cNvSpPr>
            <a:spLocks noGrp="1"/>
          </p:cNvSpPr>
          <p:nvPr>
            <p:ph type="dt" sz="half" idx="10"/>
          </p:nvPr>
        </p:nvSpPr>
        <p:spPr/>
        <p:txBody>
          <a:bodyPr/>
          <a:lstStyle/>
          <a:p>
            <a:r>
              <a:rPr lang="en-US"/>
              <a:t>Vincenzo Gulisano</a:t>
            </a:r>
          </a:p>
        </p:txBody>
      </p:sp>
      <p:sp>
        <p:nvSpPr>
          <p:cNvPr id="3" name="Footer Placeholder 2">
            <a:extLst>
              <a:ext uri="{FF2B5EF4-FFF2-40B4-BE49-F238E27FC236}">
                <a16:creationId xmlns:a16="http://schemas.microsoft.com/office/drawing/2014/main" id="{9996EA05-B523-3458-9B76-7DA88111E66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ED1384-6020-0BC8-33AA-E9D934C00EE0}"/>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075966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B5930-CAE8-C886-A024-A771A48CA8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A64FE28-FE32-F319-9565-97C1EC7748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C2DD513-CB18-2480-620F-7D4FE52CE9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B30CCA-5690-1092-B62E-1B7E6A2804A9}"/>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39CBCEB2-0A5C-5D37-72E3-89D9F1A0D7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77802C-FC51-6FFF-9F04-6DF796F427B5}"/>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746643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3C0E7-93B1-2067-085B-6D6B28057A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20955E2-D139-AC22-831E-C9B627AEF7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850103-419E-D1FD-AAEB-7E37947F56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43AA781-CC14-31BC-D1AD-84EC35A1B04B}"/>
              </a:ext>
            </a:extLst>
          </p:cNvPr>
          <p:cNvSpPr>
            <a:spLocks noGrp="1"/>
          </p:cNvSpPr>
          <p:nvPr>
            <p:ph type="dt" sz="half" idx="10"/>
          </p:nvPr>
        </p:nvSpPr>
        <p:spPr/>
        <p:txBody>
          <a:bodyPr/>
          <a:lstStyle/>
          <a:p>
            <a:r>
              <a:rPr lang="en-US"/>
              <a:t>Vincenzo Gulisano</a:t>
            </a:r>
          </a:p>
        </p:txBody>
      </p:sp>
      <p:sp>
        <p:nvSpPr>
          <p:cNvPr id="6" name="Footer Placeholder 5">
            <a:extLst>
              <a:ext uri="{FF2B5EF4-FFF2-40B4-BE49-F238E27FC236}">
                <a16:creationId xmlns:a16="http://schemas.microsoft.com/office/drawing/2014/main" id="{0C06B66F-A12B-A8DD-D8F4-5017D78964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B98FF7-11FA-3CBB-0219-E615942664C7}"/>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3681682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A410F-C59B-2915-AAAB-182354F10D1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10DFB0F-3D7B-5268-5B76-FB8CC9532C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638A3C-38B9-1C7A-1C83-137B9DC93254}"/>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80EBF33F-A62B-94AD-5CD4-99643F2BEF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F5A5D1-6234-49B3-B141-23BC58806BCC}"/>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2878698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80F759-6033-E296-CCFB-2AB093540FD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7F05EA3-77B1-9359-7551-3BCDBA0CA44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52299E8-338B-D9BC-881B-92C751677A39}"/>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D768022F-225C-6910-7F8E-3BFF84C17B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7E4A82-1DB0-5BA7-B6DE-04E34DD5D25C}"/>
              </a:ext>
            </a:extLst>
          </p:cNvPr>
          <p:cNvSpPr>
            <a:spLocks noGrp="1"/>
          </p:cNvSpPr>
          <p:nvPr>
            <p:ph type="sldNum" sz="quarter" idx="12"/>
          </p:nvPr>
        </p:nvSpPr>
        <p:spPr/>
        <p:txBody>
          <a:bodyPr/>
          <a:lstStyle/>
          <a:p>
            <a:fld id="{67FCC1A6-2294-BF46-A2F7-E6BDB92DF1BF}" type="slidenum">
              <a:rPr lang="en-US" smtClean="0"/>
              <a:t>‹#›</a:t>
            </a:fld>
            <a:endParaRPr lang="en-US"/>
          </a:p>
        </p:txBody>
      </p:sp>
    </p:spTree>
    <p:extLst>
      <p:ext uri="{BB962C8B-B14F-4D97-AF65-F5344CB8AC3E}">
        <p14:creationId xmlns:p14="http://schemas.microsoft.com/office/powerpoint/2010/main" val="1979473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3"/>
            <a:ext cx="10972800" cy="576262"/>
          </a:xfrm>
        </p:spPr>
        <p:txBody>
          <a:bodyPr/>
          <a:lstStyle/>
          <a:p>
            <a:r>
              <a:rPr lang="en-US"/>
              <a:t>Click to edit Master title style</a:t>
            </a:r>
          </a:p>
        </p:txBody>
      </p:sp>
      <p:sp>
        <p:nvSpPr>
          <p:cNvPr id="3" name="Text Placeholder 2"/>
          <p:cNvSpPr>
            <a:spLocks noGrp="1"/>
          </p:cNvSpPr>
          <p:nvPr>
            <p:ph type="body" sz="half" idx="1"/>
          </p:nvPr>
        </p:nvSpPr>
        <p:spPr>
          <a:xfrm>
            <a:off x="1075267" y="1233489"/>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89"/>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6A2FB8C0-BFA1-F129-F80D-87F992C73B23}"/>
              </a:ext>
            </a:extLst>
          </p:cNvPr>
          <p:cNvSpPr txBox="1">
            <a:spLocks/>
          </p:cNvSpPr>
          <p:nvPr userDrawn="1"/>
        </p:nvSpPr>
        <p:spPr>
          <a:xfrm>
            <a:off x="9401908" y="47625"/>
            <a:ext cx="2743200" cy="365125"/>
          </a:xfrm>
          <a:prstGeom prst="rect">
            <a:avLst/>
          </a:prstGeom>
        </p:spPr>
        <p:txBody>
          <a:bodyPr vert="horz" lIns="91440" tIns="45720" rIns="91440" bIns="45720" rtlCol="0" anchor="ctr"/>
          <a:lstStyle>
            <a:defPPr>
              <a:defRPr lang="en-S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FCC1A6-2294-BF46-A2F7-E6BDB92DF1BF}" type="slidenum">
              <a:rPr lang="en-US" smtClean="0"/>
              <a:pPr/>
              <a:t>‹#›</a:t>
            </a:fld>
            <a:endParaRPr lang="en-US"/>
          </a:p>
        </p:txBody>
      </p:sp>
    </p:spTree>
    <p:extLst>
      <p:ext uri="{BB962C8B-B14F-4D97-AF65-F5344CB8AC3E}">
        <p14:creationId xmlns:p14="http://schemas.microsoft.com/office/powerpoint/2010/main" val="2152509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6298037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8686612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42629808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9986714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5342687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Vincenzo Gulisano</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6897270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Vincenzo Gulisano</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3270478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3298009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4671171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6"/>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42461789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40510116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16155618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492188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3CCF94-DB31-34B8-AA4F-881E753044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75349FE-E60E-4411-123B-A19694108F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614F86-79AD-2F29-6EFD-FC32592213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Vincenzo Gulisano</a:t>
            </a:r>
          </a:p>
        </p:txBody>
      </p:sp>
      <p:sp>
        <p:nvSpPr>
          <p:cNvPr id="5" name="Footer Placeholder 4">
            <a:extLst>
              <a:ext uri="{FF2B5EF4-FFF2-40B4-BE49-F238E27FC236}">
                <a16:creationId xmlns:a16="http://schemas.microsoft.com/office/drawing/2014/main" id="{8D820F4D-39B5-29BB-176D-7104A4DB04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EE101CC-14B8-AAF6-8712-F791B7C73840}"/>
              </a:ext>
            </a:extLst>
          </p:cNvPr>
          <p:cNvSpPr>
            <a:spLocks noGrp="1"/>
          </p:cNvSpPr>
          <p:nvPr>
            <p:ph type="sldNum" sz="quarter" idx="4"/>
          </p:nvPr>
        </p:nvSpPr>
        <p:spPr>
          <a:xfrm>
            <a:off x="9401908" y="4762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FCC1A6-2294-BF46-A2F7-E6BDB92DF1BF}" type="slidenum">
              <a:rPr lang="en-US" smtClean="0"/>
              <a:t>‹#›</a:t>
            </a:fld>
            <a:endParaRPr lang="en-US"/>
          </a:p>
        </p:txBody>
      </p:sp>
    </p:spTree>
    <p:extLst>
      <p:ext uri="{BB962C8B-B14F-4D97-AF65-F5344CB8AC3E}">
        <p14:creationId xmlns:p14="http://schemas.microsoft.com/office/powerpoint/2010/main" val="1382282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5" r:id="rId12"/>
    <p:sldLayoutId id="2147483666" r:id="rId1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Vincenzo Gulisano</a:t>
            </a: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5AAEEEC-DCEC-4178-AB14-E7254A15A296}" type="slidenum">
              <a:rPr lang="en-US" smtClean="0"/>
              <a:t>‹#›</a:t>
            </a:fld>
            <a:endParaRPr lang="en-US"/>
          </a:p>
        </p:txBody>
      </p:sp>
    </p:spTree>
    <p:extLst>
      <p:ext uri="{BB962C8B-B14F-4D97-AF65-F5344CB8AC3E}">
        <p14:creationId xmlns:p14="http://schemas.microsoft.com/office/powerpoint/2010/main" val="309782334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hyperlink" Target="https://pixabay.com/ko/%EA%B3%A0%EB%AC%B4-%EC%8A%A4%ED%83%AC%ED%94%84-%EC%8A%A4%ED%83%AC%ED%94%84-%ED%92%88%EC%A7%88-%ED%83%9C%EA%B7%B8-%EB%B6%88%EA%B0%80%EB%8A%A5-%ED%95%9C-%EB%A0%88%EC%9D%B4%EB%B8%94-506246/" TargetMode="Externa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hyperlink" Target="https://svgsilh.com/9c27b0/tag/symbol-2.html" TargetMode="Externa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hyperlink" Target="https://svgsilh.com/9c27b0/tag/symbol-2.html" TargetMode="Externa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hyperlink" Target="https://pixabay.com/ko/%EA%B3%A0%EB%AC%B4-%EC%8A%A4%ED%83%AC%ED%94%84-%EC%8A%A4%ED%83%AC%ED%94%84-%ED%92%88%EC%A7%88-%ED%83%9C%EA%B7%B8-%EB%B6%88%EA%B0%80%EB%8A%A5-%ED%95%9C-%EB%A0%88%EC%9D%B4%EB%B8%94-506246/" TargetMode="Externa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hyperlink" Target="https://pixabay.com/ko/%EA%B3%A0%EB%AC%B4-%EC%8A%A4%ED%83%AC%ED%94%84-%EC%8A%A4%ED%83%AC%ED%94%84-%ED%92%88%EC%A7%88-%ED%83%9C%EA%B7%B8-%EB%B6%88%EA%B0%80%EB%8A%A5-%ED%95%9C-%EB%A0%88%EC%9D%B4%EB%B8%94-506246/" TargetMode="Externa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hyperlink" Target="https://pixabay.com/ko/%EA%B3%A0%EB%AC%B4-%EC%8A%A4%ED%83%AC%ED%94%84-%EC%8A%A4%ED%83%AC%ED%94%84-%ED%92%88%EC%A7%88-%ED%83%9C%EA%B7%B8-%EB%B6%88%EA%B0%80%EB%8A%A5-%ED%95%9C-%EB%A0%88%EC%9D%B4%EB%B8%94-506246/"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https://svgsilh.com/9c27b0/tag/symbol-2.html" TargetMode="Externa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hyperlink" Target="https://pixabay.com/ko/%EA%B3%A0%EB%AC%B4-%EC%8A%A4%ED%83%AC%ED%94%84-%EC%8A%A4%ED%83%AC%ED%94%84-%ED%92%88%EC%A7%88-%ED%83%9C%EA%B7%B8-%EB%B6%88%EA%B0%80%EB%8A%A5-%ED%95%9C-%EB%A0%88%EC%9D%B4%EB%B8%94-506246/" TargetMode="Externa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hyperlink" Target="http://cgm.cs.mcgill.ca/~godfried/teaching/dm-reading-assignments/Contradiction-Proofs.pdf"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study.com/academy/lesson/counterexample-in-math-definition-examples.html" TargetMode="External"/><Relationship Id="rId5" Type="http://schemas.openxmlformats.org/officeDocument/2006/relationships/hyperlink" Target="https://mathforlove.com/lesson/counterexamples/" TargetMode="External"/><Relationship Id="rId4" Type="http://schemas.openxmlformats.org/officeDocument/2006/relationships/hyperlink" Target="http://web.stanford.edu/class/archive/cs/cs103/cs103.1152/lectures/02/Small02.pdf"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man7.org/linux/man-pages/man2/futex.2.html"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a:xfrm>
            <a:off x="2156460" y="1424940"/>
            <a:ext cx="7772400" cy="2127250"/>
          </a:xfrm>
        </p:spPr>
        <p:txBody>
          <a:bodyPr>
            <a:normAutofit fontScale="90000"/>
          </a:bodyPr>
          <a:lstStyle/>
          <a:p>
            <a:r>
              <a:rPr lang="en-GB" dirty="0"/>
              <a:t>Synchronization - Part 1</a:t>
            </a:r>
            <a:br>
              <a:rPr lang="en-US" altLang="en-US" sz="4000" dirty="0"/>
            </a:br>
            <a:r>
              <a:rPr lang="en-US" altLang="en-US" sz="4000" dirty="0"/>
              <a:t>Operating Systems – EDA093/DIT401</a:t>
            </a:r>
            <a:br>
              <a:rPr lang="en-US" altLang="en-US" dirty="0"/>
            </a:br>
            <a:br>
              <a:rPr lang="en-US" altLang="en-US" dirty="0"/>
            </a:br>
            <a:r>
              <a:rPr lang="en-US" altLang="en-US" sz="3200" dirty="0"/>
              <a:t>Vincenzo Gulisano</a:t>
            </a:r>
            <a:br>
              <a:rPr lang="en-US" altLang="en-US" sz="3200" dirty="0"/>
            </a:br>
            <a:r>
              <a:rPr lang="en-US" altLang="en-US" sz="2000" dirty="0"/>
              <a:t>vincenzo.gulisano@chalmers.se</a:t>
            </a:r>
            <a:endParaRPr lang="en-US" altLang="en-US" sz="2700" dirty="0"/>
          </a:p>
        </p:txBody>
      </p:sp>
      <p:grpSp>
        <p:nvGrpSpPr>
          <p:cNvPr id="2" name="Group 1">
            <a:extLst>
              <a:ext uri="{FF2B5EF4-FFF2-40B4-BE49-F238E27FC236}">
                <a16:creationId xmlns:a16="http://schemas.microsoft.com/office/drawing/2014/main" id="{DE77F173-1DA6-4223-61E1-FEDFE24BD549}"/>
              </a:ext>
            </a:extLst>
          </p:cNvPr>
          <p:cNvGrpSpPr/>
          <p:nvPr/>
        </p:nvGrpSpPr>
        <p:grpSpPr>
          <a:xfrm>
            <a:off x="2543614" y="4468860"/>
            <a:ext cx="7104771" cy="1547400"/>
            <a:chOff x="777241" y="4793437"/>
            <a:chExt cx="7104771" cy="1547400"/>
          </a:xfrm>
        </p:grpSpPr>
        <p:pic>
          <p:nvPicPr>
            <p:cNvPr id="3" name="Picture 2">
              <a:extLst>
                <a:ext uri="{FF2B5EF4-FFF2-40B4-BE49-F238E27FC236}">
                  <a16:creationId xmlns:a16="http://schemas.microsoft.com/office/drawing/2014/main" id="{3D79F06A-3449-CCAB-D741-749395BD73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022" y="4793437"/>
              <a:ext cx="2078990" cy="1547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2649405-C12D-D2F0-F97F-F744386C276B}"/>
                </a:ext>
              </a:extLst>
            </p:cNvPr>
            <p:cNvPicPr>
              <a:picLocks noChangeAspect="1"/>
            </p:cNvPicPr>
            <p:nvPr/>
          </p:nvPicPr>
          <p:blipFill>
            <a:blip r:embed="rId4"/>
            <a:stretch>
              <a:fillRect/>
            </a:stretch>
          </p:blipFill>
          <p:spPr>
            <a:xfrm>
              <a:off x="777241" y="4973870"/>
              <a:ext cx="4724632" cy="1186535"/>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read (Main textbook) </a:t>
            </a:r>
            <a:br>
              <a:rPr lang="en-US" dirty="0"/>
            </a:br>
            <a:r>
              <a:rPr lang="en-US" dirty="0"/>
              <a:t>- This is for both lectures on synchronization</a:t>
            </a:r>
          </a:p>
        </p:txBody>
      </p:sp>
      <p:sp>
        <p:nvSpPr>
          <p:cNvPr id="3" name="Content Placeholder 2"/>
          <p:cNvSpPr>
            <a:spLocks noGrp="1"/>
          </p:cNvSpPr>
          <p:nvPr>
            <p:ph idx="1"/>
          </p:nvPr>
        </p:nvSpPr>
        <p:spPr/>
        <p:txBody>
          <a:bodyPr>
            <a:normAutofit/>
          </a:bodyPr>
          <a:lstStyle/>
          <a:p>
            <a:r>
              <a:rPr lang="en-US" dirty="0"/>
              <a:t>Chapter 2.3.7-2.3.9, 2.3.11, </a:t>
            </a:r>
            <a:r>
              <a:rPr lang="en-GB" dirty="0"/>
              <a:t>6.3, </a:t>
            </a:r>
            <a:r>
              <a:rPr lang="en-US" dirty="0"/>
              <a:t>2.4.1-2.4.6, </a:t>
            </a:r>
            <a:r>
              <a:rPr lang="en-GB" dirty="0"/>
              <a:t>6.1-6.2, 6.5-6.6, 6.7.3-6.7.4</a:t>
            </a:r>
            <a:r>
              <a:rPr lang="en-US" dirty="0"/>
              <a:t>;</a:t>
            </a:r>
          </a:p>
        </p:txBody>
      </p:sp>
      <p:sp>
        <p:nvSpPr>
          <p:cNvPr id="4" name="Date Placeholder 3"/>
          <p:cNvSpPr>
            <a:spLocks noGrp="1"/>
          </p:cNvSpPr>
          <p:nvPr>
            <p:ph type="dt" sz="half" idx="10"/>
          </p:nvPr>
        </p:nvSpPr>
        <p:spPr/>
        <p:txBody>
          <a:bodyPr/>
          <a:lstStyle/>
          <a:p>
            <a:r>
              <a:rPr lang="en-US"/>
              <a:t>Vincenzo Gulisano</a:t>
            </a:r>
          </a:p>
        </p:txBody>
      </p:sp>
      <p:sp>
        <p:nvSpPr>
          <p:cNvPr id="6" name="Slide Number Placeholder 5"/>
          <p:cNvSpPr>
            <a:spLocks noGrp="1"/>
          </p:cNvSpPr>
          <p:nvPr>
            <p:ph type="sldNum" sz="quarter" idx="12"/>
          </p:nvPr>
        </p:nvSpPr>
        <p:spPr/>
        <p:txBody>
          <a:bodyPr/>
          <a:lstStyle/>
          <a:p>
            <a:fld id="{F08E1FC2-92BA-6B49-AE60-B1AE3118BF2A}" type="slidenum">
              <a:rPr lang="en-US" smtClean="0"/>
              <a:t>2</a:t>
            </a:fld>
            <a:endParaRPr lang="en-US"/>
          </a:p>
        </p:txBody>
      </p:sp>
    </p:spTree>
    <p:extLst>
      <p:ext uri="{BB962C8B-B14F-4D97-AF65-F5344CB8AC3E}">
        <p14:creationId xmlns:p14="http://schemas.microsoft.com/office/powerpoint/2010/main" val="1787128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t>Motivation</a:t>
            </a:r>
          </a:p>
          <a:p>
            <a:r>
              <a:rPr lang="en-US" dirty="0"/>
              <a:t>The critical-section problem</a:t>
            </a:r>
          </a:p>
          <a:p>
            <a:pPr lvl="1"/>
            <a:r>
              <a:rPr lang="en-US" dirty="0"/>
              <a:t>Check-competition approach</a:t>
            </a:r>
          </a:p>
          <a:p>
            <a:r>
              <a:rPr lang="en-US" dirty="0"/>
              <a:t>The check-order / after-you approach</a:t>
            </a:r>
          </a:p>
          <a:p>
            <a:r>
              <a:rPr lang="en-US" dirty="0"/>
              <a:t>Peterson’s Algorithm</a:t>
            </a:r>
          </a:p>
          <a:p>
            <a:r>
              <a:rPr lang="en-US" dirty="0"/>
              <a:t>Synchronization and hardware support</a:t>
            </a:r>
          </a:p>
          <a:p>
            <a:pPr lvl="1"/>
            <a:r>
              <a:rPr lang="en-US" dirty="0"/>
              <a:t>Read-Modify-Write instructions</a:t>
            </a:r>
          </a:p>
          <a:p>
            <a:r>
              <a:rPr lang="en-US" dirty="0"/>
              <a:t>Semaphores</a:t>
            </a:r>
          </a:p>
          <a:p>
            <a:r>
              <a:rPr lang="en-US" dirty="0"/>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ECC5F06-0B01-F060-6BCE-54B3DE4B1C7F}"/>
              </a:ext>
            </a:extLst>
          </p:cNvPr>
          <p:cNvSpPr>
            <a:spLocks noGrp="1"/>
          </p:cNvSpPr>
          <p:nvPr>
            <p:ph type="sldNum" sz="quarter" idx="12"/>
          </p:nvPr>
        </p:nvSpPr>
        <p:spPr/>
        <p:txBody>
          <a:bodyPr/>
          <a:lstStyle/>
          <a:p>
            <a:fld id="{67FCC1A6-2294-BF46-A2F7-E6BDB92DF1BF}" type="slidenum">
              <a:rPr lang="en-US" smtClean="0"/>
              <a:t>3</a:t>
            </a:fld>
            <a:endParaRPr lang="en-US"/>
          </a:p>
        </p:txBody>
      </p:sp>
      <p:sp>
        <p:nvSpPr>
          <p:cNvPr id="5" name="Date Placeholder 4">
            <a:extLst>
              <a:ext uri="{FF2B5EF4-FFF2-40B4-BE49-F238E27FC236}">
                <a16:creationId xmlns:a16="http://schemas.microsoft.com/office/drawing/2014/main" id="{250FF07C-441C-9402-4788-85FB5CF6AA4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113046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t>Motivation</a:t>
            </a:r>
          </a:p>
          <a:p>
            <a:r>
              <a:rPr lang="en-US" dirty="0">
                <a:solidFill>
                  <a:schemeClr val="bg1">
                    <a:lumMod val="50000"/>
                  </a:schemeClr>
                </a:solidFill>
              </a:rPr>
              <a:t>The critical-section problem</a:t>
            </a:r>
          </a:p>
          <a:p>
            <a:pPr lvl="1"/>
            <a:r>
              <a:rPr lang="en-US" dirty="0">
                <a:solidFill>
                  <a:schemeClr val="bg1">
                    <a:lumMod val="50000"/>
                  </a:schemeClr>
                </a:solidFill>
              </a:rPr>
              <a:t>Check-competition approach</a:t>
            </a:r>
          </a:p>
          <a:p>
            <a:r>
              <a:rPr lang="en-US" dirty="0">
                <a:solidFill>
                  <a:schemeClr val="bg1">
                    <a:lumMod val="50000"/>
                  </a:schemeClr>
                </a:solidFill>
              </a:rPr>
              <a:t>The check-order / after-you approach</a:t>
            </a:r>
          </a:p>
          <a:p>
            <a:r>
              <a:rPr lang="en-US" dirty="0">
                <a:solidFill>
                  <a:schemeClr val="bg1">
                    <a:lumMod val="50000"/>
                  </a:schemeClr>
                </a:solidFill>
              </a:rPr>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solidFill>
                  <a:schemeClr val="bg1">
                    <a:lumMod val="50000"/>
                  </a:schemeClr>
                </a:solidFill>
              </a:rPr>
              <a:t>Semaphores</a:t>
            </a: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7580F697-69F1-6EF8-9C59-47C96565EC92}"/>
              </a:ext>
            </a:extLst>
          </p:cNvPr>
          <p:cNvSpPr>
            <a:spLocks noGrp="1"/>
          </p:cNvSpPr>
          <p:nvPr>
            <p:ph type="sldNum" sz="quarter" idx="12"/>
          </p:nvPr>
        </p:nvSpPr>
        <p:spPr/>
        <p:txBody>
          <a:bodyPr/>
          <a:lstStyle/>
          <a:p>
            <a:fld id="{67FCC1A6-2294-BF46-A2F7-E6BDB92DF1BF}" type="slidenum">
              <a:rPr lang="en-US" smtClean="0"/>
              <a:t>4</a:t>
            </a:fld>
            <a:endParaRPr lang="en-US"/>
          </a:p>
        </p:txBody>
      </p:sp>
      <p:sp>
        <p:nvSpPr>
          <p:cNvPr id="5" name="Date Placeholder 4">
            <a:extLst>
              <a:ext uri="{FF2B5EF4-FFF2-40B4-BE49-F238E27FC236}">
                <a16:creationId xmlns:a16="http://schemas.microsoft.com/office/drawing/2014/main" id="{A49C7B4E-7AA0-2BAF-DDA0-08940A8C5E6E}"/>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100683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45339C-153B-C322-9B97-A3CDB9F75CD4}"/>
              </a:ext>
            </a:extLst>
          </p:cNvPr>
          <p:cNvSpPr>
            <a:spLocks noGrp="1"/>
          </p:cNvSpPr>
          <p:nvPr>
            <p:ph type="title"/>
          </p:nvPr>
        </p:nvSpPr>
        <p:spPr>
          <a:xfrm>
            <a:off x="838200" y="365125"/>
            <a:ext cx="10515600" cy="1325563"/>
          </a:xfrm>
        </p:spPr>
        <p:txBody>
          <a:bodyPr>
            <a:normAutofit/>
          </a:bodyPr>
          <a:lstStyle/>
          <a:p>
            <a:r>
              <a:rPr lang="en-US" sz="5400"/>
              <a:t>Previously on Operating Systems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1" descr="Screen Shot 2012-12-04 at 8.50.38 PM.png">
            <a:extLst>
              <a:ext uri="{FF2B5EF4-FFF2-40B4-BE49-F238E27FC236}">
                <a16:creationId xmlns:a16="http://schemas.microsoft.com/office/drawing/2014/main" id="{B85A1D31-2613-11F8-68E6-D98BEFD37C57}"/>
              </a:ext>
            </a:extLst>
          </p:cNvPr>
          <p:cNvPicPr>
            <a:picLocks noChangeAspect="1"/>
          </p:cNvPicPr>
          <p:nvPr/>
        </p:nvPicPr>
        <p:blipFill rotWithShape="1">
          <a:blip r:embed="rId3">
            <a:extLst>
              <a:ext uri="{28A0092B-C50C-407E-A947-70E740481C1C}">
                <a14:useLocalDpi xmlns:a14="http://schemas.microsoft.com/office/drawing/2010/main" val="0"/>
              </a:ext>
            </a:extLst>
          </a:blip>
          <a:srcRect t="1" r="5566" b="1108"/>
          <a:stretch/>
        </p:blipFill>
        <p:spPr bwMode="auto">
          <a:xfrm>
            <a:off x="1925904" y="1837426"/>
            <a:ext cx="4412266" cy="34454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1">
            <a:extLst>
              <a:ext uri="{FF2B5EF4-FFF2-40B4-BE49-F238E27FC236}">
                <a16:creationId xmlns:a16="http://schemas.microsoft.com/office/drawing/2014/main" id="{49B06C6B-F132-4DE1-8EC4-0CF6DEABEC4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24762" y="1844313"/>
            <a:ext cx="3741334" cy="34451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Rectangle 3">
            <a:extLst>
              <a:ext uri="{FF2B5EF4-FFF2-40B4-BE49-F238E27FC236}">
                <a16:creationId xmlns:a16="http://schemas.microsoft.com/office/drawing/2014/main" id="{3B958359-11FC-DF14-D21B-EDA812077915}"/>
              </a:ext>
            </a:extLst>
          </p:cNvPr>
          <p:cNvSpPr/>
          <p:nvPr/>
        </p:nvSpPr>
        <p:spPr>
          <a:xfrm>
            <a:off x="6731755" y="2472590"/>
            <a:ext cx="2387970" cy="3758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DCA1D49F-77D0-9982-D1C3-4455C28986FF}"/>
              </a:ext>
            </a:extLst>
          </p:cNvPr>
          <p:cNvCxnSpPr>
            <a:cxnSpLocks/>
            <a:endCxn id="4" idx="3"/>
          </p:cNvCxnSpPr>
          <p:nvPr/>
        </p:nvCxnSpPr>
        <p:spPr>
          <a:xfrm flipH="1">
            <a:off x="9119725" y="2660493"/>
            <a:ext cx="210392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Slide Number Placeholder 11">
            <a:extLst>
              <a:ext uri="{FF2B5EF4-FFF2-40B4-BE49-F238E27FC236}">
                <a16:creationId xmlns:a16="http://schemas.microsoft.com/office/drawing/2014/main" id="{5FB32F52-7CC8-7B17-9EDF-1C89774FC778}"/>
              </a:ext>
            </a:extLst>
          </p:cNvPr>
          <p:cNvSpPr>
            <a:spLocks noGrp="1"/>
          </p:cNvSpPr>
          <p:nvPr>
            <p:ph type="sldNum" sz="quarter" idx="12"/>
          </p:nvPr>
        </p:nvSpPr>
        <p:spPr/>
        <p:txBody>
          <a:bodyPr/>
          <a:lstStyle/>
          <a:p>
            <a:fld id="{67FCC1A6-2294-BF46-A2F7-E6BDB92DF1BF}" type="slidenum">
              <a:rPr lang="en-US" smtClean="0"/>
              <a:t>5</a:t>
            </a:fld>
            <a:endParaRPr lang="en-US"/>
          </a:p>
        </p:txBody>
      </p:sp>
      <p:sp>
        <p:nvSpPr>
          <p:cNvPr id="3" name="Date Placeholder 2">
            <a:extLst>
              <a:ext uri="{FF2B5EF4-FFF2-40B4-BE49-F238E27FC236}">
                <a16:creationId xmlns:a16="http://schemas.microsoft.com/office/drawing/2014/main" id="{A632FEA2-FE6C-7CDB-C8FA-6CD084B67921}"/>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800250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2D150-0DF1-9A78-D3C2-DC38ABF63551}"/>
              </a:ext>
            </a:extLst>
          </p:cNvPr>
          <p:cNvSpPr>
            <a:spLocks noGrp="1"/>
          </p:cNvSpPr>
          <p:nvPr>
            <p:ph type="title"/>
          </p:nvPr>
        </p:nvSpPr>
        <p:spPr/>
        <p:txBody>
          <a:bodyPr>
            <a:normAutofit/>
          </a:bodyPr>
          <a:lstStyle/>
          <a:p>
            <a:r>
              <a:rPr lang="en-US" sz="4000" dirty="0"/>
              <a:t>On the need for proper synchronization: example</a:t>
            </a:r>
          </a:p>
        </p:txBody>
      </p:sp>
      <p:graphicFrame>
        <p:nvGraphicFramePr>
          <p:cNvPr id="7" name="Table 7">
            <a:extLst>
              <a:ext uri="{FF2B5EF4-FFF2-40B4-BE49-F238E27FC236}">
                <a16:creationId xmlns:a16="http://schemas.microsoft.com/office/drawing/2014/main" id="{0E6C249C-A73C-9133-2A67-A20FBBA75387}"/>
              </a:ext>
            </a:extLst>
          </p:cNvPr>
          <p:cNvGraphicFramePr>
            <a:graphicFrameLocks noGrp="1"/>
          </p:cNvGraphicFramePr>
          <p:nvPr>
            <p:extLst>
              <p:ext uri="{D42A27DB-BD31-4B8C-83A1-F6EECF244321}">
                <p14:modId xmlns:p14="http://schemas.microsoft.com/office/powerpoint/2010/main" val="2136576993"/>
              </p:ext>
            </p:extLst>
          </p:nvPr>
        </p:nvGraphicFramePr>
        <p:xfrm>
          <a:off x="8334796" y="1801759"/>
          <a:ext cx="1171956" cy="2225040"/>
        </p:xfrm>
        <a:graphic>
          <a:graphicData uri="http://schemas.openxmlformats.org/drawingml/2006/table">
            <a:tbl>
              <a:tblPr firstRow="1" bandRow="1">
                <a:tableStyleId>{5C22544A-7EE6-4342-B048-85BDC9FD1C3A}</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A</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653628292"/>
                  </a:ext>
                </a:extLst>
              </a:tr>
              <a:tr h="370840">
                <a:tc>
                  <a:txBody>
                    <a:bodyPr/>
                    <a:lstStyle/>
                    <a:p>
                      <a:r>
                        <a:rPr lang="en-US" dirty="0"/>
                        <a:t>x </a:t>
                      </a:r>
                      <a:r>
                        <a:rPr lang="en-US" dirty="0">
                          <a:sym typeface="Wingdings" pitchFamily="2" charset="2"/>
                        </a:rPr>
                        <a:t> x + 50</a:t>
                      </a:r>
                      <a:r>
                        <a:rPr lang="en-US" dirty="0"/>
                        <a:t> </a:t>
                      </a:r>
                    </a:p>
                  </a:txBody>
                  <a:tcPr/>
                </a:tc>
                <a:extLst>
                  <a:ext uri="{0D108BD9-81ED-4DB2-BD59-A6C34878D82A}">
                    <a16:rowId xmlns:a16="http://schemas.microsoft.com/office/drawing/2014/main" val="3506412102"/>
                  </a:ext>
                </a:extLst>
              </a:tr>
              <a:tr h="370840">
                <a:tc>
                  <a:txBody>
                    <a:bodyPr/>
                    <a:lstStyle/>
                    <a:p>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423099786"/>
                  </a:ext>
                </a:extLst>
              </a:tr>
              <a:tr h="370840">
                <a:tc>
                  <a:txBody>
                    <a:bodyPr/>
                    <a:lstStyle/>
                    <a:p>
                      <a:endParaRPr lang="en-US" dirty="0"/>
                    </a:p>
                  </a:txBody>
                  <a:tcPr/>
                </a:tc>
                <a:extLst>
                  <a:ext uri="{0D108BD9-81ED-4DB2-BD59-A6C34878D82A}">
                    <a16:rowId xmlns:a16="http://schemas.microsoft.com/office/drawing/2014/main" val="1733666767"/>
                  </a:ext>
                </a:extLst>
              </a:tr>
            </a:tbl>
          </a:graphicData>
        </a:graphic>
      </p:graphicFrame>
      <p:graphicFrame>
        <p:nvGraphicFramePr>
          <p:cNvPr id="8" name="Table 7">
            <a:extLst>
              <a:ext uri="{FF2B5EF4-FFF2-40B4-BE49-F238E27FC236}">
                <a16:creationId xmlns:a16="http://schemas.microsoft.com/office/drawing/2014/main" id="{E7518895-2D6E-7AD4-4DC9-EA6FCDD691DC}"/>
              </a:ext>
            </a:extLst>
          </p:cNvPr>
          <p:cNvGraphicFramePr>
            <a:graphicFrameLocks noGrp="1"/>
          </p:cNvGraphicFramePr>
          <p:nvPr>
            <p:extLst>
              <p:ext uri="{D42A27DB-BD31-4B8C-83A1-F6EECF244321}">
                <p14:modId xmlns:p14="http://schemas.microsoft.com/office/powerpoint/2010/main" val="1652977754"/>
              </p:ext>
            </p:extLst>
          </p:nvPr>
        </p:nvGraphicFramePr>
        <p:xfrm>
          <a:off x="9506752" y="1801759"/>
          <a:ext cx="1171956" cy="2225040"/>
        </p:xfrm>
        <a:graphic>
          <a:graphicData uri="http://schemas.openxmlformats.org/drawingml/2006/table">
            <a:tbl>
              <a:tblPr firstRow="1" bandRow="1">
                <a:tableStyleId>{21E4AEA4-8DFA-4A89-87EB-49C32662AFE0}</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B</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endParaRPr lang="en-US" dirty="0"/>
                    </a:p>
                  </a:txBody>
                  <a:tcPr/>
                </a:tc>
                <a:extLst>
                  <a:ext uri="{0D108BD9-81ED-4DB2-BD59-A6C34878D82A}">
                    <a16:rowId xmlns:a16="http://schemas.microsoft.com/office/drawing/2014/main" val="36536282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506412102"/>
                  </a:ext>
                </a:extLst>
              </a:tr>
              <a:tr h="370840">
                <a:tc>
                  <a:txBody>
                    <a:bodyPr/>
                    <a:lstStyle/>
                    <a:p>
                      <a:r>
                        <a:rPr lang="en-US" dirty="0"/>
                        <a:t>x </a:t>
                      </a:r>
                      <a:r>
                        <a:rPr lang="en-US" dirty="0">
                          <a:sym typeface="Wingdings" pitchFamily="2" charset="2"/>
                        </a:rPr>
                        <a:t> x - 20</a:t>
                      </a:r>
                      <a:r>
                        <a:rPr lang="en-US" dirty="0"/>
                        <a:t> </a:t>
                      </a:r>
                    </a:p>
                  </a:txBody>
                  <a:tcPr/>
                </a:tc>
                <a:extLst>
                  <a:ext uri="{0D108BD9-81ED-4DB2-BD59-A6C34878D82A}">
                    <a16:rowId xmlns:a16="http://schemas.microsoft.com/office/drawing/2014/main" val="1423099786"/>
                  </a:ext>
                </a:extLst>
              </a:tr>
              <a:tr h="370840">
                <a:tc>
                  <a:txBody>
                    <a:bodyPr/>
                    <a:lstStyle/>
                    <a:p>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733666767"/>
                  </a:ext>
                </a:extLst>
              </a:tr>
            </a:tbl>
          </a:graphicData>
        </a:graphic>
      </p:graphicFrame>
      <p:graphicFrame>
        <p:nvGraphicFramePr>
          <p:cNvPr id="9" name="Table 8">
            <a:extLst>
              <a:ext uri="{FF2B5EF4-FFF2-40B4-BE49-F238E27FC236}">
                <a16:creationId xmlns:a16="http://schemas.microsoft.com/office/drawing/2014/main" id="{59624511-A1F2-5D32-1131-8DB1160D93FF}"/>
              </a:ext>
            </a:extLst>
          </p:cNvPr>
          <p:cNvGraphicFramePr>
            <a:graphicFrameLocks noGrp="1"/>
          </p:cNvGraphicFramePr>
          <p:nvPr>
            <p:extLst>
              <p:ext uri="{D42A27DB-BD31-4B8C-83A1-F6EECF244321}">
                <p14:modId xmlns:p14="http://schemas.microsoft.com/office/powerpoint/2010/main" val="3091267815"/>
              </p:ext>
            </p:extLst>
          </p:nvPr>
        </p:nvGraphicFramePr>
        <p:xfrm>
          <a:off x="10678708" y="1801759"/>
          <a:ext cx="1171956" cy="2225040"/>
        </p:xfrm>
        <a:graphic>
          <a:graphicData uri="http://schemas.openxmlformats.org/drawingml/2006/table">
            <a:tbl>
              <a:tblPr firstRow="1" bandRow="1">
                <a:tableStyleId>{00A15C55-8517-42AA-B614-E9B94910E393}</a:tableStyleId>
              </a:tblPr>
              <a:tblGrid>
                <a:gridCol w="1171956">
                  <a:extLst>
                    <a:ext uri="{9D8B030D-6E8A-4147-A177-3AD203B41FA5}">
                      <a16:colId xmlns:a16="http://schemas.microsoft.com/office/drawing/2014/main" val="2207666710"/>
                    </a:ext>
                  </a:extLst>
                </a:gridCol>
              </a:tblGrid>
              <a:tr h="370840">
                <a:tc>
                  <a:txBody>
                    <a:bodyPr/>
                    <a:lstStyle/>
                    <a:p>
                      <a:r>
                        <a:rPr lang="en-US" dirty="0"/>
                        <a:t>Variable S</a:t>
                      </a:r>
                    </a:p>
                  </a:txBody>
                  <a:tcPr/>
                </a:tc>
                <a:extLst>
                  <a:ext uri="{0D108BD9-81ED-4DB2-BD59-A6C34878D82A}">
                    <a16:rowId xmlns:a16="http://schemas.microsoft.com/office/drawing/2014/main" val="606425296"/>
                  </a:ext>
                </a:extLst>
              </a:tr>
              <a:tr h="370840">
                <a:tc>
                  <a:txBody>
                    <a:bodyPr/>
                    <a:lstStyle/>
                    <a:p>
                      <a:r>
                        <a:rPr lang="en-US" dirty="0"/>
                        <a:t>20</a:t>
                      </a:r>
                    </a:p>
                  </a:txBody>
                  <a:tcPr/>
                </a:tc>
                <a:extLst>
                  <a:ext uri="{0D108BD9-81ED-4DB2-BD59-A6C34878D82A}">
                    <a16:rowId xmlns:a16="http://schemas.microsoft.com/office/drawing/2014/main" val="3791264992"/>
                  </a:ext>
                </a:extLst>
              </a:tr>
              <a:tr h="370840">
                <a:tc>
                  <a:txBody>
                    <a:bodyPr/>
                    <a:lstStyle/>
                    <a:p>
                      <a:r>
                        <a:rPr lang="en-US" dirty="0"/>
                        <a:t>20</a:t>
                      </a:r>
                    </a:p>
                  </a:txBody>
                  <a:tcPr/>
                </a:tc>
                <a:extLst>
                  <a:ext uri="{0D108BD9-81ED-4DB2-BD59-A6C34878D82A}">
                    <a16:rowId xmlns:a16="http://schemas.microsoft.com/office/drawing/2014/main" val="3653628292"/>
                  </a:ext>
                </a:extLst>
              </a:tr>
              <a:tr h="370840">
                <a:tc>
                  <a:txBody>
                    <a:bodyPr/>
                    <a:lstStyle/>
                    <a:p>
                      <a:r>
                        <a:rPr lang="en-US" dirty="0"/>
                        <a:t>20</a:t>
                      </a:r>
                    </a:p>
                  </a:txBody>
                  <a:tcPr/>
                </a:tc>
                <a:extLst>
                  <a:ext uri="{0D108BD9-81ED-4DB2-BD59-A6C34878D82A}">
                    <a16:rowId xmlns:a16="http://schemas.microsoft.com/office/drawing/2014/main" val="3506412102"/>
                  </a:ext>
                </a:extLst>
              </a:tr>
              <a:tr h="370840">
                <a:tc>
                  <a:txBody>
                    <a:bodyPr/>
                    <a:lstStyle/>
                    <a:p>
                      <a:r>
                        <a:rPr lang="en-US" dirty="0"/>
                        <a:t>70</a:t>
                      </a:r>
                    </a:p>
                  </a:txBody>
                  <a:tcPr/>
                </a:tc>
                <a:extLst>
                  <a:ext uri="{0D108BD9-81ED-4DB2-BD59-A6C34878D82A}">
                    <a16:rowId xmlns:a16="http://schemas.microsoft.com/office/drawing/2014/main" val="1423099786"/>
                  </a:ext>
                </a:extLst>
              </a:tr>
              <a:tr h="370840">
                <a:tc>
                  <a:txBody>
                    <a:bodyPr/>
                    <a:lstStyle/>
                    <a:p>
                      <a:r>
                        <a:rPr lang="en-US" dirty="0"/>
                        <a:t>0</a:t>
                      </a:r>
                    </a:p>
                  </a:txBody>
                  <a:tcPr/>
                </a:tc>
                <a:extLst>
                  <a:ext uri="{0D108BD9-81ED-4DB2-BD59-A6C34878D82A}">
                    <a16:rowId xmlns:a16="http://schemas.microsoft.com/office/drawing/2014/main" val="1733666767"/>
                  </a:ext>
                </a:extLst>
              </a:tr>
            </a:tbl>
          </a:graphicData>
        </a:graphic>
      </p:graphicFrame>
      <p:cxnSp>
        <p:nvCxnSpPr>
          <p:cNvPr id="11" name="Straight Arrow Connector 10">
            <a:extLst>
              <a:ext uri="{FF2B5EF4-FFF2-40B4-BE49-F238E27FC236}">
                <a16:creationId xmlns:a16="http://schemas.microsoft.com/office/drawing/2014/main" id="{DB66B95C-F6C0-190C-02B3-13CAB8ECF99E}"/>
              </a:ext>
            </a:extLst>
          </p:cNvPr>
          <p:cNvCxnSpPr/>
          <p:nvPr/>
        </p:nvCxnSpPr>
        <p:spPr>
          <a:xfrm>
            <a:off x="8290641" y="1783562"/>
            <a:ext cx="0" cy="2225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22CB2F3-BFAE-2A3E-68B4-A39192815AE1}"/>
              </a:ext>
            </a:extLst>
          </p:cNvPr>
          <p:cNvSpPr txBox="1"/>
          <p:nvPr/>
        </p:nvSpPr>
        <p:spPr>
          <a:xfrm rot="16200000">
            <a:off x="6874601" y="2711416"/>
            <a:ext cx="2355004" cy="369332"/>
          </a:xfrm>
          <a:prstGeom prst="rect">
            <a:avLst/>
          </a:prstGeom>
          <a:noFill/>
        </p:spPr>
        <p:txBody>
          <a:bodyPr wrap="none" rtlCol="0">
            <a:spAutoFit/>
          </a:bodyPr>
          <a:lstStyle/>
          <a:p>
            <a:r>
              <a:rPr lang="en-US" dirty="0"/>
              <a:t>Time (in discrete steps)</a:t>
            </a:r>
          </a:p>
        </p:txBody>
      </p:sp>
      <p:sp>
        <p:nvSpPr>
          <p:cNvPr id="13" name="Content Placeholder 2">
            <a:extLst>
              <a:ext uri="{FF2B5EF4-FFF2-40B4-BE49-F238E27FC236}">
                <a16:creationId xmlns:a16="http://schemas.microsoft.com/office/drawing/2014/main" id="{5328BA83-07E6-3853-9EC8-6541AA83B60E}"/>
              </a:ext>
            </a:extLst>
          </p:cNvPr>
          <p:cNvSpPr>
            <a:spLocks noGrp="1"/>
          </p:cNvSpPr>
          <p:nvPr>
            <p:ph idx="1"/>
          </p:nvPr>
        </p:nvSpPr>
        <p:spPr>
          <a:xfrm>
            <a:off x="832741" y="1426205"/>
            <a:ext cx="7502055" cy="5066670"/>
          </a:xfrm>
        </p:spPr>
        <p:txBody>
          <a:bodyPr>
            <a:normAutofit/>
          </a:bodyPr>
          <a:lstStyle/>
          <a:p>
            <a:r>
              <a:rPr lang="en-US" dirty="0"/>
              <a:t>Setup</a:t>
            </a:r>
          </a:p>
          <a:p>
            <a:pPr lvl="1"/>
            <a:r>
              <a:rPr lang="en-US" dirty="0"/>
              <a:t>2 threads, A and B</a:t>
            </a:r>
          </a:p>
          <a:p>
            <a:pPr lvl="1"/>
            <a:r>
              <a:rPr lang="en-US" dirty="0"/>
              <a:t>Each has access to:</a:t>
            </a:r>
          </a:p>
          <a:p>
            <a:pPr lvl="2"/>
            <a:r>
              <a:rPr lang="en-US" dirty="0"/>
              <a:t>a </a:t>
            </a:r>
            <a:r>
              <a:rPr lang="en-US" b="1" dirty="0"/>
              <a:t>local</a:t>
            </a:r>
            <a:r>
              <a:rPr lang="en-US" dirty="0"/>
              <a:t> variable x</a:t>
            </a:r>
          </a:p>
          <a:p>
            <a:pPr lvl="2"/>
            <a:r>
              <a:rPr lang="en-US" dirty="0"/>
              <a:t>a </a:t>
            </a:r>
            <a:r>
              <a:rPr lang="en-US" b="1" dirty="0"/>
              <a:t>shared</a:t>
            </a:r>
            <a:r>
              <a:rPr lang="en-US" dirty="0"/>
              <a:t> variable S, initialized with value 20</a:t>
            </a:r>
          </a:p>
          <a:p>
            <a:pPr lvl="1"/>
            <a:r>
              <a:rPr lang="en-US" dirty="0"/>
              <a:t>A and B run in parallel, each on its core</a:t>
            </a:r>
          </a:p>
          <a:p>
            <a:pPr lvl="1"/>
            <a:r>
              <a:rPr lang="en-US" dirty="0"/>
              <a:t>A and B run 3 operations to update S (see figure)</a:t>
            </a:r>
          </a:p>
          <a:p>
            <a:r>
              <a:rPr lang="en-US" dirty="0"/>
              <a:t>Consider the execution on the right:</a:t>
            </a:r>
          </a:p>
        </p:txBody>
      </p:sp>
      <p:sp>
        <p:nvSpPr>
          <p:cNvPr id="3" name="Slide Number Placeholder 2">
            <a:extLst>
              <a:ext uri="{FF2B5EF4-FFF2-40B4-BE49-F238E27FC236}">
                <a16:creationId xmlns:a16="http://schemas.microsoft.com/office/drawing/2014/main" id="{1A200EA9-E1CB-8F3A-23B8-A2DB999FF20F}"/>
              </a:ext>
            </a:extLst>
          </p:cNvPr>
          <p:cNvSpPr>
            <a:spLocks noGrp="1"/>
          </p:cNvSpPr>
          <p:nvPr>
            <p:ph type="sldNum" sz="quarter" idx="12"/>
          </p:nvPr>
        </p:nvSpPr>
        <p:spPr/>
        <p:txBody>
          <a:bodyPr/>
          <a:lstStyle/>
          <a:p>
            <a:fld id="{67FCC1A6-2294-BF46-A2F7-E6BDB92DF1BF}" type="slidenum">
              <a:rPr lang="en-US" smtClean="0"/>
              <a:t>6</a:t>
            </a:fld>
            <a:endParaRPr lang="en-US"/>
          </a:p>
        </p:txBody>
      </p:sp>
      <p:sp>
        <p:nvSpPr>
          <p:cNvPr id="4" name="Date Placeholder 3">
            <a:extLst>
              <a:ext uri="{FF2B5EF4-FFF2-40B4-BE49-F238E27FC236}">
                <a16:creationId xmlns:a16="http://schemas.microsoft.com/office/drawing/2014/main" id="{1BE142D0-C9B6-D693-88D5-623B3C06AE2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821323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1DEF6-58E4-0882-1605-C571BA803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FC4AE-A674-D629-F570-295757EB689F}"/>
              </a:ext>
            </a:extLst>
          </p:cNvPr>
          <p:cNvSpPr>
            <a:spLocks noGrp="1"/>
          </p:cNvSpPr>
          <p:nvPr>
            <p:ph type="title"/>
          </p:nvPr>
        </p:nvSpPr>
        <p:spPr/>
        <p:txBody>
          <a:bodyPr>
            <a:normAutofit/>
          </a:bodyPr>
          <a:lstStyle/>
          <a:p>
            <a:r>
              <a:rPr lang="en-US" sz="4000" dirty="0"/>
              <a:t>Question</a:t>
            </a:r>
          </a:p>
        </p:txBody>
      </p:sp>
      <p:graphicFrame>
        <p:nvGraphicFramePr>
          <p:cNvPr id="7" name="Table 7">
            <a:extLst>
              <a:ext uri="{FF2B5EF4-FFF2-40B4-BE49-F238E27FC236}">
                <a16:creationId xmlns:a16="http://schemas.microsoft.com/office/drawing/2014/main" id="{4EA8F231-43C7-8C0F-0D38-490FD267828D}"/>
              </a:ext>
            </a:extLst>
          </p:cNvPr>
          <p:cNvGraphicFramePr>
            <a:graphicFrameLocks noGrp="1"/>
          </p:cNvGraphicFramePr>
          <p:nvPr>
            <p:extLst>
              <p:ext uri="{D42A27DB-BD31-4B8C-83A1-F6EECF244321}">
                <p14:modId xmlns:p14="http://schemas.microsoft.com/office/powerpoint/2010/main" val="2683153137"/>
              </p:ext>
            </p:extLst>
          </p:nvPr>
        </p:nvGraphicFramePr>
        <p:xfrm>
          <a:off x="7837932" y="895668"/>
          <a:ext cx="1171956" cy="2225040"/>
        </p:xfrm>
        <a:graphic>
          <a:graphicData uri="http://schemas.openxmlformats.org/drawingml/2006/table">
            <a:tbl>
              <a:tblPr firstRow="1" bandRow="1">
                <a:tableStyleId>{5C22544A-7EE6-4342-B048-85BDC9FD1C3A}</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A</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653628292"/>
                  </a:ext>
                </a:extLst>
              </a:tr>
              <a:tr h="370840">
                <a:tc>
                  <a:txBody>
                    <a:bodyPr/>
                    <a:lstStyle/>
                    <a:p>
                      <a:r>
                        <a:rPr lang="en-US" dirty="0"/>
                        <a:t>x </a:t>
                      </a:r>
                      <a:r>
                        <a:rPr lang="en-US" dirty="0">
                          <a:sym typeface="Wingdings" pitchFamily="2" charset="2"/>
                        </a:rPr>
                        <a:t> x + 50</a:t>
                      </a:r>
                      <a:r>
                        <a:rPr lang="en-US" dirty="0"/>
                        <a:t> </a:t>
                      </a:r>
                    </a:p>
                  </a:txBody>
                  <a:tcPr/>
                </a:tc>
                <a:extLst>
                  <a:ext uri="{0D108BD9-81ED-4DB2-BD59-A6C34878D82A}">
                    <a16:rowId xmlns:a16="http://schemas.microsoft.com/office/drawing/2014/main" val="3506412102"/>
                  </a:ext>
                </a:extLst>
              </a:tr>
              <a:tr h="370840">
                <a:tc>
                  <a:txBody>
                    <a:bodyPr/>
                    <a:lstStyle/>
                    <a:p>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423099786"/>
                  </a:ext>
                </a:extLst>
              </a:tr>
              <a:tr h="370840">
                <a:tc>
                  <a:txBody>
                    <a:bodyPr/>
                    <a:lstStyle/>
                    <a:p>
                      <a:endParaRPr lang="en-US" dirty="0"/>
                    </a:p>
                  </a:txBody>
                  <a:tcPr/>
                </a:tc>
                <a:extLst>
                  <a:ext uri="{0D108BD9-81ED-4DB2-BD59-A6C34878D82A}">
                    <a16:rowId xmlns:a16="http://schemas.microsoft.com/office/drawing/2014/main" val="1733666767"/>
                  </a:ext>
                </a:extLst>
              </a:tr>
            </a:tbl>
          </a:graphicData>
        </a:graphic>
      </p:graphicFrame>
      <p:graphicFrame>
        <p:nvGraphicFramePr>
          <p:cNvPr id="8" name="Table 7">
            <a:extLst>
              <a:ext uri="{FF2B5EF4-FFF2-40B4-BE49-F238E27FC236}">
                <a16:creationId xmlns:a16="http://schemas.microsoft.com/office/drawing/2014/main" id="{13F24310-FB9C-294F-5AAD-25B9AF79A1E9}"/>
              </a:ext>
            </a:extLst>
          </p:cNvPr>
          <p:cNvGraphicFramePr>
            <a:graphicFrameLocks noGrp="1"/>
          </p:cNvGraphicFramePr>
          <p:nvPr>
            <p:extLst>
              <p:ext uri="{D42A27DB-BD31-4B8C-83A1-F6EECF244321}">
                <p14:modId xmlns:p14="http://schemas.microsoft.com/office/powerpoint/2010/main" val="1785567457"/>
              </p:ext>
            </p:extLst>
          </p:nvPr>
        </p:nvGraphicFramePr>
        <p:xfrm>
          <a:off x="9009888" y="895668"/>
          <a:ext cx="1171956" cy="2225040"/>
        </p:xfrm>
        <a:graphic>
          <a:graphicData uri="http://schemas.openxmlformats.org/drawingml/2006/table">
            <a:tbl>
              <a:tblPr firstRow="1" bandRow="1">
                <a:tableStyleId>{21E4AEA4-8DFA-4A89-87EB-49C32662AFE0}</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B</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endParaRPr lang="en-US" dirty="0"/>
                    </a:p>
                  </a:txBody>
                  <a:tcPr/>
                </a:tc>
                <a:extLst>
                  <a:ext uri="{0D108BD9-81ED-4DB2-BD59-A6C34878D82A}">
                    <a16:rowId xmlns:a16="http://schemas.microsoft.com/office/drawing/2014/main" val="36536282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506412102"/>
                  </a:ext>
                </a:extLst>
              </a:tr>
              <a:tr h="370840">
                <a:tc>
                  <a:txBody>
                    <a:bodyPr/>
                    <a:lstStyle/>
                    <a:p>
                      <a:r>
                        <a:rPr lang="en-US" dirty="0"/>
                        <a:t>x </a:t>
                      </a:r>
                      <a:r>
                        <a:rPr lang="en-US" dirty="0">
                          <a:sym typeface="Wingdings" pitchFamily="2" charset="2"/>
                        </a:rPr>
                        <a:t> x - 20</a:t>
                      </a:r>
                      <a:r>
                        <a:rPr lang="en-US" dirty="0"/>
                        <a:t> </a:t>
                      </a:r>
                    </a:p>
                  </a:txBody>
                  <a:tcPr/>
                </a:tc>
                <a:extLst>
                  <a:ext uri="{0D108BD9-81ED-4DB2-BD59-A6C34878D82A}">
                    <a16:rowId xmlns:a16="http://schemas.microsoft.com/office/drawing/2014/main" val="1423099786"/>
                  </a:ext>
                </a:extLst>
              </a:tr>
              <a:tr h="370840">
                <a:tc>
                  <a:txBody>
                    <a:bodyPr/>
                    <a:lstStyle/>
                    <a:p>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733666767"/>
                  </a:ext>
                </a:extLst>
              </a:tr>
            </a:tbl>
          </a:graphicData>
        </a:graphic>
      </p:graphicFrame>
      <p:graphicFrame>
        <p:nvGraphicFramePr>
          <p:cNvPr id="9" name="Table 8">
            <a:extLst>
              <a:ext uri="{FF2B5EF4-FFF2-40B4-BE49-F238E27FC236}">
                <a16:creationId xmlns:a16="http://schemas.microsoft.com/office/drawing/2014/main" id="{BC04AC0C-8CA5-553C-1EDC-7423DEF39BB3}"/>
              </a:ext>
            </a:extLst>
          </p:cNvPr>
          <p:cNvGraphicFramePr>
            <a:graphicFrameLocks noGrp="1"/>
          </p:cNvGraphicFramePr>
          <p:nvPr>
            <p:extLst>
              <p:ext uri="{D42A27DB-BD31-4B8C-83A1-F6EECF244321}">
                <p14:modId xmlns:p14="http://schemas.microsoft.com/office/powerpoint/2010/main" val="3164952776"/>
              </p:ext>
            </p:extLst>
          </p:nvPr>
        </p:nvGraphicFramePr>
        <p:xfrm>
          <a:off x="10181844" y="895668"/>
          <a:ext cx="1171956" cy="2225040"/>
        </p:xfrm>
        <a:graphic>
          <a:graphicData uri="http://schemas.openxmlformats.org/drawingml/2006/table">
            <a:tbl>
              <a:tblPr firstRow="1" bandRow="1">
                <a:tableStyleId>{00A15C55-8517-42AA-B614-E9B94910E393}</a:tableStyleId>
              </a:tblPr>
              <a:tblGrid>
                <a:gridCol w="1171956">
                  <a:extLst>
                    <a:ext uri="{9D8B030D-6E8A-4147-A177-3AD203B41FA5}">
                      <a16:colId xmlns:a16="http://schemas.microsoft.com/office/drawing/2014/main" val="2207666710"/>
                    </a:ext>
                  </a:extLst>
                </a:gridCol>
              </a:tblGrid>
              <a:tr h="370840">
                <a:tc>
                  <a:txBody>
                    <a:bodyPr/>
                    <a:lstStyle/>
                    <a:p>
                      <a:r>
                        <a:rPr lang="en-US" dirty="0"/>
                        <a:t>Variable S</a:t>
                      </a:r>
                    </a:p>
                  </a:txBody>
                  <a:tcPr/>
                </a:tc>
                <a:extLst>
                  <a:ext uri="{0D108BD9-81ED-4DB2-BD59-A6C34878D82A}">
                    <a16:rowId xmlns:a16="http://schemas.microsoft.com/office/drawing/2014/main" val="606425296"/>
                  </a:ext>
                </a:extLst>
              </a:tr>
              <a:tr h="370840">
                <a:tc>
                  <a:txBody>
                    <a:bodyPr/>
                    <a:lstStyle/>
                    <a:p>
                      <a:r>
                        <a:rPr lang="en-US" dirty="0"/>
                        <a:t>20</a:t>
                      </a:r>
                    </a:p>
                  </a:txBody>
                  <a:tcPr/>
                </a:tc>
                <a:extLst>
                  <a:ext uri="{0D108BD9-81ED-4DB2-BD59-A6C34878D82A}">
                    <a16:rowId xmlns:a16="http://schemas.microsoft.com/office/drawing/2014/main" val="3791264992"/>
                  </a:ext>
                </a:extLst>
              </a:tr>
              <a:tr h="370840">
                <a:tc>
                  <a:txBody>
                    <a:bodyPr/>
                    <a:lstStyle/>
                    <a:p>
                      <a:r>
                        <a:rPr lang="en-US" dirty="0"/>
                        <a:t>20</a:t>
                      </a:r>
                    </a:p>
                  </a:txBody>
                  <a:tcPr/>
                </a:tc>
                <a:extLst>
                  <a:ext uri="{0D108BD9-81ED-4DB2-BD59-A6C34878D82A}">
                    <a16:rowId xmlns:a16="http://schemas.microsoft.com/office/drawing/2014/main" val="3653628292"/>
                  </a:ext>
                </a:extLst>
              </a:tr>
              <a:tr h="370840">
                <a:tc>
                  <a:txBody>
                    <a:bodyPr/>
                    <a:lstStyle/>
                    <a:p>
                      <a:r>
                        <a:rPr lang="en-US" dirty="0"/>
                        <a:t>20</a:t>
                      </a:r>
                    </a:p>
                  </a:txBody>
                  <a:tcPr/>
                </a:tc>
                <a:extLst>
                  <a:ext uri="{0D108BD9-81ED-4DB2-BD59-A6C34878D82A}">
                    <a16:rowId xmlns:a16="http://schemas.microsoft.com/office/drawing/2014/main" val="3506412102"/>
                  </a:ext>
                </a:extLst>
              </a:tr>
              <a:tr h="370840">
                <a:tc>
                  <a:txBody>
                    <a:bodyPr/>
                    <a:lstStyle/>
                    <a:p>
                      <a:r>
                        <a:rPr lang="en-US" dirty="0"/>
                        <a:t>70</a:t>
                      </a:r>
                    </a:p>
                  </a:txBody>
                  <a:tcPr/>
                </a:tc>
                <a:extLst>
                  <a:ext uri="{0D108BD9-81ED-4DB2-BD59-A6C34878D82A}">
                    <a16:rowId xmlns:a16="http://schemas.microsoft.com/office/drawing/2014/main" val="1423099786"/>
                  </a:ext>
                </a:extLst>
              </a:tr>
              <a:tr h="370840">
                <a:tc>
                  <a:txBody>
                    <a:bodyPr/>
                    <a:lstStyle/>
                    <a:p>
                      <a:r>
                        <a:rPr lang="en-US" dirty="0"/>
                        <a:t>0</a:t>
                      </a:r>
                    </a:p>
                  </a:txBody>
                  <a:tcPr/>
                </a:tc>
                <a:extLst>
                  <a:ext uri="{0D108BD9-81ED-4DB2-BD59-A6C34878D82A}">
                    <a16:rowId xmlns:a16="http://schemas.microsoft.com/office/drawing/2014/main" val="1733666767"/>
                  </a:ext>
                </a:extLst>
              </a:tr>
            </a:tbl>
          </a:graphicData>
        </a:graphic>
      </p:graphicFrame>
      <p:cxnSp>
        <p:nvCxnSpPr>
          <p:cNvPr id="11" name="Straight Arrow Connector 10">
            <a:extLst>
              <a:ext uri="{FF2B5EF4-FFF2-40B4-BE49-F238E27FC236}">
                <a16:creationId xmlns:a16="http://schemas.microsoft.com/office/drawing/2014/main" id="{BFD55836-CD5C-50BB-F178-B885086FBE32}"/>
              </a:ext>
            </a:extLst>
          </p:cNvPr>
          <p:cNvCxnSpPr/>
          <p:nvPr/>
        </p:nvCxnSpPr>
        <p:spPr>
          <a:xfrm>
            <a:off x="7793777" y="877471"/>
            <a:ext cx="0" cy="2225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D8E0334-2094-D24D-A1C1-1C5DF3DDCA0B}"/>
              </a:ext>
            </a:extLst>
          </p:cNvPr>
          <p:cNvSpPr txBox="1"/>
          <p:nvPr/>
        </p:nvSpPr>
        <p:spPr>
          <a:xfrm rot="16200000">
            <a:off x="6377737" y="1805325"/>
            <a:ext cx="2355004" cy="369332"/>
          </a:xfrm>
          <a:prstGeom prst="rect">
            <a:avLst/>
          </a:prstGeom>
          <a:noFill/>
        </p:spPr>
        <p:txBody>
          <a:bodyPr wrap="none" rtlCol="0">
            <a:spAutoFit/>
          </a:bodyPr>
          <a:lstStyle/>
          <a:p>
            <a:r>
              <a:rPr lang="en-US" dirty="0"/>
              <a:t>Time (in discrete steps)</a:t>
            </a:r>
          </a:p>
        </p:txBody>
      </p:sp>
      <p:sp>
        <p:nvSpPr>
          <p:cNvPr id="13" name="Content Placeholder 2">
            <a:extLst>
              <a:ext uri="{FF2B5EF4-FFF2-40B4-BE49-F238E27FC236}">
                <a16:creationId xmlns:a16="http://schemas.microsoft.com/office/drawing/2014/main" id="{91982713-2716-356A-650D-2FAA1F379FA2}"/>
              </a:ext>
            </a:extLst>
          </p:cNvPr>
          <p:cNvSpPr>
            <a:spLocks noGrp="1"/>
          </p:cNvSpPr>
          <p:nvPr>
            <p:ph idx="1"/>
          </p:nvPr>
        </p:nvSpPr>
        <p:spPr>
          <a:xfrm>
            <a:off x="832741" y="1426205"/>
            <a:ext cx="6480209" cy="5066670"/>
          </a:xfrm>
        </p:spPr>
        <p:txBody>
          <a:bodyPr>
            <a:normAutofit/>
          </a:bodyPr>
          <a:lstStyle/>
          <a:p>
            <a:r>
              <a:rPr lang="en-US" dirty="0"/>
              <a:t>In this execution, S takes values 20, 70 and then 0</a:t>
            </a:r>
          </a:p>
          <a:p>
            <a:endParaRPr lang="en-US" dirty="0"/>
          </a:p>
          <a:p>
            <a:endParaRPr lang="en-US" dirty="0"/>
          </a:p>
          <a:p>
            <a:endParaRPr lang="en-US" dirty="0"/>
          </a:p>
          <a:p>
            <a:endParaRPr lang="en-US" dirty="0"/>
          </a:p>
          <a:p>
            <a:endParaRPr lang="en-US" dirty="0"/>
          </a:p>
          <a:p>
            <a:r>
              <a:rPr lang="en-US" dirty="0"/>
              <a:t>What are the possible </a:t>
            </a:r>
            <a:r>
              <a:rPr lang="en-US" u="sng" dirty="0"/>
              <a:t>final </a:t>
            </a:r>
            <a:r>
              <a:rPr lang="en-US" dirty="0"/>
              <a:t>values of S in this case?</a:t>
            </a:r>
          </a:p>
        </p:txBody>
      </p:sp>
      <p:sp>
        <p:nvSpPr>
          <p:cNvPr id="3" name="Slide Number Placeholder 2">
            <a:extLst>
              <a:ext uri="{FF2B5EF4-FFF2-40B4-BE49-F238E27FC236}">
                <a16:creationId xmlns:a16="http://schemas.microsoft.com/office/drawing/2014/main" id="{0638137C-843F-1E99-D2E4-FD4DEFC1641D}"/>
              </a:ext>
            </a:extLst>
          </p:cNvPr>
          <p:cNvSpPr>
            <a:spLocks noGrp="1"/>
          </p:cNvSpPr>
          <p:nvPr>
            <p:ph type="sldNum" sz="quarter" idx="12"/>
          </p:nvPr>
        </p:nvSpPr>
        <p:spPr/>
        <p:txBody>
          <a:bodyPr/>
          <a:lstStyle/>
          <a:p>
            <a:fld id="{67FCC1A6-2294-BF46-A2F7-E6BDB92DF1BF}" type="slidenum">
              <a:rPr lang="en-US" smtClean="0"/>
              <a:t>7</a:t>
            </a:fld>
            <a:endParaRPr lang="en-US"/>
          </a:p>
        </p:txBody>
      </p:sp>
      <p:graphicFrame>
        <p:nvGraphicFramePr>
          <p:cNvPr id="5" name="Table 7">
            <a:extLst>
              <a:ext uri="{FF2B5EF4-FFF2-40B4-BE49-F238E27FC236}">
                <a16:creationId xmlns:a16="http://schemas.microsoft.com/office/drawing/2014/main" id="{D9023E6C-84D1-88FB-DBF0-9C3AE91508F8}"/>
              </a:ext>
            </a:extLst>
          </p:cNvPr>
          <p:cNvGraphicFramePr>
            <a:graphicFrameLocks noGrp="1"/>
          </p:cNvGraphicFramePr>
          <p:nvPr>
            <p:extLst>
              <p:ext uri="{D42A27DB-BD31-4B8C-83A1-F6EECF244321}">
                <p14:modId xmlns:p14="http://schemas.microsoft.com/office/powerpoint/2010/main" val="2766815591"/>
              </p:ext>
            </p:extLst>
          </p:nvPr>
        </p:nvGraphicFramePr>
        <p:xfrm>
          <a:off x="7780310" y="4221050"/>
          <a:ext cx="1171956" cy="2225040"/>
        </p:xfrm>
        <a:graphic>
          <a:graphicData uri="http://schemas.openxmlformats.org/drawingml/2006/table">
            <a:tbl>
              <a:tblPr firstRow="1" bandRow="1">
                <a:tableStyleId>{5C22544A-7EE6-4342-B048-85BDC9FD1C3A}</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A</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653628292"/>
                  </a:ext>
                </a:extLst>
              </a:tr>
              <a:tr h="370840">
                <a:tc>
                  <a:txBody>
                    <a:bodyPr/>
                    <a:lstStyle/>
                    <a:p>
                      <a:r>
                        <a:rPr lang="en-US" dirty="0"/>
                        <a:t>x </a:t>
                      </a:r>
                      <a:r>
                        <a:rPr lang="en-US" dirty="0">
                          <a:sym typeface="Wingdings" pitchFamily="2" charset="2"/>
                        </a:rPr>
                        <a:t> x + 50</a:t>
                      </a:r>
                      <a:r>
                        <a:rPr lang="en-US" dirty="0"/>
                        <a:t> </a:t>
                      </a:r>
                    </a:p>
                  </a:txBody>
                  <a:tcPr/>
                </a:tc>
                <a:extLst>
                  <a:ext uri="{0D108BD9-81ED-4DB2-BD59-A6C34878D82A}">
                    <a16:rowId xmlns:a16="http://schemas.microsoft.com/office/drawing/2014/main" val="3506412102"/>
                  </a:ext>
                </a:extLst>
              </a:tr>
              <a:tr h="370840">
                <a:tc>
                  <a:txBody>
                    <a:bodyPr/>
                    <a:lstStyle/>
                    <a:p>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423099786"/>
                  </a:ext>
                </a:extLst>
              </a:tr>
              <a:tr h="370840">
                <a:tc>
                  <a:txBody>
                    <a:bodyPr/>
                    <a:lstStyle/>
                    <a:p>
                      <a:endParaRPr lang="en-US" dirty="0"/>
                    </a:p>
                  </a:txBody>
                  <a:tcPr/>
                </a:tc>
                <a:extLst>
                  <a:ext uri="{0D108BD9-81ED-4DB2-BD59-A6C34878D82A}">
                    <a16:rowId xmlns:a16="http://schemas.microsoft.com/office/drawing/2014/main" val="1733666767"/>
                  </a:ext>
                </a:extLst>
              </a:tr>
            </a:tbl>
          </a:graphicData>
        </a:graphic>
      </p:graphicFrame>
      <p:graphicFrame>
        <p:nvGraphicFramePr>
          <p:cNvPr id="6" name="Table 5">
            <a:extLst>
              <a:ext uri="{FF2B5EF4-FFF2-40B4-BE49-F238E27FC236}">
                <a16:creationId xmlns:a16="http://schemas.microsoft.com/office/drawing/2014/main" id="{109A553A-DABD-293B-40D4-287699327CC7}"/>
              </a:ext>
            </a:extLst>
          </p:cNvPr>
          <p:cNvGraphicFramePr>
            <a:graphicFrameLocks noGrp="1"/>
          </p:cNvGraphicFramePr>
          <p:nvPr>
            <p:extLst>
              <p:ext uri="{D42A27DB-BD31-4B8C-83A1-F6EECF244321}">
                <p14:modId xmlns:p14="http://schemas.microsoft.com/office/powerpoint/2010/main" val="4158943693"/>
              </p:ext>
            </p:extLst>
          </p:nvPr>
        </p:nvGraphicFramePr>
        <p:xfrm>
          <a:off x="8952266" y="4221050"/>
          <a:ext cx="1171956" cy="2225040"/>
        </p:xfrm>
        <a:graphic>
          <a:graphicData uri="http://schemas.openxmlformats.org/drawingml/2006/table">
            <a:tbl>
              <a:tblPr firstRow="1" bandRow="1">
                <a:tableStyleId>{21E4AEA4-8DFA-4A89-87EB-49C32662AFE0}</a:tableStyleId>
              </a:tblPr>
              <a:tblGrid>
                <a:gridCol w="1171956">
                  <a:extLst>
                    <a:ext uri="{9D8B030D-6E8A-4147-A177-3AD203B41FA5}">
                      <a16:colId xmlns:a16="http://schemas.microsoft.com/office/drawing/2014/main" val="2207666710"/>
                    </a:ext>
                  </a:extLst>
                </a:gridCol>
              </a:tblGrid>
              <a:tr h="370840">
                <a:tc>
                  <a:txBody>
                    <a:bodyPr/>
                    <a:lstStyle/>
                    <a:p>
                      <a:r>
                        <a:rPr lang="en-US" dirty="0"/>
                        <a:t>Thread B</a:t>
                      </a:r>
                    </a:p>
                  </a:txBody>
                  <a:tcPr/>
                </a:tc>
                <a:extLst>
                  <a:ext uri="{0D108BD9-81ED-4DB2-BD59-A6C34878D82A}">
                    <a16:rowId xmlns:a16="http://schemas.microsoft.com/office/drawing/2014/main" val="606425296"/>
                  </a:ext>
                </a:extLst>
              </a:tr>
              <a:tr h="370840">
                <a:tc>
                  <a:txBody>
                    <a:bodyPr/>
                    <a:lstStyle/>
                    <a:p>
                      <a:endParaRPr lang="en-US" dirty="0"/>
                    </a:p>
                  </a:txBody>
                  <a:tcPr/>
                </a:tc>
                <a:extLst>
                  <a:ext uri="{0D108BD9-81ED-4DB2-BD59-A6C34878D82A}">
                    <a16:rowId xmlns:a16="http://schemas.microsoft.com/office/drawing/2014/main" val="3791264992"/>
                  </a:ext>
                </a:extLst>
              </a:tr>
              <a:tr h="370840">
                <a:tc>
                  <a:txBody>
                    <a:bodyPr/>
                    <a:lstStyle/>
                    <a:p>
                      <a:r>
                        <a:rPr lang="en-US" dirty="0"/>
                        <a:t>x </a:t>
                      </a:r>
                      <a:r>
                        <a:rPr lang="en-US" dirty="0">
                          <a:sym typeface="Wingdings" pitchFamily="2" charset="2"/>
                        </a:rPr>
                        <a:t> S</a:t>
                      </a:r>
                      <a:endParaRPr lang="en-US" dirty="0"/>
                    </a:p>
                  </a:txBody>
                  <a:tcPr/>
                </a:tc>
                <a:extLst>
                  <a:ext uri="{0D108BD9-81ED-4DB2-BD59-A6C34878D82A}">
                    <a16:rowId xmlns:a16="http://schemas.microsoft.com/office/drawing/2014/main" val="36536282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 </a:t>
                      </a:r>
                      <a:r>
                        <a:rPr lang="en-US" dirty="0">
                          <a:sym typeface="Wingdings" pitchFamily="2" charset="2"/>
                        </a:rPr>
                        <a:t> x - 20</a:t>
                      </a:r>
                      <a:r>
                        <a:rPr lang="en-US" dirty="0"/>
                        <a:t> </a:t>
                      </a:r>
                    </a:p>
                  </a:txBody>
                  <a:tcPr/>
                </a:tc>
                <a:extLst>
                  <a:ext uri="{0D108BD9-81ED-4DB2-BD59-A6C34878D82A}">
                    <a16:rowId xmlns:a16="http://schemas.microsoft.com/office/drawing/2014/main" val="35064121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 </a:t>
                      </a:r>
                      <a:r>
                        <a:rPr lang="en-US" dirty="0">
                          <a:sym typeface="Wingdings" pitchFamily="2" charset="2"/>
                        </a:rPr>
                        <a:t> x</a:t>
                      </a:r>
                      <a:endParaRPr lang="en-US" dirty="0"/>
                    </a:p>
                  </a:txBody>
                  <a:tcPr/>
                </a:tc>
                <a:extLst>
                  <a:ext uri="{0D108BD9-81ED-4DB2-BD59-A6C34878D82A}">
                    <a16:rowId xmlns:a16="http://schemas.microsoft.com/office/drawing/2014/main" val="1423099786"/>
                  </a:ext>
                </a:extLst>
              </a:tr>
              <a:tr h="370840">
                <a:tc>
                  <a:txBody>
                    <a:bodyPr/>
                    <a:lstStyle/>
                    <a:p>
                      <a:endParaRPr lang="en-US" dirty="0"/>
                    </a:p>
                  </a:txBody>
                  <a:tcPr/>
                </a:tc>
                <a:extLst>
                  <a:ext uri="{0D108BD9-81ED-4DB2-BD59-A6C34878D82A}">
                    <a16:rowId xmlns:a16="http://schemas.microsoft.com/office/drawing/2014/main" val="1733666767"/>
                  </a:ext>
                </a:extLst>
              </a:tr>
            </a:tbl>
          </a:graphicData>
        </a:graphic>
      </p:graphicFrame>
      <p:graphicFrame>
        <p:nvGraphicFramePr>
          <p:cNvPr id="10" name="Table 9">
            <a:extLst>
              <a:ext uri="{FF2B5EF4-FFF2-40B4-BE49-F238E27FC236}">
                <a16:creationId xmlns:a16="http://schemas.microsoft.com/office/drawing/2014/main" id="{6FAD8DC7-26C0-95D4-BBA2-C1F4DCDF49EF}"/>
              </a:ext>
            </a:extLst>
          </p:cNvPr>
          <p:cNvGraphicFramePr>
            <a:graphicFrameLocks noGrp="1"/>
          </p:cNvGraphicFramePr>
          <p:nvPr>
            <p:extLst>
              <p:ext uri="{D42A27DB-BD31-4B8C-83A1-F6EECF244321}">
                <p14:modId xmlns:p14="http://schemas.microsoft.com/office/powerpoint/2010/main" val="3571069463"/>
              </p:ext>
            </p:extLst>
          </p:nvPr>
        </p:nvGraphicFramePr>
        <p:xfrm>
          <a:off x="10124222" y="4221050"/>
          <a:ext cx="1171956" cy="2225040"/>
        </p:xfrm>
        <a:graphic>
          <a:graphicData uri="http://schemas.openxmlformats.org/drawingml/2006/table">
            <a:tbl>
              <a:tblPr firstRow="1" bandRow="1">
                <a:tableStyleId>{00A15C55-8517-42AA-B614-E9B94910E393}</a:tableStyleId>
              </a:tblPr>
              <a:tblGrid>
                <a:gridCol w="1171956">
                  <a:extLst>
                    <a:ext uri="{9D8B030D-6E8A-4147-A177-3AD203B41FA5}">
                      <a16:colId xmlns:a16="http://schemas.microsoft.com/office/drawing/2014/main" val="2207666710"/>
                    </a:ext>
                  </a:extLst>
                </a:gridCol>
              </a:tblGrid>
              <a:tr h="370840">
                <a:tc>
                  <a:txBody>
                    <a:bodyPr/>
                    <a:lstStyle/>
                    <a:p>
                      <a:r>
                        <a:rPr lang="en-US" dirty="0"/>
                        <a:t>Variable S</a:t>
                      </a:r>
                    </a:p>
                  </a:txBody>
                  <a:tcPr/>
                </a:tc>
                <a:extLst>
                  <a:ext uri="{0D108BD9-81ED-4DB2-BD59-A6C34878D82A}">
                    <a16:rowId xmlns:a16="http://schemas.microsoft.com/office/drawing/2014/main" val="606425296"/>
                  </a:ext>
                </a:extLst>
              </a:tr>
              <a:tr h="370840">
                <a:tc>
                  <a:txBody>
                    <a:bodyPr/>
                    <a:lstStyle/>
                    <a:p>
                      <a:r>
                        <a:rPr lang="en-US" dirty="0"/>
                        <a:t>20</a:t>
                      </a:r>
                    </a:p>
                  </a:txBody>
                  <a:tcPr/>
                </a:tc>
                <a:extLst>
                  <a:ext uri="{0D108BD9-81ED-4DB2-BD59-A6C34878D82A}">
                    <a16:rowId xmlns:a16="http://schemas.microsoft.com/office/drawing/2014/main" val="3791264992"/>
                  </a:ext>
                </a:extLst>
              </a:tr>
              <a:tr h="370840">
                <a:tc>
                  <a:txBody>
                    <a:bodyPr/>
                    <a:lstStyle/>
                    <a:p>
                      <a:r>
                        <a:rPr lang="en-US" dirty="0"/>
                        <a:t>…</a:t>
                      </a:r>
                    </a:p>
                  </a:txBody>
                  <a:tcPr/>
                </a:tc>
                <a:extLst>
                  <a:ext uri="{0D108BD9-81ED-4DB2-BD59-A6C34878D82A}">
                    <a16:rowId xmlns:a16="http://schemas.microsoft.com/office/drawing/2014/main" val="3653628292"/>
                  </a:ext>
                </a:extLst>
              </a:tr>
              <a:tr h="370840">
                <a:tc>
                  <a:txBody>
                    <a:bodyPr/>
                    <a:lstStyle/>
                    <a:p>
                      <a:r>
                        <a:rPr lang="en-US" dirty="0"/>
                        <a:t>…</a:t>
                      </a:r>
                    </a:p>
                  </a:txBody>
                  <a:tcPr/>
                </a:tc>
                <a:extLst>
                  <a:ext uri="{0D108BD9-81ED-4DB2-BD59-A6C34878D82A}">
                    <a16:rowId xmlns:a16="http://schemas.microsoft.com/office/drawing/2014/main" val="3506412102"/>
                  </a:ext>
                </a:extLst>
              </a:tr>
              <a:tr h="370840">
                <a:tc>
                  <a:txBody>
                    <a:bodyPr/>
                    <a:lstStyle/>
                    <a:p>
                      <a:r>
                        <a:rPr lang="en-US" dirty="0"/>
                        <a:t>…</a:t>
                      </a:r>
                    </a:p>
                  </a:txBody>
                  <a:tcPr/>
                </a:tc>
                <a:extLst>
                  <a:ext uri="{0D108BD9-81ED-4DB2-BD59-A6C34878D82A}">
                    <a16:rowId xmlns:a16="http://schemas.microsoft.com/office/drawing/2014/main" val="1423099786"/>
                  </a:ext>
                </a:extLst>
              </a:tr>
              <a:tr h="370840">
                <a:tc>
                  <a:txBody>
                    <a:bodyPr/>
                    <a:lstStyle/>
                    <a:p>
                      <a:r>
                        <a:rPr lang="en-US" dirty="0"/>
                        <a:t>?</a:t>
                      </a:r>
                    </a:p>
                  </a:txBody>
                  <a:tcPr/>
                </a:tc>
                <a:extLst>
                  <a:ext uri="{0D108BD9-81ED-4DB2-BD59-A6C34878D82A}">
                    <a16:rowId xmlns:a16="http://schemas.microsoft.com/office/drawing/2014/main" val="1733666767"/>
                  </a:ext>
                </a:extLst>
              </a:tr>
            </a:tbl>
          </a:graphicData>
        </a:graphic>
      </p:graphicFrame>
      <p:cxnSp>
        <p:nvCxnSpPr>
          <p:cNvPr id="14" name="Straight Arrow Connector 13">
            <a:extLst>
              <a:ext uri="{FF2B5EF4-FFF2-40B4-BE49-F238E27FC236}">
                <a16:creationId xmlns:a16="http://schemas.microsoft.com/office/drawing/2014/main" id="{D256CFAB-8F6D-41E7-26E0-F51EC3DF0EA6}"/>
              </a:ext>
            </a:extLst>
          </p:cNvPr>
          <p:cNvCxnSpPr/>
          <p:nvPr/>
        </p:nvCxnSpPr>
        <p:spPr>
          <a:xfrm>
            <a:off x="7736155" y="4202853"/>
            <a:ext cx="0" cy="2225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7F2CAD5-4D40-8A34-F3BA-5F332E184195}"/>
              </a:ext>
            </a:extLst>
          </p:cNvPr>
          <p:cNvSpPr txBox="1"/>
          <p:nvPr/>
        </p:nvSpPr>
        <p:spPr>
          <a:xfrm rot="16200000">
            <a:off x="6320115" y="5130707"/>
            <a:ext cx="2355004" cy="369332"/>
          </a:xfrm>
          <a:prstGeom prst="rect">
            <a:avLst/>
          </a:prstGeom>
          <a:noFill/>
        </p:spPr>
        <p:txBody>
          <a:bodyPr wrap="none" rtlCol="0">
            <a:spAutoFit/>
          </a:bodyPr>
          <a:lstStyle/>
          <a:p>
            <a:r>
              <a:rPr lang="en-US" dirty="0"/>
              <a:t>Time (in discrete steps)</a:t>
            </a:r>
          </a:p>
        </p:txBody>
      </p:sp>
      <p:sp>
        <p:nvSpPr>
          <p:cNvPr id="4" name="Date Placeholder 3">
            <a:extLst>
              <a:ext uri="{FF2B5EF4-FFF2-40B4-BE49-F238E27FC236}">
                <a16:creationId xmlns:a16="http://schemas.microsoft.com/office/drawing/2014/main" id="{9A849DE9-C85F-1FC8-CFD3-9BD7ED47120D}"/>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187201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t>The critical-section problem</a:t>
            </a:r>
          </a:p>
          <a:p>
            <a:pPr lvl="1"/>
            <a:r>
              <a:rPr lang="en-US" dirty="0"/>
              <a:t>Check-competition approach</a:t>
            </a:r>
          </a:p>
          <a:p>
            <a:r>
              <a:rPr lang="en-US" dirty="0">
                <a:solidFill>
                  <a:schemeClr val="bg1">
                    <a:lumMod val="50000"/>
                  </a:schemeClr>
                </a:solidFill>
              </a:rPr>
              <a:t>The check-order / after-you approach</a:t>
            </a:r>
          </a:p>
          <a:p>
            <a:r>
              <a:rPr lang="en-US" dirty="0">
                <a:solidFill>
                  <a:schemeClr val="bg1">
                    <a:lumMod val="50000"/>
                  </a:schemeClr>
                </a:solidFill>
              </a:rPr>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solidFill>
                  <a:schemeClr val="bg1">
                    <a:lumMod val="50000"/>
                  </a:schemeClr>
                </a:solidFill>
              </a:rPr>
              <a:t>Semaphores</a:t>
            </a: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9C3D18E-322A-9159-880C-09D95910EAAF}"/>
              </a:ext>
            </a:extLst>
          </p:cNvPr>
          <p:cNvSpPr>
            <a:spLocks noGrp="1"/>
          </p:cNvSpPr>
          <p:nvPr>
            <p:ph type="sldNum" sz="quarter" idx="12"/>
          </p:nvPr>
        </p:nvSpPr>
        <p:spPr/>
        <p:txBody>
          <a:bodyPr/>
          <a:lstStyle/>
          <a:p>
            <a:fld id="{67FCC1A6-2294-BF46-A2F7-E6BDB92DF1BF}" type="slidenum">
              <a:rPr lang="en-US" smtClean="0"/>
              <a:t>8</a:t>
            </a:fld>
            <a:endParaRPr lang="en-US"/>
          </a:p>
        </p:txBody>
      </p:sp>
      <p:sp>
        <p:nvSpPr>
          <p:cNvPr id="5" name="Date Placeholder 4">
            <a:extLst>
              <a:ext uri="{FF2B5EF4-FFF2-40B4-BE49-F238E27FC236}">
                <a16:creationId xmlns:a16="http://schemas.microsoft.com/office/drawing/2014/main" id="{83F0F789-2BC9-D73B-D703-CEF455FBD7C3}"/>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83473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txBox="1">
            <a:spLocks noChangeArrowheads="1"/>
          </p:cNvSpPr>
          <p:nvPr/>
        </p:nvSpPr>
        <p:spPr bwMode="auto">
          <a:xfrm>
            <a:off x="865910" y="720437"/>
            <a:ext cx="3305944" cy="243147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solidFill>
                  <a:prstClr val="black"/>
                </a:solidFill>
              </a:rPr>
              <a:t>Structure of process/thread</a:t>
            </a:r>
            <a:r>
              <a:rPr lang="en-US" sz="2000" i="1" dirty="0">
                <a:solidFill>
                  <a:prstClr val="black"/>
                </a:solidFill>
              </a:rPr>
              <a:t> P</a:t>
            </a:r>
            <a:endParaRPr lang="en-US" sz="2000" i="1" baseline="-25000" dirty="0">
              <a:solidFill>
                <a:prstClr val="black"/>
              </a:solidFill>
            </a:endParaRPr>
          </a:p>
          <a:p>
            <a:pPr>
              <a:lnSpc>
                <a:spcPct val="90000"/>
              </a:lnSpc>
              <a:buFontTx/>
              <a:buNone/>
            </a:pPr>
            <a:r>
              <a:rPr lang="en-US" sz="2000" b="1" dirty="0">
                <a:solidFill>
                  <a:prstClr val="black"/>
                </a:solidFill>
              </a:rPr>
              <a:t>Repeat</a:t>
            </a:r>
            <a:r>
              <a:rPr lang="en-US" sz="2000" dirty="0">
                <a:solidFill>
                  <a:prstClr val="black"/>
                </a:solidFill>
              </a:rPr>
              <a:t> </a:t>
            </a:r>
          </a:p>
          <a:p>
            <a:pPr>
              <a:lnSpc>
                <a:spcPct val="90000"/>
              </a:lnSpc>
              <a:buFontTx/>
              <a:buNone/>
            </a:pPr>
            <a:r>
              <a:rPr lang="en-US" sz="2000" dirty="0">
                <a:solidFill>
                  <a:prstClr val="black"/>
                </a:solidFill>
              </a:rPr>
              <a:t>	</a:t>
            </a:r>
            <a:r>
              <a:rPr lang="en-US" sz="2000" i="1" dirty="0">
                <a:solidFill>
                  <a:srgbClr val="C00000"/>
                </a:solidFill>
              </a:rPr>
              <a:t>entry section</a:t>
            </a:r>
          </a:p>
          <a:p>
            <a:pPr>
              <a:lnSpc>
                <a:spcPct val="90000"/>
              </a:lnSpc>
              <a:buFontTx/>
              <a:buNone/>
            </a:pPr>
            <a:r>
              <a:rPr lang="en-US" sz="2000" dirty="0">
                <a:solidFill>
                  <a:prstClr val="black"/>
                </a:solidFill>
              </a:rPr>
              <a:t>	critical section</a:t>
            </a:r>
          </a:p>
          <a:p>
            <a:pPr>
              <a:lnSpc>
                <a:spcPct val="90000"/>
              </a:lnSpc>
              <a:buFontTx/>
              <a:buNone/>
            </a:pPr>
            <a:r>
              <a:rPr lang="en-US" sz="2000" dirty="0">
                <a:solidFill>
                  <a:prstClr val="black"/>
                </a:solidFill>
              </a:rPr>
              <a:t>	</a:t>
            </a:r>
            <a:r>
              <a:rPr lang="en-US" sz="2000" i="1" dirty="0">
                <a:solidFill>
                  <a:srgbClr val="C00000"/>
                </a:solidFill>
              </a:rPr>
              <a:t>exit section</a:t>
            </a:r>
            <a:endParaRPr lang="en-US" sz="2000" dirty="0">
              <a:solidFill>
                <a:srgbClr val="C00000"/>
              </a:solidFill>
            </a:endParaRPr>
          </a:p>
          <a:p>
            <a:pPr>
              <a:lnSpc>
                <a:spcPct val="90000"/>
              </a:lnSpc>
              <a:buFontTx/>
              <a:buNone/>
            </a:pPr>
            <a:r>
              <a:rPr lang="en-US" sz="2000" dirty="0">
                <a:solidFill>
                  <a:prstClr val="black"/>
                </a:solidFill>
              </a:rPr>
              <a:t>	remainder section</a:t>
            </a:r>
          </a:p>
          <a:p>
            <a:pPr>
              <a:lnSpc>
                <a:spcPct val="90000"/>
              </a:lnSpc>
              <a:buFontTx/>
              <a:buNone/>
            </a:pPr>
            <a:r>
              <a:rPr lang="en-US" sz="2000" b="1" dirty="0">
                <a:solidFill>
                  <a:prstClr val="black"/>
                </a:solidFill>
              </a:rPr>
              <a:t>Forever</a:t>
            </a:r>
            <a:endParaRPr lang="en-US" sz="2000" dirty="0">
              <a:solidFill>
                <a:prstClr val="black"/>
              </a:solidFill>
            </a:endParaRPr>
          </a:p>
          <a:p>
            <a:pPr lvl="4">
              <a:lnSpc>
                <a:spcPct val="90000"/>
              </a:lnSpc>
              <a:buFontTx/>
              <a:buNone/>
            </a:pPr>
            <a:endParaRPr lang="en-US" sz="2400" dirty="0">
              <a:solidFill>
                <a:prstClr val="black"/>
              </a:solidFill>
            </a:endParaRPr>
          </a:p>
        </p:txBody>
      </p:sp>
      <p:sp>
        <p:nvSpPr>
          <p:cNvPr id="12290" name="Slide Number Placeholder 5"/>
          <p:cNvSpPr>
            <a:spLocks noGrp="1"/>
          </p:cNvSpPr>
          <p:nvPr>
            <p:ph type="sldNum" sz="quarter" idx="12"/>
          </p:nvPr>
        </p:nvSpPr>
        <p:spPr>
          <a:noFill/>
        </p:spPr>
        <p:txBody>
          <a:bodyPr/>
          <a:lstStyle/>
          <a:p>
            <a:fld id="{35B4AAA7-0331-4ACB-A4B3-799E00D12AD0}" type="slidenum">
              <a:rPr lang="en-US" smtClean="0">
                <a:solidFill>
                  <a:prstClr val="black">
                    <a:tint val="75000"/>
                  </a:prstClr>
                </a:solidFill>
              </a:rPr>
              <a:pPr/>
              <a:t>9</a:t>
            </a:fld>
            <a:endParaRPr lang="en-US">
              <a:solidFill>
                <a:prstClr val="black">
                  <a:tint val="75000"/>
                </a:prstClr>
              </a:solidFill>
            </a:endParaRPr>
          </a:p>
        </p:txBody>
      </p:sp>
      <p:sp>
        <p:nvSpPr>
          <p:cNvPr id="12291" name="Rectangle 3"/>
          <p:cNvSpPr>
            <a:spLocks noGrp="1" noChangeArrowheads="1"/>
          </p:cNvSpPr>
          <p:nvPr>
            <p:ph type="title"/>
          </p:nvPr>
        </p:nvSpPr>
        <p:spPr>
          <a:xfrm>
            <a:off x="1992314" y="260350"/>
            <a:ext cx="7966075" cy="504354"/>
          </a:xfrm>
        </p:spPr>
        <p:txBody>
          <a:bodyPr/>
          <a:lstStyle/>
          <a:p>
            <a:r>
              <a:rPr lang="en-US" sz="2800" dirty="0"/>
              <a:t>The Critical-Section (aka Critical Region) Problem</a:t>
            </a:r>
            <a:endParaRPr lang="en-US" dirty="0"/>
          </a:p>
        </p:txBody>
      </p:sp>
      <p:sp>
        <p:nvSpPr>
          <p:cNvPr id="12292" name="Rectangle 4"/>
          <p:cNvSpPr>
            <a:spLocks noGrp="1" noChangeArrowheads="1"/>
          </p:cNvSpPr>
          <p:nvPr>
            <p:ph type="body" idx="1"/>
          </p:nvPr>
        </p:nvSpPr>
        <p:spPr>
          <a:xfrm>
            <a:off x="4665075" y="720437"/>
            <a:ext cx="6292592" cy="2431473"/>
          </a:xfr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normAutofit/>
          </a:bodyPr>
          <a:lstStyle/>
          <a:p>
            <a:pPr marL="0" indent="0" eaLnBrk="0" fontAlgn="base" hangingPunct="0">
              <a:spcBef>
                <a:spcPct val="20000"/>
              </a:spcBef>
              <a:spcAft>
                <a:spcPct val="0"/>
              </a:spcAft>
              <a:buNone/>
            </a:pPr>
            <a:r>
              <a:rPr lang="en-US" sz="2000" dirty="0">
                <a:solidFill>
                  <a:prstClr val="black"/>
                </a:solidFill>
              </a:rPr>
              <a:t>n processes/threads competing </a:t>
            </a:r>
          </a:p>
          <a:p>
            <a:pPr marL="0" indent="0" eaLnBrk="0" fontAlgn="base" hangingPunct="0">
              <a:spcBef>
                <a:spcPct val="20000"/>
              </a:spcBef>
              <a:spcAft>
                <a:spcPct val="0"/>
              </a:spcAft>
              <a:buNone/>
            </a:pPr>
            <a:r>
              <a:rPr lang="en-US" sz="2000" dirty="0">
                <a:solidFill>
                  <a:prstClr val="black"/>
                </a:solidFill>
              </a:rPr>
              <a:t>Assumptions: </a:t>
            </a:r>
          </a:p>
          <a:p>
            <a:pPr marL="742950" lvl="1" indent="-285750" eaLnBrk="0" fontAlgn="base" hangingPunct="0">
              <a:spcBef>
                <a:spcPct val="20000"/>
              </a:spcBef>
              <a:spcAft>
                <a:spcPct val="0"/>
              </a:spcAft>
              <a:buFont typeface="Arial" charset="0"/>
              <a:buChar char="–"/>
            </a:pPr>
            <a:r>
              <a:rPr lang="en-US" dirty="0">
                <a:solidFill>
                  <a:schemeClr val="tx1"/>
                </a:solidFill>
              </a:rPr>
              <a:t>atomic read/write</a:t>
            </a:r>
          </a:p>
          <a:p>
            <a:pPr marL="742950" lvl="1" indent="-285750" eaLnBrk="0" fontAlgn="base" hangingPunct="0">
              <a:spcBef>
                <a:spcPct val="20000"/>
              </a:spcBef>
              <a:spcAft>
                <a:spcPct val="0"/>
              </a:spcAft>
              <a:buFont typeface="Arial" charset="0"/>
              <a:buChar char="–"/>
            </a:pPr>
            <a:r>
              <a:rPr lang="en-US" dirty="0">
                <a:solidFill>
                  <a:schemeClr val="tx1"/>
                </a:solidFill>
              </a:rPr>
              <a:t>no process failures</a:t>
            </a:r>
          </a:p>
          <a:p>
            <a:pPr marL="742950" lvl="1" indent="-285750" eaLnBrk="0" fontAlgn="base" hangingPunct="0">
              <a:spcBef>
                <a:spcPct val="20000"/>
              </a:spcBef>
              <a:spcAft>
                <a:spcPct val="0"/>
              </a:spcAft>
              <a:buFont typeface="Arial" charset="0"/>
              <a:buChar char="–"/>
            </a:pPr>
            <a:r>
              <a:rPr lang="en-US" dirty="0">
                <a:solidFill>
                  <a:schemeClr val="tx1"/>
                </a:solidFill>
              </a:rPr>
              <a:t>n=2 in the initial examples</a:t>
            </a:r>
          </a:p>
          <a:p>
            <a:pPr marL="0" indent="0" eaLnBrk="0" fontAlgn="base" hangingPunct="0">
              <a:spcBef>
                <a:spcPct val="20000"/>
              </a:spcBef>
              <a:spcAft>
                <a:spcPct val="0"/>
              </a:spcAft>
              <a:buNone/>
            </a:pPr>
            <a:r>
              <a:rPr lang="en-US" sz="2000" dirty="0">
                <a:solidFill>
                  <a:prstClr val="black"/>
                </a:solidFill>
              </a:rPr>
              <a:t>Notice: duration of the [remainder section] is unbounded</a:t>
            </a:r>
          </a:p>
        </p:txBody>
      </p:sp>
      <p:sp>
        <p:nvSpPr>
          <p:cNvPr id="8" name="Rectangle 4"/>
          <p:cNvSpPr txBox="1">
            <a:spLocks noChangeArrowheads="1"/>
          </p:cNvSpPr>
          <p:nvPr/>
        </p:nvSpPr>
        <p:spPr bwMode="auto">
          <a:xfrm>
            <a:off x="550321" y="3250634"/>
            <a:ext cx="10689517" cy="2308594"/>
          </a:xfrm>
          <a:prstGeom prst="rect">
            <a:avLst/>
          </a:prstGeom>
          <a:noFill/>
          <a:ln w="38100">
            <a:solidFill>
              <a:srgbClr val="FF0000"/>
            </a:solidFill>
            <a:headEnd/>
            <a:tailEnd/>
          </a:ln>
          <a:effectLst/>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800" b="1" dirty="0">
                <a:solidFill>
                  <a:prstClr val="black"/>
                </a:solidFill>
              </a:rPr>
              <a:t>Problem</a:t>
            </a:r>
            <a:r>
              <a:rPr lang="en-US" sz="1800" dirty="0">
                <a:solidFill>
                  <a:prstClr val="black"/>
                </a:solidFill>
              </a:rPr>
              <a:t> </a:t>
            </a:r>
            <a:r>
              <a:rPr lang="en-US" sz="1800" b="1" dirty="0">
                <a:solidFill>
                  <a:prstClr val="black"/>
                </a:solidFill>
              </a:rPr>
              <a:t>formulation</a:t>
            </a:r>
            <a:r>
              <a:rPr lang="en-US" sz="1800" dirty="0">
                <a:solidFill>
                  <a:prstClr val="black"/>
                </a:solidFill>
              </a:rPr>
              <a:t>: </a:t>
            </a:r>
          </a:p>
          <a:p>
            <a:pPr marL="0" indent="0">
              <a:buNone/>
            </a:pPr>
            <a:r>
              <a:rPr lang="en-US" sz="1800" dirty="0">
                <a:solidFill>
                  <a:prstClr val="black"/>
                </a:solidFill>
              </a:rPr>
              <a:t>A solution must </a:t>
            </a:r>
            <a:r>
              <a:rPr lang="en-US" sz="1800" dirty="0">
                <a:solidFill>
                  <a:srgbClr val="C00000"/>
                </a:solidFill>
              </a:rPr>
              <a:t>provide</a:t>
            </a:r>
            <a:r>
              <a:rPr lang="en-US" sz="1800" dirty="0">
                <a:solidFill>
                  <a:prstClr val="black"/>
                </a:solidFill>
              </a:rPr>
              <a:t> the </a:t>
            </a:r>
            <a:r>
              <a:rPr lang="en-US" sz="1800" dirty="0">
                <a:solidFill>
                  <a:srgbClr val="C00000"/>
                </a:solidFill>
              </a:rPr>
              <a:t>entry</a:t>
            </a:r>
            <a:r>
              <a:rPr lang="en-US" sz="1800" dirty="0">
                <a:solidFill>
                  <a:prstClr val="black"/>
                </a:solidFill>
              </a:rPr>
              <a:t> and </a:t>
            </a:r>
            <a:r>
              <a:rPr lang="en-US" sz="1800" dirty="0">
                <a:solidFill>
                  <a:srgbClr val="C00000"/>
                </a:solidFill>
              </a:rPr>
              <a:t>exit</a:t>
            </a:r>
            <a:r>
              <a:rPr lang="en-US" sz="1800" dirty="0">
                <a:solidFill>
                  <a:prstClr val="black"/>
                </a:solidFill>
              </a:rPr>
              <a:t> sections</a:t>
            </a:r>
          </a:p>
          <a:p>
            <a:pPr marL="0" indent="0">
              <a:buNone/>
            </a:pPr>
            <a:r>
              <a:rPr lang="en-US" sz="1800" dirty="0">
                <a:solidFill>
                  <a:prstClr val="black"/>
                </a:solidFill>
              </a:rPr>
              <a:t>It must </a:t>
            </a:r>
            <a:r>
              <a:rPr lang="en-US" sz="1800" dirty="0">
                <a:solidFill>
                  <a:srgbClr val="C00000"/>
                </a:solidFill>
              </a:rPr>
              <a:t>ensure</a:t>
            </a:r>
            <a:r>
              <a:rPr lang="en-US" sz="1800" dirty="0">
                <a:solidFill>
                  <a:prstClr val="black"/>
                </a:solidFill>
              </a:rPr>
              <a:t>:</a:t>
            </a:r>
          </a:p>
          <a:p>
            <a:pPr>
              <a:buFontTx/>
              <a:buAutoNum type="arabicPeriod"/>
            </a:pPr>
            <a:r>
              <a:rPr lang="en-US" sz="1800" b="1" dirty="0">
                <a:solidFill>
                  <a:prstClr val="black"/>
                </a:solidFill>
              </a:rPr>
              <a:t>Mutual Exclusion</a:t>
            </a:r>
            <a:r>
              <a:rPr lang="en-US" sz="1800" dirty="0">
                <a:solidFill>
                  <a:prstClr val="black"/>
                </a:solidFill>
              </a:rPr>
              <a:t>.  </a:t>
            </a:r>
            <a:r>
              <a:rPr lang="en-US" sz="1800" dirty="0">
                <a:solidFill>
                  <a:srgbClr val="C00000"/>
                </a:solidFill>
              </a:rPr>
              <a:t>Only one process/thread </a:t>
            </a:r>
            <a:r>
              <a:rPr lang="en-US" sz="1800" dirty="0">
                <a:solidFill>
                  <a:prstClr val="black"/>
                </a:solidFill>
              </a:rPr>
              <a:t>at a time is allowed to execute in its </a:t>
            </a:r>
            <a:r>
              <a:rPr lang="en-US" sz="1800" dirty="0">
                <a:solidFill>
                  <a:srgbClr val="C00000"/>
                </a:solidFill>
              </a:rPr>
              <a:t>critical section</a:t>
            </a:r>
            <a:r>
              <a:rPr lang="en-US" sz="1800" dirty="0">
                <a:solidFill>
                  <a:prstClr val="black"/>
                </a:solidFill>
              </a:rPr>
              <a:t>.</a:t>
            </a:r>
          </a:p>
          <a:p>
            <a:pPr>
              <a:buFontTx/>
              <a:buNone/>
            </a:pPr>
            <a:r>
              <a:rPr lang="en-US" sz="1800" b="1" dirty="0">
                <a:solidFill>
                  <a:prstClr val="black"/>
                </a:solidFill>
              </a:rPr>
              <a:t>2.</a:t>
            </a:r>
            <a:r>
              <a:rPr lang="en-US" sz="1800" dirty="0">
                <a:solidFill>
                  <a:prstClr val="black"/>
                </a:solidFill>
              </a:rPr>
              <a:t>	</a:t>
            </a:r>
            <a:r>
              <a:rPr lang="en-US" sz="1800" b="1" dirty="0">
                <a:solidFill>
                  <a:prstClr val="black"/>
                </a:solidFill>
              </a:rPr>
              <a:t>Progress (no deadlock/no </a:t>
            </a:r>
            <a:r>
              <a:rPr lang="en-US" sz="1800" b="1" dirty="0" err="1">
                <a:solidFill>
                  <a:prstClr val="black"/>
                </a:solidFill>
              </a:rPr>
              <a:t>livelock</a:t>
            </a:r>
            <a:r>
              <a:rPr lang="en-US" sz="1800" b="1" dirty="0">
                <a:solidFill>
                  <a:prstClr val="black"/>
                </a:solidFill>
              </a:rPr>
              <a:t>)</a:t>
            </a:r>
            <a:r>
              <a:rPr lang="en-US" sz="1800" dirty="0">
                <a:solidFill>
                  <a:prstClr val="black"/>
                </a:solidFill>
              </a:rPr>
              <a:t>.  </a:t>
            </a:r>
            <a:r>
              <a:rPr lang="en-US" sz="1800" dirty="0">
                <a:solidFill>
                  <a:srgbClr val="C00000"/>
                </a:solidFill>
              </a:rPr>
              <a:t>If no process/thread is in its critical section</a:t>
            </a:r>
            <a:r>
              <a:rPr lang="en-US" sz="1800" dirty="0">
                <a:solidFill>
                  <a:prstClr val="black"/>
                </a:solidFill>
              </a:rPr>
              <a:t> and some is/are </a:t>
            </a:r>
            <a:r>
              <a:rPr lang="en-US" sz="1800" dirty="0">
                <a:solidFill>
                  <a:srgbClr val="C00000"/>
                </a:solidFill>
              </a:rPr>
              <a:t>trying</a:t>
            </a:r>
            <a:r>
              <a:rPr lang="en-US" sz="1800" dirty="0">
                <a:solidFill>
                  <a:prstClr val="black"/>
                </a:solidFill>
              </a:rPr>
              <a:t>,  some must </a:t>
            </a:r>
            <a:r>
              <a:rPr lang="en-US" sz="1800" dirty="0">
                <a:solidFill>
                  <a:srgbClr val="C00000"/>
                </a:solidFill>
              </a:rPr>
              <a:t>enter its critical section in bounded time.</a:t>
            </a:r>
          </a:p>
          <a:p>
            <a:pPr>
              <a:buFontTx/>
              <a:buAutoNum type="arabicPeriod" startAt="3"/>
            </a:pPr>
            <a:r>
              <a:rPr lang="en-US" sz="1800" b="1" dirty="0">
                <a:solidFill>
                  <a:prstClr val="black"/>
                </a:solidFill>
              </a:rPr>
              <a:t>Fairness / Bounded Waiting / no starvation</a:t>
            </a:r>
            <a:r>
              <a:rPr lang="en-US" sz="1800" dirty="0">
                <a:solidFill>
                  <a:prstClr val="black"/>
                </a:solidFill>
              </a:rPr>
              <a:t>.  Variety of formulations, e.g., FCFS; or bounded #bypasses, …</a:t>
            </a:r>
          </a:p>
        </p:txBody>
      </p:sp>
      <p:sp>
        <p:nvSpPr>
          <p:cNvPr id="2" name="Date Placeholder 1">
            <a:extLst>
              <a:ext uri="{FF2B5EF4-FFF2-40B4-BE49-F238E27FC236}">
                <a16:creationId xmlns:a16="http://schemas.microsoft.com/office/drawing/2014/main" id="{40986FEB-3C84-EF97-2B0A-7DF363F74840}"/>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95758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92">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292">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292">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9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292">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29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29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292" grpId="0" uiExpand="1" build="p"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p:spPr>
        <p:txBody>
          <a:bodyPr/>
          <a:lstStyle/>
          <a:p>
            <a:fld id="{E799588B-6F97-44FF-8F13-3D8F57FBF7DA}" type="slidenum">
              <a:rPr lang="en-US">
                <a:solidFill>
                  <a:prstClr val="black">
                    <a:tint val="75000"/>
                  </a:prstClr>
                </a:solidFill>
              </a:rPr>
              <a:pPr/>
              <a:t>10</a:t>
            </a:fld>
            <a:endParaRPr lang="en-US">
              <a:solidFill>
                <a:prstClr val="black">
                  <a:tint val="75000"/>
                </a:prstClr>
              </a:solidFill>
            </a:endParaRPr>
          </a:p>
        </p:txBody>
      </p:sp>
      <p:sp>
        <p:nvSpPr>
          <p:cNvPr id="28675" name="Rectangle 2"/>
          <p:cNvSpPr>
            <a:spLocks noGrp="1" noChangeArrowheads="1"/>
          </p:cNvSpPr>
          <p:nvPr>
            <p:ph type="title"/>
          </p:nvPr>
        </p:nvSpPr>
        <p:spPr>
          <a:xfrm>
            <a:off x="1595500" y="147922"/>
            <a:ext cx="9001000" cy="576064"/>
          </a:xfrm>
        </p:spPr>
        <p:txBody>
          <a:bodyPr>
            <a:normAutofit fontScale="90000"/>
          </a:bodyPr>
          <a:lstStyle/>
          <a:p>
            <a:pPr eaLnBrk="1" hangingPunct="1"/>
            <a:r>
              <a:rPr lang="en-US" dirty="0"/>
              <a:t>Critical section: desirable behavior</a:t>
            </a:r>
          </a:p>
        </p:txBody>
      </p:sp>
      <p:pic>
        <p:nvPicPr>
          <p:cNvPr id="28677" name="Picture 5"/>
          <p:cNvPicPr>
            <a:picLocks noChangeAspect="1" noChangeArrowheads="1"/>
          </p:cNvPicPr>
          <p:nvPr/>
        </p:nvPicPr>
        <p:blipFill>
          <a:blip r:embed="rId3" cstate="print"/>
          <a:srcRect/>
          <a:stretch>
            <a:fillRect/>
          </a:stretch>
        </p:blipFill>
        <p:spPr bwMode="auto">
          <a:xfrm>
            <a:off x="1228093" y="935469"/>
            <a:ext cx="9908362" cy="4815934"/>
          </a:xfrm>
          <a:prstGeom prst="rect">
            <a:avLst/>
          </a:prstGeom>
          <a:noFill/>
          <a:ln w="9525">
            <a:noFill/>
            <a:miter lim="800000"/>
            <a:headEnd/>
            <a:tailEnd/>
          </a:ln>
        </p:spPr>
      </p:pic>
      <p:sp>
        <p:nvSpPr>
          <p:cNvPr id="6" name="TextBox 5"/>
          <p:cNvSpPr txBox="1"/>
          <p:nvPr/>
        </p:nvSpPr>
        <p:spPr>
          <a:xfrm>
            <a:off x="6594941" y="3902431"/>
            <a:ext cx="1011815" cy="400110"/>
          </a:xfrm>
          <a:prstGeom prst="rect">
            <a:avLst/>
          </a:prstGeom>
          <a:solidFill>
            <a:schemeClr val="bg1"/>
          </a:solidFill>
        </p:spPr>
        <p:txBody>
          <a:bodyPr wrap="none" rtlCol="0">
            <a:spAutoFit/>
          </a:bodyPr>
          <a:lstStyle/>
          <a:p>
            <a:r>
              <a:rPr lang="sv-SE" sz="2000" dirty="0">
                <a:solidFill>
                  <a:prstClr val="black"/>
                </a:solidFill>
                <a:latin typeface="Arial" pitchFamily="34" charset="0"/>
                <a:cs typeface="Arial" pitchFamily="34" charset="0"/>
              </a:rPr>
              <a:t>B waits</a:t>
            </a:r>
          </a:p>
        </p:txBody>
      </p:sp>
      <p:sp>
        <p:nvSpPr>
          <p:cNvPr id="2" name="TextBox 1">
            <a:extLst>
              <a:ext uri="{FF2B5EF4-FFF2-40B4-BE49-F238E27FC236}">
                <a16:creationId xmlns:a16="http://schemas.microsoft.com/office/drawing/2014/main" id="{FB180406-6620-4149-9A2A-80E32A079A07}"/>
              </a:ext>
            </a:extLst>
          </p:cNvPr>
          <p:cNvSpPr txBox="1"/>
          <p:nvPr/>
        </p:nvSpPr>
        <p:spPr>
          <a:xfrm>
            <a:off x="4341482" y="668095"/>
            <a:ext cx="3093396" cy="923330"/>
          </a:xfrm>
          <a:prstGeom prst="rect">
            <a:avLst/>
          </a:prstGeom>
          <a:solidFill>
            <a:schemeClr val="bg1"/>
          </a:solidFill>
        </p:spPr>
        <p:txBody>
          <a:bodyPr wrap="square" rtlCol="0">
            <a:spAutoFit/>
          </a:bodyPr>
          <a:lstStyle/>
          <a:p>
            <a:r>
              <a:rPr lang="en-US"/>
              <a:t>A enters or</a:t>
            </a:r>
          </a:p>
          <a:p>
            <a:r>
              <a:rPr lang="en-US"/>
              <a:t>irrevocably  decides to enter critical region</a:t>
            </a:r>
          </a:p>
        </p:txBody>
      </p:sp>
      <p:sp>
        <p:nvSpPr>
          <p:cNvPr id="3" name="TextBox 2">
            <a:extLst>
              <a:ext uri="{FF2B5EF4-FFF2-40B4-BE49-F238E27FC236}">
                <a16:creationId xmlns:a16="http://schemas.microsoft.com/office/drawing/2014/main" id="{35476C7C-8D09-4B2C-922A-39BF8CDB3644}"/>
              </a:ext>
            </a:extLst>
          </p:cNvPr>
          <p:cNvSpPr txBox="1"/>
          <p:nvPr/>
        </p:nvSpPr>
        <p:spPr>
          <a:xfrm>
            <a:off x="1146059" y="2176082"/>
            <a:ext cx="999460" cy="369332"/>
          </a:xfrm>
          <a:prstGeom prst="rect">
            <a:avLst/>
          </a:prstGeom>
          <a:noFill/>
        </p:spPr>
        <p:txBody>
          <a:bodyPr wrap="square" rtlCol="0">
            <a:spAutoFit/>
          </a:bodyPr>
          <a:lstStyle/>
          <a:p>
            <a:r>
              <a:rPr lang="sv-SE" dirty="0"/>
              <a:t>/</a:t>
            </a:r>
            <a:r>
              <a:rPr lang="en-US" dirty="0"/>
              <a:t>thread</a:t>
            </a:r>
          </a:p>
        </p:txBody>
      </p:sp>
      <p:sp>
        <p:nvSpPr>
          <p:cNvPr id="8" name="TextBox 7">
            <a:extLst>
              <a:ext uri="{FF2B5EF4-FFF2-40B4-BE49-F238E27FC236}">
                <a16:creationId xmlns:a16="http://schemas.microsoft.com/office/drawing/2014/main" id="{AC08D1CF-8A0E-42D9-8A2A-AE603FB0AFDE}"/>
              </a:ext>
            </a:extLst>
          </p:cNvPr>
          <p:cNvSpPr txBox="1"/>
          <p:nvPr/>
        </p:nvSpPr>
        <p:spPr>
          <a:xfrm>
            <a:off x="1146059" y="4166282"/>
            <a:ext cx="999460" cy="369332"/>
          </a:xfrm>
          <a:prstGeom prst="rect">
            <a:avLst/>
          </a:prstGeom>
          <a:noFill/>
        </p:spPr>
        <p:txBody>
          <a:bodyPr wrap="square" rtlCol="0">
            <a:spAutoFit/>
          </a:bodyPr>
          <a:lstStyle/>
          <a:p>
            <a:r>
              <a:rPr lang="en-US"/>
              <a:t>/thread</a:t>
            </a:r>
          </a:p>
        </p:txBody>
      </p:sp>
      <p:sp>
        <p:nvSpPr>
          <p:cNvPr id="4" name="Date Placeholder 3">
            <a:extLst>
              <a:ext uri="{FF2B5EF4-FFF2-40B4-BE49-F238E27FC236}">
                <a16:creationId xmlns:a16="http://schemas.microsoft.com/office/drawing/2014/main" id="{195A329A-2DA9-A207-3B1A-DC21278AC887}"/>
              </a:ext>
            </a:extLst>
          </p:cNvPr>
          <p:cNvSpPr>
            <a:spLocks noGrp="1"/>
          </p:cNvSpPr>
          <p:nvPr>
            <p:ph type="dt" sz="half" idx="10"/>
          </p:nvPr>
        </p:nvSpPr>
        <p:spPr/>
        <p:txBody>
          <a:bodyPr/>
          <a:lstStyle/>
          <a:p>
            <a:r>
              <a:rPr lang="en-US"/>
              <a:t>Vincenzo Gulisano</a:t>
            </a:r>
          </a:p>
        </p:txBody>
      </p:sp>
      <p:sp>
        <p:nvSpPr>
          <p:cNvPr id="5" name="Oval 4">
            <a:extLst>
              <a:ext uri="{FF2B5EF4-FFF2-40B4-BE49-F238E27FC236}">
                <a16:creationId xmlns:a16="http://schemas.microsoft.com/office/drawing/2014/main" id="{8F193F89-2B2A-F503-659E-2121CBF490EA}"/>
              </a:ext>
            </a:extLst>
          </p:cNvPr>
          <p:cNvSpPr/>
          <p:nvPr/>
        </p:nvSpPr>
        <p:spPr>
          <a:xfrm>
            <a:off x="5486400" y="4302541"/>
            <a:ext cx="1413164" cy="71834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Arrow Connector 8">
            <a:extLst>
              <a:ext uri="{FF2B5EF4-FFF2-40B4-BE49-F238E27FC236}">
                <a16:creationId xmlns:a16="http://schemas.microsoft.com/office/drawing/2014/main" id="{CEDB8B35-A812-07F7-6CA4-86633FE784A2}"/>
              </a:ext>
            </a:extLst>
          </p:cNvPr>
          <p:cNvCxnSpPr>
            <a:cxnSpLocks/>
            <a:stCxn id="5" idx="5"/>
            <a:endCxn id="13" idx="1"/>
          </p:cNvCxnSpPr>
          <p:nvPr/>
        </p:nvCxnSpPr>
        <p:spPr>
          <a:xfrm>
            <a:off x="6692611" y="4915688"/>
            <a:ext cx="1148366" cy="1099492"/>
          </a:xfrm>
          <a:prstGeom prst="straightConnector1">
            <a:avLst/>
          </a:prstGeom>
          <a:ln w="38100">
            <a:solidFill>
              <a:srgbClr val="FF0000"/>
            </a:solidFill>
            <a:headEnd type="triangle" w="lg" len="lg"/>
            <a:tailEnd type="none" w="med"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A0CB9DF-8358-95D5-8A1E-F70AA597FB71}"/>
              </a:ext>
            </a:extLst>
          </p:cNvPr>
          <p:cNvSpPr txBox="1"/>
          <p:nvPr/>
        </p:nvSpPr>
        <p:spPr>
          <a:xfrm>
            <a:off x="7840977" y="5415015"/>
            <a:ext cx="4304131" cy="1200329"/>
          </a:xfrm>
          <a:prstGeom prst="rect">
            <a:avLst/>
          </a:prstGeom>
          <a:noFill/>
        </p:spPr>
        <p:txBody>
          <a:bodyPr wrap="square" rtlCol="0">
            <a:spAutoFit/>
          </a:bodyPr>
          <a:lstStyle/>
          <a:p>
            <a:r>
              <a:rPr lang="en-US" dirty="0">
                <a:solidFill>
                  <a:srgbClr val="FF0000"/>
                </a:solidFill>
              </a:rPr>
              <a:t>Note: ”blocked” here means it cannot execute its critical region but does not imply the process (from the OS perspective) is blocked, it might be busy-waiting!</a:t>
            </a:r>
          </a:p>
        </p:txBody>
      </p:sp>
    </p:spTree>
    <p:extLst>
      <p:ext uri="{BB962C8B-B14F-4D97-AF65-F5344CB8AC3E}">
        <p14:creationId xmlns:p14="http://schemas.microsoft.com/office/powerpoint/2010/main" val="978581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2" name="Rectangle 1041">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Freeform: Shape 1043">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BD058F7-8F80-DE75-9719-17F4FD96790B}"/>
              </a:ext>
            </a:extLst>
          </p:cNvPr>
          <p:cNvSpPr>
            <a:spLocks noGrp="1"/>
          </p:cNvSpPr>
          <p:nvPr>
            <p:ph type="title"/>
          </p:nvPr>
        </p:nvSpPr>
        <p:spPr>
          <a:xfrm>
            <a:off x="838201" y="643467"/>
            <a:ext cx="3888526" cy="740271"/>
          </a:xfrm>
        </p:spPr>
        <p:txBody>
          <a:bodyPr>
            <a:normAutofit/>
          </a:bodyPr>
          <a:lstStyle/>
          <a:p>
            <a:r>
              <a:rPr lang="en-US" dirty="0"/>
              <a:t>Beware!</a:t>
            </a:r>
          </a:p>
        </p:txBody>
      </p:sp>
      <p:sp>
        <p:nvSpPr>
          <p:cNvPr id="3" name="Content Placeholder 2">
            <a:extLst>
              <a:ext uri="{FF2B5EF4-FFF2-40B4-BE49-F238E27FC236}">
                <a16:creationId xmlns:a16="http://schemas.microsoft.com/office/drawing/2014/main" id="{AAEDA36F-C018-F94B-1E4A-13EE9A396617}"/>
              </a:ext>
            </a:extLst>
          </p:cNvPr>
          <p:cNvSpPr>
            <a:spLocks noGrp="1"/>
          </p:cNvSpPr>
          <p:nvPr>
            <p:ph idx="1"/>
          </p:nvPr>
        </p:nvSpPr>
        <p:spPr>
          <a:xfrm>
            <a:off x="838201" y="1288196"/>
            <a:ext cx="3888528" cy="3553581"/>
          </a:xfrm>
        </p:spPr>
        <p:txBody>
          <a:bodyPr>
            <a:normAutofit/>
          </a:bodyPr>
          <a:lstStyle/>
          <a:p>
            <a:r>
              <a:rPr lang="en-US" sz="2000" dirty="0"/>
              <a:t>Is a solution valid?</a:t>
            </a:r>
          </a:p>
          <a:p>
            <a:r>
              <a:rPr lang="en-US" sz="2000" dirty="0"/>
              <a:t>We are looking for formal answers</a:t>
            </a:r>
          </a:p>
          <a:p>
            <a:pPr lvl="1"/>
            <a:r>
              <a:rPr lang="en-US" sz="2000" dirty="0"/>
              <a:t>Can we find an example showing it is not? Then it is NOT valid.</a:t>
            </a:r>
          </a:p>
          <a:p>
            <a:pPr lvl="1"/>
            <a:r>
              <a:rPr lang="en-US" sz="2000" dirty="0"/>
              <a:t>Can we show it is impossible to find such an example? Then it is valid.</a:t>
            </a:r>
          </a:p>
          <a:p>
            <a:r>
              <a:rPr lang="en-US" sz="2000" b="1" u="sng" dirty="0"/>
              <a:t>An example showing it works is not sufficient</a:t>
            </a:r>
          </a:p>
        </p:txBody>
      </p:sp>
      <p:pic>
        <p:nvPicPr>
          <p:cNvPr id="1026" name="Picture 2" descr="612,978 Attention Stock Photos and Images - 123RF">
            <a:extLst>
              <a:ext uri="{FF2B5EF4-FFF2-40B4-BE49-F238E27FC236}">
                <a16:creationId xmlns:a16="http://schemas.microsoft.com/office/drawing/2014/main" id="{51DBE799-BBAD-586B-502C-167DEFDC3C9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 r="2" b="2"/>
          <a:stretch/>
        </p:blipFill>
        <p:spPr bwMode="auto">
          <a:xfrm>
            <a:off x="6800986" y="1565403"/>
            <a:ext cx="4747547" cy="375553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50ED4F9A-4523-E1EF-1FD8-87264BE0AC4B}"/>
              </a:ext>
            </a:extLst>
          </p:cNvPr>
          <p:cNvSpPr>
            <a:spLocks noGrp="1"/>
          </p:cNvSpPr>
          <p:nvPr>
            <p:ph type="sldNum" sz="quarter" idx="12"/>
          </p:nvPr>
        </p:nvSpPr>
        <p:spPr/>
        <p:txBody>
          <a:bodyPr/>
          <a:lstStyle/>
          <a:p>
            <a:fld id="{67FCC1A6-2294-BF46-A2F7-E6BDB92DF1BF}" type="slidenum">
              <a:rPr lang="en-US" smtClean="0"/>
              <a:t>11</a:t>
            </a:fld>
            <a:endParaRPr lang="en-US"/>
          </a:p>
        </p:txBody>
      </p:sp>
      <p:sp>
        <p:nvSpPr>
          <p:cNvPr id="5" name="Date Placeholder 4">
            <a:extLst>
              <a:ext uri="{FF2B5EF4-FFF2-40B4-BE49-F238E27FC236}">
                <a16:creationId xmlns:a16="http://schemas.microsoft.com/office/drawing/2014/main" id="{5BF15EE3-5310-7204-DA4C-314176D3E13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42375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a:noFill/>
        </p:spPr>
        <p:txBody>
          <a:bodyPr/>
          <a:lstStyle/>
          <a:p>
            <a:fld id="{D66AE2FA-ED60-4BC5-83FE-140007622175}" type="slidenum">
              <a:rPr lang="en-US" smtClean="0">
                <a:solidFill>
                  <a:prstClr val="black">
                    <a:tint val="75000"/>
                  </a:prstClr>
                </a:solidFill>
              </a:rPr>
              <a:pPr/>
              <a:t>12</a:t>
            </a:fld>
            <a:endParaRPr lang="en-US">
              <a:solidFill>
                <a:prstClr val="black">
                  <a:tint val="75000"/>
                </a:prstClr>
              </a:solidFill>
            </a:endParaRPr>
          </a:p>
        </p:txBody>
      </p:sp>
      <p:sp>
        <p:nvSpPr>
          <p:cNvPr id="15364" name="Rectangle 4"/>
          <p:cNvSpPr>
            <a:spLocks noGrp="1" noChangeArrowheads="1"/>
          </p:cNvSpPr>
          <p:nvPr>
            <p:ph type="body" idx="1"/>
          </p:nvPr>
        </p:nvSpPr>
        <p:spPr>
          <a:xfrm>
            <a:off x="3058196" y="1255568"/>
            <a:ext cx="6075607" cy="4189268"/>
          </a:xfrm>
          <a:noFill/>
          <a:effectLst/>
        </p:spPr>
        <p:style>
          <a:lnRef idx="1">
            <a:schemeClr val="dk1"/>
          </a:lnRef>
          <a:fillRef idx="2">
            <a:schemeClr val="dk1"/>
          </a:fillRef>
          <a:effectRef idx="1">
            <a:schemeClr val="dk1"/>
          </a:effectRef>
          <a:fontRef idx="minor">
            <a:schemeClr val="dk1"/>
          </a:fontRef>
        </p:style>
        <p:txBody>
          <a:bodyPr>
            <a:normAutofit fontScale="92500" lnSpcReduction="20000"/>
          </a:bodyPr>
          <a:lstStyle/>
          <a:p>
            <a:pPr marL="457200" indent="-457200">
              <a:lnSpc>
                <a:spcPct val="110000"/>
              </a:lnSpc>
              <a:buClr>
                <a:schemeClr val="tx1"/>
              </a:buClr>
              <a:buFont typeface="+mj-lt"/>
              <a:buAutoNum type="arabicPeriod"/>
              <a:tabLst>
                <a:tab pos="441325" algn="l"/>
                <a:tab pos="620713" algn="l"/>
                <a:tab pos="785813" algn="l"/>
              </a:tabLst>
            </a:pPr>
            <a:r>
              <a:rPr lang="en-US" sz="2400" dirty="0"/>
              <a:t>Shared </a:t>
            </a:r>
            <a:r>
              <a:rPr lang="en-US" sz="2400" b="1" dirty="0"/>
              <a:t>var</a:t>
            </a:r>
            <a:r>
              <a:rPr lang="en-US" sz="2400" dirty="0"/>
              <a:t> </a:t>
            </a:r>
            <a:r>
              <a:rPr lang="en-US" sz="2400" i="1" dirty="0" err="1"/>
              <a:t>flagA</a:t>
            </a:r>
            <a:r>
              <a:rPr lang="en-US" sz="2400" i="1" dirty="0"/>
              <a:t>, </a:t>
            </a:r>
            <a:r>
              <a:rPr lang="en-US" sz="2400" i="1" dirty="0" err="1"/>
              <a:t>flagB</a:t>
            </a:r>
            <a:r>
              <a:rPr lang="en-US" sz="2400" dirty="0"/>
              <a:t>: </a:t>
            </a:r>
            <a:r>
              <a:rPr lang="en-US" sz="2400" i="1" dirty="0" err="1"/>
              <a:t>boolean</a:t>
            </a:r>
            <a:r>
              <a:rPr lang="en-US" sz="2400" dirty="0"/>
              <a:t>; </a:t>
            </a:r>
            <a:r>
              <a:rPr lang="en-US" sz="2400" dirty="0">
                <a:solidFill>
                  <a:schemeClr val="bg1">
                    <a:lumMod val="50000"/>
                  </a:schemeClr>
                </a:solidFill>
              </a:rPr>
              <a:t>// indicate A’s, B’s intention to enter; initially both </a:t>
            </a:r>
            <a:r>
              <a:rPr lang="en-US" sz="2400" i="1" dirty="0">
                <a:solidFill>
                  <a:schemeClr val="bg1">
                    <a:lumMod val="50000"/>
                  </a:schemeClr>
                </a:solidFill>
              </a:rPr>
              <a:t>false</a:t>
            </a:r>
            <a:endParaRPr lang="en-US" sz="2400" dirty="0">
              <a:solidFill>
                <a:schemeClr val="bg1">
                  <a:lumMod val="50000"/>
                </a:schemeClr>
              </a:solidFill>
            </a:endParaRPr>
          </a:p>
          <a:p>
            <a:pPr marL="457200" indent="-457200">
              <a:lnSpc>
                <a:spcPct val="110000"/>
              </a:lnSpc>
              <a:buClr>
                <a:schemeClr val="tx1"/>
              </a:buClr>
              <a:buFont typeface="+mj-lt"/>
              <a:buAutoNum type="arabicPeriod"/>
              <a:tabLst>
                <a:tab pos="441325" algn="l"/>
                <a:tab pos="620713" algn="l"/>
                <a:tab pos="785813" algn="l"/>
              </a:tabLst>
            </a:pPr>
            <a:r>
              <a:rPr lang="en-US" sz="2400" dirty="0"/>
              <a:t>Thread </a:t>
            </a:r>
            <a:r>
              <a:rPr lang="en-US" sz="2400" i="1" dirty="0"/>
              <a:t>A </a:t>
            </a:r>
            <a:r>
              <a:rPr lang="en-US" sz="2400" dirty="0">
                <a:solidFill>
                  <a:schemeClr val="bg1">
                    <a:lumMod val="50000"/>
                  </a:schemeClr>
                </a:solidFill>
              </a:rPr>
              <a:t>//</a:t>
            </a:r>
            <a:r>
              <a:rPr lang="en-US" sz="2400" i="1" dirty="0">
                <a:solidFill>
                  <a:schemeClr val="bg1">
                    <a:lumMod val="50000"/>
                  </a:schemeClr>
                </a:solidFill>
              </a:rPr>
              <a:t> B is symmetric</a:t>
            </a:r>
            <a:endParaRPr lang="en-US" sz="2400" dirty="0">
              <a:solidFill>
                <a:schemeClr val="bg1">
                  <a:lumMod val="50000"/>
                </a:schemeClr>
              </a:solidFill>
            </a:endParaRPr>
          </a:p>
          <a:p>
            <a:pPr marL="457200" indent="-457200">
              <a:lnSpc>
                <a:spcPct val="110000"/>
              </a:lnSpc>
              <a:buClr>
                <a:schemeClr val="tx1"/>
              </a:buClr>
              <a:buFont typeface="+mj-lt"/>
              <a:buAutoNum type="arabicPeriod"/>
              <a:tabLst>
                <a:tab pos="441325" algn="l"/>
                <a:tab pos="620713" algn="l"/>
                <a:tab pos="785813" algn="l"/>
              </a:tabLst>
            </a:pPr>
            <a:r>
              <a:rPr lang="en-US" sz="2400" dirty="0"/>
              <a:t>	</a:t>
            </a:r>
            <a:r>
              <a:rPr lang="en-US" sz="2400" b="1" dirty="0"/>
              <a:t>repeat</a:t>
            </a:r>
            <a:r>
              <a:rPr lang="en-US" sz="2400" dirty="0"/>
              <a:t> </a:t>
            </a:r>
          </a:p>
          <a:p>
            <a:pPr marL="457200" indent="-457200">
              <a:lnSpc>
                <a:spcPct val="110000"/>
              </a:lnSpc>
              <a:buClr>
                <a:schemeClr val="tx1"/>
              </a:buClr>
              <a:buFont typeface="+mj-lt"/>
              <a:buAutoNum type="arabicPeriod"/>
              <a:tabLst>
                <a:tab pos="441325" algn="l"/>
                <a:tab pos="620713" algn="l"/>
                <a:tab pos="785813" algn="l"/>
              </a:tabLst>
            </a:pPr>
            <a:r>
              <a:rPr lang="en-US" sz="2400" dirty="0">
                <a:solidFill>
                  <a:srgbClr val="C00000"/>
                </a:solidFill>
              </a:rPr>
              <a:t>		</a:t>
            </a:r>
            <a:r>
              <a:rPr lang="en-US" sz="2400" b="1" dirty="0">
                <a:solidFill>
                  <a:srgbClr val="C00000"/>
                </a:solidFill>
              </a:rPr>
              <a:t>while</a:t>
            </a:r>
            <a:r>
              <a:rPr lang="en-US" sz="2400" dirty="0">
                <a:solidFill>
                  <a:srgbClr val="C00000"/>
                </a:solidFill>
              </a:rPr>
              <a:t> </a:t>
            </a:r>
            <a:r>
              <a:rPr lang="en-US" sz="2400" i="1" dirty="0" err="1">
                <a:solidFill>
                  <a:srgbClr val="C00000"/>
                </a:solidFill>
              </a:rPr>
              <a:t>flagB</a:t>
            </a:r>
            <a:r>
              <a:rPr lang="en-US" sz="2400" dirty="0">
                <a:solidFill>
                  <a:srgbClr val="C00000"/>
                </a:solidFill>
              </a:rPr>
              <a:t> == true </a:t>
            </a:r>
            <a:r>
              <a:rPr lang="en-US" sz="2400" b="1" dirty="0">
                <a:solidFill>
                  <a:srgbClr val="C00000"/>
                </a:solidFill>
              </a:rPr>
              <a:t>do </a:t>
            </a:r>
            <a:r>
              <a:rPr lang="en-US" sz="2400" dirty="0">
                <a:solidFill>
                  <a:srgbClr val="C00000"/>
                </a:solidFill>
              </a:rPr>
              <a:t>[nothing]  </a:t>
            </a:r>
            <a:r>
              <a:rPr lang="en-US" sz="2400" dirty="0">
                <a:solidFill>
                  <a:schemeClr val="bg1">
                    <a:lumMod val="50000"/>
                  </a:schemeClr>
                </a:solidFill>
              </a:rPr>
              <a:t>//busy-wait</a:t>
            </a:r>
          </a:p>
          <a:p>
            <a:pPr marL="457200" indent="-457200">
              <a:lnSpc>
                <a:spcPct val="110000"/>
              </a:lnSpc>
              <a:buClr>
                <a:schemeClr val="tx1"/>
              </a:buClr>
              <a:buFont typeface="+mj-lt"/>
              <a:buAutoNum type="arabicPeriod"/>
              <a:tabLst>
                <a:tab pos="441325" algn="l"/>
                <a:tab pos="620713" algn="l"/>
                <a:tab pos="785813" algn="l"/>
              </a:tabLst>
            </a:pPr>
            <a:r>
              <a:rPr lang="en-US" sz="2400" i="1" dirty="0">
                <a:solidFill>
                  <a:srgbClr val="C00000"/>
                </a:solidFill>
              </a:rPr>
              <a:t>			</a:t>
            </a:r>
            <a:r>
              <a:rPr lang="en-US" sz="2400" i="1" dirty="0" err="1">
                <a:solidFill>
                  <a:srgbClr val="C00000"/>
                </a:solidFill>
              </a:rPr>
              <a:t>flag</a:t>
            </a:r>
            <a:r>
              <a:rPr lang="en-US" sz="2400" dirty="0" err="1">
                <a:solidFill>
                  <a:srgbClr val="C00000"/>
                </a:solidFill>
              </a:rPr>
              <a:t>A</a:t>
            </a:r>
            <a:r>
              <a:rPr lang="en-US" sz="2400" dirty="0">
                <a:solidFill>
                  <a:srgbClr val="C00000"/>
                </a:solidFill>
              </a:rPr>
              <a:t> ← true </a:t>
            </a:r>
          </a:p>
          <a:p>
            <a:pPr marL="457200" indent="-457200">
              <a:lnSpc>
                <a:spcPct val="110000"/>
              </a:lnSpc>
              <a:buClr>
                <a:schemeClr val="tx1"/>
              </a:buClr>
              <a:buFont typeface="+mj-lt"/>
              <a:buAutoNum type="arabicPeriod"/>
              <a:tabLst>
                <a:tab pos="441325" algn="l"/>
                <a:tab pos="620713" algn="l"/>
                <a:tab pos="785813" algn="l"/>
              </a:tabLst>
            </a:pPr>
            <a:r>
              <a:rPr lang="en-US" sz="2400" dirty="0"/>
              <a:t>			[critical section]</a:t>
            </a:r>
          </a:p>
          <a:p>
            <a:pPr marL="457200" indent="-457200">
              <a:lnSpc>
                <a:spcPct val="110000"/>
              </a:lnSpc>
              <a:buClr>
                <a:schemeClr val="tx1"/>
              </a:buClr>
              <a:buFont typeface="+mj-lt"/>
              <a:buAutoNum type="arabicPeriod"/>
              <a:tabLst>
                <a:tab pos="441325" algn="l"/>
                <a:tab pos="620713" algn="l"/>
                <a:tab pos="785813" algn="l"/>
              </a:tabLst>
            </a:pPr>
            <a:r>
              <a:rPr lang="en-US" sz="2400" i="1" dirty="0">
                <a:solidFill>
                  <a:srgbClr val="C00000"/>
                </a:solidFill>
              </a:rPr>
              <a:t>			</a:t>
            </a:r>
            <a:r>
              <a:rPr lang="en-US" sz="2400" i="1" dirty="0" err="1">
                <a:solidFill>
                  <a:srgbClr val="C00000"/>
                </a:solidFill>
              </a:rPr>
              <a:t>flagA</a:t>
            </a:r>
            <a:r>
              <a:rPr lang="en-US" sz="2400" dirty="0">
                <a:solidFill>
                  <a:srgbClr val="C00000"/>
                </a:solidFill>
              </a:rPr>
              <a:t> ←  </a:t>
            </a:r>
            <a:r>
              <a:rPr lang="en-US" sz="2400" i="1" dirty="0">
                <a:solidFill>
                  <a:srgbClr val="C00000"/>
                </a:solidFill>
              </a:rPr>
              <a:t>false</a:t>
            </a:r>
          </a:p>
          <a:p>
            <a:pPr marL="457200" indent="-457200">
              <a:lnSpc>
                <a:spcPct val="110000"/>
              </a:lnSpc>
              <a:buClr>
                <a:schemeClr val="tx1"/>
              </a:buClr>
              <a:buFont typeface="+mj-lt"/>
              <a:buAutoNum type="arabicPeriod"/>
              <a:tabLst>
                <a:tab pos="441325" algn="l"/>
                <a:tab pos="620713" algn="l"/>
                <a:tab pos="785813" algn="l"/>
              </a:tabLst>
            </a:pPr>
            <a:r>
              <a:rPr lang="en-US" sz="2400" dirty="0"/>
              <a:t>			[remainder section]</a:t>
            </a:r>
          </a:p>
          <a:p>
            <a:pPr marL="457200" indent="-457200">
              <a:lnSpc>
                <a:spcPct val="110000"/>
              </a:lnSpc>
              <a:buClr>
                <a:schemeClr val="tx1"/>
              </a:buClr>
              <a:buFont typeface="+mj-lt"/>
              <a:buAutoNum type="arabicPeriod"/>
              <a:tabLst>
                <a:tab pos="441325" algn="l"/>
                <a:tab pos="620713" algn="l"/>
                <a:tab pos="785813" algn="l"/>
              </a:tabLst>
            </a:pPr>
            <a:r>
              <a:rPr lang="en-US" sz="2400" dirty="0"/>
              <a:t>	</a:t>
            </a:r>
            <a:r>
              <a:rPr lang="en-US" sz="2400" b="1" dirty="0"/>
              <a:t>forever</a:t>
            </a:r>
            <a:endParaRPr lang="en-US" sz="2400" dirty="0"/>
          </a:p>
        </p:txBody>
      </p:sp>
      <p:sp>
        <p:nvSpPr>
          <p:cNvPr id="8" name="Title 1"/>
          <p:cNvSpPr txBox="1">
            <a:spLocks/>
          </p:cNvSpPr>
          <p:nvPr/>
        </p:nvSpPr>
        <p:spPr bwMode="auto">
          <a:xfrm>
            <a:off x="527381" y="130324"/>
            <a:ext cx="10959008" cy="57606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kern="1200">
                <a:solidFill>
                  <a:schemeClr val="accent1">
                    <a:lumMod val="50000"/>
                  </a:schemeClr>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dirty="0"/>
              <a:t>check-competition approach</a:t>
            </a:r>
            <a:endParaRPr lang="sv-SE" dirty="0"/>
          </a:p>
        </p:txBody>
      </p:sp>
      <p:sp>
        <p:nvSpPr>
          <p:cNvPr id="2" name="Date Placeholder 1">
            <a:extLst>
              <a:ext uri="{FF2B5EF4-FFF2-40B4-BE49-F238E27FC236}">
                <a16:creationId xmlns:a16="http://schemas.microsoft.com/office/drawing/2014/main" id="{17C55493-BD0C-F762-7CF4-CCCBBCFE7FB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155710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736" y="116634"/>
            <a:ext cx="9912236" cy="600174"/>
          </a:xfrm>
          <a:noFill/>
          <a:ln w="9525">
            <a:noFill/>
            <a:miter lim="800000"/>
            <a:headEnd/>
            <a:tailEnd/>
          </a:ln>
        </p:spPr>
        <p:txBody>
          <a:bodyPr vert="horz" wrap="square" lIns="91440" tIns="45720" rIns="91440" bIns="45720" numCol="1" anchor="ctr" anchorCtr="0" compatLnSpc="1">
            <a:prstTxWarp prst="textNoShape">
              <a:avLst/>
            </a:prstTxWarp>
          </a:bodyPr>
          <a:lstStyle/>
          <a:p>
            <a:pPr eaLnBrk="0" fontAlgn="base" hangingPunct="0">
              <a:spcAft>
                <a:spcPct val="0"/>
              </a:spcAft>
            </a:pPr>
            <a:r>
              <a:rPr lang="en-US" sz="3600" b="1" dirty="0">
                <a:solidFill>
                  <a:schemeClr val="accent1">
                    <a:lumMod val="50000"/>
                  </a:schemeClr>
                </a:solidFill>
              </a:rPr>
              <a:t>check-competition: mutual exclusion property?</a:t>
            </a:r>
            <a:endParaRPr lang="sv-SE" sz="3600" b="1" dirty="0">
              <a:solidFill>
                <a:schemeClr val="accent1">
                  <a:lumMod val="50000"/>
                </a:schemeClr>
              </a:solidFill>
            </a:endParaRPr>
          </a:p>
        </p:txBody>
      </p:sp>
      <p:cxnSp>
        <p:nvCxnSpPr>
          <p:cNvPr id="7" name="Straight Connector 6"/>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11" name="Rectangle 10"/>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6" name="Group 5">
            <a:extLst>
              <a:ext uri="{FF2B5EF4-FFF2-40B4-BE49-F238E27FC236}">
                <a16:creationId xmlns:a16="http://schemas.microsoft.com/office/drawing/2014/main" id="{DD86AAAE-DEEF-4C0A-7D1D-69D3F09A9F3A}"/>
              </a:ext>
            </a:extLst>
          </p:cNvPr>
          <p:cNvGrpSpPr/>
          <p:nvPr/>
        </p:nvGrpSpPr>
        <p:grpSpPr>
          <a:xfrm>
            <a:off x="9224129" y="3902246"/>
            <a:ext cx="2037831" cy="369332"/>
            <a:chOff x="9352361" y="5886897"/>
            <a:chExt cx="2037831" cy="369332"/>
          </a:xfrm>
        </p:grpSpPr>
        <p:cxnSp>
          <p:nvCxnSpPr>
            <p:cNvPr id="57" name="Straight Arrow Connector 56"/>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grpSp>
        <p:nvGrpSpPr>
          <p:cNvPr id="29" name="Group 28">
            <a:extLst>
              <a:ext uri="{FF2B5EF4-FFF2-40B4-BE49-F238E27FC236}">
                <a16:creationId xmlns:a16="http://schemas.microsoft.com/office/drawing/2014/main" id="{9EEBDBC0-6FD9-555A-8286-62586D55A8FB}"/>
              </a:ext>
            </a:extLst>
          </p:cNvPr>
          <p:cNvGrpSpPr/>
          <p:nvPr/>
        </p:nvGrpSpPr>
        <p:grpSpPr>
          <a:xfrm>
            <a:off x="5680204" y="1644361"/>
            <a:ext cx="3256673" cy="1146701"/>
            <a:chOff x="4105958" y="3112942"/>
            <a:chExt cx="3256673" cy="1146701"/>
          </a:xfrm>
        </p:grpSpPr>
        <p:sp>
          <p:nvSpPr>
            <p:cNvPr id="17" name="Cloud Callout 16"/>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15" name="TextBox 14"/>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flagB</a:t>
              </a:r>
              <a:r>
                <a:rPr lang="en-US" sz="1600" i="1" dirty="0">
                  <a:solidFill>
                    <a:prstClr val="black"/>
                  </a:solidFill>
                </a:rPr>
                <a:t> == false and completes line 4</a:t>
              </a:r>
              <a:endParaRPr lang="en-US" sz="1600" dirty="0">
                <a:solidFill>
                  <a:srgbClr val="C00000"/>
                </a:solidFill>
              </a:endParaRPr>
            </a:p>
          </p:txBody>
        </p:sp>
        <p:sp>
          <p:nvSpPr>
            <p:cNvPr id="61" name="Oval 60">
              <a:extLst>
                <a:ext uri="{FF2B5EF4-FFF2-40B4-BE49-F238E27FC236}">
                  <a16:creationId xmlns:a16="http://schemas.microsoft.com/office/drawing/2014/main" id="{96620871-7D38-4246-9C1B-5D9F009E3C84}"/>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28" name="Group 27">
            <a:extLst>
              <a:ext uri="{FF2B5EF4-FFF2-40B4-BE49-F238E27FC236}">
                <a16:creationId xmlns:a16="http://schemas.microsoft.com/office/drawing/2014/main" id="{ED5111DC-B818-7CFE-8007-4E5F0511795A}"/>
              </a:ext>
            </a:extLst>
          </p:cNvPr>
          <p:cNvGrpSpPr/>
          <p:nvPr/>
        </p:nvGrpSpPr>
        <p:grpSpPr>
          <a:xfrm>
            <a:off x="8502911" y="1685923"/>
            <a:ext cx="1550319" cy="1105902"/>
            <a:chOff x="6208226" y="3196069"/>
            <a:chExt cx="1550319" cy="1105902"/>
          </a:xfrm>
        </p:grpSpPr>
        <p:sp>
          <p:nvSpPr>
            <p:cNvPr id="16" name="Oval 15"/>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2" name="Cloud Callout 16">
              <a:extLst>
                <a:ext uri="{FF2B5EF4-FFF2-40B4-BE49-F238E27FC236}">
                  <a16:creationId xmlns:a16="http://schemas.microsoft.com/office/drawing/2014/main" id="{8C31E8F4-5B73-4C25-BA9C-BD4002D8AEBC}"/>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3" name="TextBox 62">
              <a:extLst>
                <a:ext uri="{FF2B5EF4-FFF2-40B4-BE49-F238E27FC236}">
                  <a16:creationId xmlns:a16="http://schemas.microsoft.com/office/drawing/2014/main" id="{BA2CCDC4-BBD0-4B24-8E1C-E7904B8C32AB}"/>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grpSp>
        <p:nvGrpSpPr>
          <p:cNvPr id="30" name="Group 29">
            <a:extLst>
              <a:ext uri="{FF2B5EF4-FFF2-40B4-BE49-F238E27FC236}">
                <a16:creationId xmlns:a16="http://schemas.microsoft.com/office/drawing/2014/main" id="{41066785-BDF4-EB38-81E8-04FBF9C3FA92}"/>
              </a:ext>
            </a:extLst>
          </p:cNvPr>
          <p:cNvGrpSpPr/>
          <p:nvPr/>
        </p:nvGrpSpPr>
        <p:grpSpPr>
          <a:xfrm>
            <a:off x="5118108" y="3522775"/>
            <a:ext cx="1486965" cy="967502"/>
            <a:chOff x="5118108" y="3522775"/>
            <a:chExt cx="1486965" cy="967502"/>
          </a:xfrm>
        </p:grpSpPr>
        <p:sp>
          <p:nvSpPr>
            <p:cNvPr id="25" name="Cloud Callout 24"/>
            <p:cNvSpPr/>
            <p:nvPr/>
          </p:nvSpPr>
          <p:spPr>
            <a:xfrm flipV="1">
              <a:off x="5138551" y="3858371"/>
              <a:ext cx="1466522" cy="631906"/>
            </a:xfrm>
            <a:prstGeom prst="cloudCallout">
              <a:avLst>
                <a:gd name="adj1" fmla="val -43783"/>
                <a:gd name="adj2" fmla="val 65251"/>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27" name="Oval 26"/>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4" name="TextBox 63">
              <a:extLst>
                <a:ext uri="{FF2B5EF4-FFF2-40B4-BE49-F238E27FC236}">
                  <a16:creationId xmlns:a16="http://schemas.microsoft.com/office/drawing/2014/main" id="{7978F9E9-6902-4F85-9FE5-131C6C285ABA}"/>
                </a:ext>
              </a:extLst>
            </p:cNvPr>
            <p:cNvSpPr txBox="1"/>
            <p:nvPr/>
          </p:nvSpPr>
          <p:spPr>
            <a:xfrm>
              <a:off x="5524866" y="4015033"/>
              <a:ext cx="746071"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pic>
        <p:nvPicPr>
          <p:cNvPr id="5" name="Graphic 4">
            <a:extLst>
              <a:ext uri="{FF2B5EF4-FFF2-40B4-BE49-F238E27FC236}">
                <a16:creationId xmlns:a16="http://schemas.microsoft.com/office/drawing/2014/main" id="{EA28495D-11DD-1EC2-1A21-9209EEAEF9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1640" y="1816282"/>
            <a:ext cx="3750935" cy="2595242"/>
          </a:xfrm>
          <a:prstGeom prst="rect">
            <a:avLst/>
          </a:prstGeom>
        </p:spPr>
      </p:pic>
      <p:sp>
        <p:nvSpPr>
          <p:cNvPr id="14" name="Oval 13">
            <a:extLst>
              <a:ext uri="{FF2B5EF4-FFF2-40B4-BE49-F238E27FC236}">
                <a16:creationId xmlns:a16="http://schemas.microsoft.com/office/drawing/2014/main" id="{56C6270A-1FC8-EDF1-DB4B-6D7EA3C1C5B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8" name="Oval 17">
            <a:extLst>
              <a:ext uri="{FF2B5EF4-FFF2-40B4-BE49-F238E27FC236}">
                <a16:creationId xmlns:a16="http://schemas.microsoft.com/office/drawing/2014/main" id="{A8B5B436-6995-552F-F58A-A7B0569DE0F2}"/>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sp>
        <p:nvSpPr>
          <p:cNvPr id="3" name="Slide Number Placeholder 2">
            <a:extLst>
              <a:ext uri="{FF2B5EF4-FFF2-40B4-BE49-F238E27FC236}">
                <a16:creationId xmlns:a16="http://schemas.microsoft.com/office/drawing/2014/main" id="{0AFAE381-F7A0-76BA-FE99-50B994052EC5}"/>
              </a:ext>
            </a:extLst>
          </p:cNvPr>
          <p:cNvSpPr>
            <a:spLocks noGrp="1"/>
          </p:cNvSpPr>
          <p:nvPr>
            <p:ph type="sldNum" sz="quarter" idx="12"/>
          </p:nvPr>
        </p:nvSpPr>
        <p:spPr/>
        <p:txBody>
          <a:bodyPr/>
          <a:lstStyle/>
          <a:p>
            <a:fld id="{67FCC1A6-2294-BF46-A2F7-E6BDB92DF1BF}" type="slidenum">
              <a:rPr lang="en-US" smtClean="0"/>
              <a:t>13</a:t>
            </a:fld>
            <a:endParaRPr lang="en-US"/>
          </a:p>
        </p:txBody>
      </p:sp>
      <p:sp>
        <p:nvSpPr>
          <p:cNvPr id="4" name="Date Placeholder 3">
            <a:extLst>
              <a:ext uri="{FF2B5EF4-FFF2-40B4-BE49-F238E27FC236}">
                <a16:creationId xmlns:a16="http://schemas.microsoft.com/office/drawing/2014/main" id="{8E4036EA-BA5D-0350-333B-5B34B07AE7CD}"/>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601383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B2BC8D8-B902-8F8B-85C4-C2332F37BBEB}"/>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check-competition: mutual exclusion property?</a:t>
            </a:r>
            <a:endParaRPr lang="sv-SE" sz="3600" b="1" dirty="0">
              <a:solidFill>
                <a:schemeClr val="accent1">
                  <a:lumMod val="50000"/>
                </a:schemeClr>
              </a:solidFill>
            </a:endParaRPr>
          </a:p>
        </p:txBody>
      </p:sp>
      <p:pic>
        <p:nvPicPr>
          <p:cNvPr id="12" name="Graphic 11">
            <a:extLst>
              <a:ext uri="{FF2B5EF4-FFF2-40B4-BE49-F238E27FC236}">
                <a16:creationId xmlns:a16="http://schemas.microsoft.com/office/drawing/2014/main" id="{D9C8B908-728F-6ECB-3149-9083E26797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218" y="1378707"/>
            <a:ext cx="3750935" cy="2595242"/>
          </a:xfrm>
          <a:prstGeom prst="rect">
            <a:avLst/>
          </a:prstGeom>
        </p:spPr>
      </p:pic>
      <p:cxnSp>
        <p:nvCxnSpPr>
          <p:cNvPr id="13" name="Straight Connector 12">
            <a:extLst>
              <a:ext uri="{FF2B5EF4-FFF2-40B4-BE49-F238E27FC236}">
                <a16:creationId xmlns:a16="http://schemas.microsoft.com/office/drawing/2014/main" id="{E82A79D5-D1C7-3B63-9C22-B29C7A5F6ECA}"/>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642C584-42DB-2811-964E-138A0F4DB02C}"/>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8058AEB6-3458-56FE-06E6-8DC1A39E5FEC}"/>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19" name="Rectangle 18">
            <a:extLst>
              <a:ext uri="{FF2B5EF4-FFF2-40B4-BE49-F238E27FC236}">
                <a16:creationId xmlns:a16="http://schemas.microsoft.com/office/drawing/2014/main" id="{34495DF4-7626-3BA8-C52B-AAF725F97B9F}"/>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22" name="Group 21">
            <a:extLst>
              <a:ext uri="{FF2B5EF4-FFF2-40B4-BE49-F238E27FC236}">
                <a16:creationId xmlns:a16="http://schemas.microsoft.com/office/drawing/2014/main" id="{881DDBE3-4AAE-E17B-E3EB-5813CF40B820}"/>
              </a:ext>
            </a:extLst>
          </p:cNvPr>
          <p:cNvGrpSpPr/>
          <p:nvPr/>
        </p:nvGrpSpPr>
        <p:grpSpPr>
          <a:xfrm>
            <a:off x="9224129" y="3902246"/>
            <a:ext cx="2037831" cy="369332"/>
            <a:chOff x="9352361" y="5886897"/>
            <a:chExt cx="2037831" cy="369332"/>
          </a:xfrm>
        </p:grpSpPr>
        <p:cxnSp>
          <p:nvCxnSpPr>
            <p:cNvPr id="24" name="Straight Arrow Connector 23">
              <a:extLst>
                <a:ext uri="{FF2B5EF4-FFF2-40B4-BE49-F238E27FC236}">
                  <a16:creationId xmlns:a16="http://schemas.microsoft.com/office/drawing/2014/main" id="{75BFDE82-0623-4366-86D0-93B893D61323}"/>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8FFD4C2-625C-CA29-9374-F6D27AC44328}"/>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grpSp>
        <p:nvGrpSpPr>
          <p:cNvPr id="28" name="Group 27">
            <a:extLst>
              <a:ext uri="{FF2B5EF4-FFF2-40B4-BE49-F238E27FC236}">
                <a16:creationId xmlns:a16="http://schemas.microsoft.com/office/drawing/2014/main" id="{6D5B0D80-5CEF-1E5D-CDE1-95A8369CF5E4}"/>
              </a:ext>
            </a:extLst>
          </p:cNvPr>
          <p:cNvGrpSpPr/>
          <p:nvPr/>
        </p:nvGrpSpPr>
        <p:grpSpPr>
          <a:xfrm>
            <a:off x="5680204" y="1644361"/>
            <a:ext cx="3256673" cy="1146701"/>
            <a:chOff x="4105958" y="3112942"/>
            <a:chExt cx="3256673" cy="1146701"/>
          </a:xfrm>
        </p:grpSpPr>
        <p:sp>
          <p:nvSpPr>
            <p:cNvPr id="29" name="Cloud Callout 28">
              <a:extLst>
                <a:ext uri="{FF2B5EF4-FFF2-40B4-BE49-F238E27FC236}">
                  <a16:creationId xmlns:a16="http://schemas.microsoft.com/office/drawing/2014/main" id="{222A3D63-C8FA-18B0-D191-E5BFCDDCB071}"/>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0" name="TextBox 29">
              <a:extLst>
                <a:ext uri="{FF2B5EF4-FFF2-40B4-BE49-F238E27FC236}">
                  <a16:creationId xmlns:a16="http://schemas.microsoft.com/office/drawing/2014/main" id="{2D0491F2-7E42-FBD7-9AAC-53121A5AC3C2}"/>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flagB</a:t>
              </a:r>
              <a:r>
                <a:rPr lang="en-US" sz="1600" i="1" dirty="0">
                  <a:solidFill>
                    <a:prstClr val="black"/>
                  </a:solidFill>
                </a:rPr>
                <a:t> == false and completes line 4</a:t>
              </a:r>
              <a:endParaRPr lang="en-US" sz="1600" dirty="0">
                <a:solidFill>
                  <a:srgbClr val="C00000"/>
                </a:solidFill>
              </a:endParaRPr>
            </a:p>
          </p:txBody>
        </p:sp>
        <p:sp>
          <p:nvSpPr>
            <p:cNvPr id="31" name="Oval 30">
              <a:extLst>
                <a:ext uri="{FF2B5EF4-FFF2-40B4-BE49-F238E27FC236}">
                  <a16:creationId xmlns:a16="http://schemas.microsoft.com/office/drawing/2014/main" id="{7D8D6719-6D77-2346-3CE4-62B171A991B1}"/>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32" name="Group 31">
            <a:extLst>
              <a:ext uri="{FF2B5EF4-FFF2-40B4-BE49-F238E27FC236}">
                <a16:creationId xmlns:a16="http://schemas.microsoft.com/office/drawing/2014/main" id="{FECEBA86-5985-B794-4842-5F8902AF505D}"/>
              </a:ext>
            </a:extLst>
          </p:cNvPr>
          <p:cNvGrpSpPr/>
          <p:nvPr/>
        </p:nvGrpSpPr>
        <p:grpSpPr>
          <a:xfrm>
            <a:off x="8502911" y="1685923"/>
            <a:ext cx="1550319" cy="1105902"/>
            <a:chOff x="6208226" y="3196069"/>
            <a:chExt cx="1550319" cy="1105902"/>
          </a:xfrm>
        </p:grpSpPr>
        <p:sp>
          <p:nvSpPr>
            <p:cNvPr id="33" name="Oval 32">
              <a:extLst>
                <a:ext uri="{FF2B5EF4-FFF2-40B4-BE49-F238E27FC236}">
                  <a16:creationId xmlns:a16="http://schemas.microsoft.com/office/drawing/2014/main" id="{E91BD46C-C08F-594F-A7A3-46C8824B446D}"/>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4" name="Cloud Callout 16">
              <a:extLst>
                <a:ext uri="{FF2B5EF4-FFF2-40B4-BE49-F238E27FC236}">
                  <a16:creationId xmlns:a16="http://schemas.microsoft.com/office/drawing/2014/main" id="{329C9855-900C-4AD5-63B1-71C196C3A1E9}"/>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5" name="TextBox 34">
              <a:extLst>
                <a:ext uri="{FF2B5EF4-FFF2-40B4-BE49-F238E27FC236}">
                  <a16:creationId xmlns:a16="http://schemas.microsoft.com/office/drawing/2014/main" id="{D2D3DF0E-9A76-9C78-5779-BDEDB816106D}"/>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grpSp>
        <p:nvGrpSpPr>
          <p:cNvPr id="36" name="Group 35">
            <a:extLst>
              <a:ext uri="{FF2B5EF4-FFF2-40B4-BE49-F238E27FC236}">
                <a16:creationId xmlns:a16="http://schemas.microsoft.com/office/drawing/2014/main" id="{18ACFD12-A36B-A435-1A37-CBCFC08029F5}"/>
              </a:ext>
            </a:extLst>
          </p:cNvPr>
          <p:cNvGrpSpPr/>
          <p:nvPr/>
        </p:nvGrpSpPr>
        <p:grpSpPr>
          <a:xfrm>
            <a:off x="7320985" y="3522775"/>
            <a:ext cx="1486965" cy="967502"/>
            <a:chOff x="5118108" y="3522775"/>
            <a:chExt cx="1486965" cy="967502"/>
          </a:xfrm>
        </p:grpSpPr>
        <p:sp>
          <p:nvSpPr>
            <p:cNvPr id="37" name="Cloud Callout 36">
              <a:extLst>
                <a:ext uri="{FF2B5EF4-FFF2-40B4-BE49-F238E27FC236}">
                  <a16:creationId xmlns:a16="http://schemas.microsoft.com/office/drawing/2014/main" id="{AADAB666-B6B4-B9A5-142F-7C0AED598B47}"/>
                </a:ext>
              </a:extLst>
            </p:cNvPr>
            <p:cNvSpPr/>
            <p:nvPr/>
          </p:nvSpPr>
          <p:spPr>
            <a:xfrm flipV="1">
              <a:off x="5138551" y="3858371"/>
              <a:ext cx="1466522" cy="631906"/>
            </a:xfrm>
            <a:prstGeom prst="cloudCallout">
              <a:avLst>
                <a:gd name="adj1" fmla="val -43783"/>
                <a:gd name="adj2" fmla="val 65251"/>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38" name="Oval 37">
              <a:extLst>
                <a:ext uri="{FF2B5EF4-FFF2-40B4-BE49-F238E27FC236}">
                  <a16:creationId xmlns:a16="http://schemas.microsoft.com/office/drawing/2014/main" id="{D572E9EC-3BDD-839D-B7CC-8361154E0513}"/>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9" name="TextBox 38">
              <a:extLst>
                <a:ext uri="{FF2B5EF4-FFF2-40B4-BE49-F238E27FC236}">
                  <a16:creationId xmlns:a16="http://schemas.microsoft.com/office/drawing/2014/main" id="{BBAB9058-7C4B-DB60-B723-A13B1FFCC104}"/>
                </a:ext>
              </a:extLst>
            </p:cNvPr>
            <p:cNvSpPr txBox="1"/>
            <p:nvPr/>
          </p:nvSpPr>
          <p:spPr>
            <a:xfrm>
              <a:off x="5524866" y="4015033"/>
              <a:ext cx="746071"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sp>
        <p:nvSpPr>
          <p:cNvPr id="40" name="Oval 39">
            <a:extLst>
              <a:ext uri="{FF2B5EF4-FFF2-40B4-BE49-F238E27FC236}">
                <a16:creationId xmlns:a16="http://schemas.microsoft.com/office/drawing/2014/main" id="{8B478438-6A21-78AA-DF72-6F3E00DBDB1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41" name="Oval 40">
            <a:extLst>
              <a:ext uri="{FF2B5EF4-FFF2-40B4-BE49-F238E27FC236}">
                <a16:creationId xmlns:a16="http://schemas.microsoft.com/office/drawing/2014/main" id="{2E48142E-E2E4-2020-D11C-13DE59DFE397}"/>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47" name="Group 46">
            <a:extLst>
              <a:ext uri="{FF2B5EF4-FFF2-40B4-BE49-F238E27FC236}">
                <a16:creationId xmlns:a16="http://schemas.microsoft.com/office/drawing/2014/main" id="{DD9ED9D1-5888-D340-3D85-957D13474090}"/>
              </a:ext>
            </a:extLst>
          </p:cNvPr>
          <p:cNvGrpSpPr/>
          <p:nvPr/>
        </p:nvGrpSpPr>
        <p:grpSpPr>
          <a:xfrm>
            <a:off x="4117594" y="3531282"/>
            <a:ext cx="3034986" cy="1385364"/>
            <a:chOff x="3094674" y="3522775"/>
            <a:chExt cx="3034986" cy="1385364"/>
          </a:xfrm>
        </p:grpSpPr>
        <p:sp>
          <p:nvSpPr>
            <p:cNvPr id="48" name="Cloud Callout 47">
              <a:extLst>
                <a:ext uri="{FF2B5EF4-FFF2-40B4-BE49-F238E27FC236}">
                  <a16:creationId xmlns:a16="http://schemas.microsoft.com/office/drawing/2014/main" id="{44D71D57-53A5-9AB8-B67C-B33696C25447}"/>
                </a:ext>
              </a:extLst>
            </p:cNvPr>
            <p:cNvSpPr/>
            <p:nvPr/>
          </p:nvSpPr>
          <p:spPr>
            <a:xfrm flipV="1">
              <a:off x="3094674" y="4031492"/>
              <a:ext cx="3034986" cy="876647"/>
            </a:xfrm>
            <a:prstGeom prst="cloudCallout">
              <a:avLst>
                <a:gd name="adj1" fmla="val 17883"/>
                <a:gd name="adj2" fmla="val 92118"/>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49" name="Oval 48">
              <a:extLst>
                <a:ext uri="{FF2B5EF4-FFF2-40B4-BE49-F238E27FC236}">
                  <a16:creationId xmlns:a16="http://schemas.microsoft.com/office/drawing/2014/main" id="{A826371B-8988-8EDE-B099-D8E22AA49076}"/>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50" name="TextBox 49">
              <a:extLst>
                <a:ext uri="{FF2B5EF4-FFF2-40B4-BE49-F238E27FC236}">
                  <a16:creationId xmlns:a16="http://schemas.microsoft.com/office/drawing/2014/main" id="{6F335E57-1ED6-10FC-0327-FA6DB9DDC5AA}"/>
                </a:ext>
              </a:extLst>
            </p:cNvPr>
            <p:cNvSpPr txBox="1"/>
            <p:nvPr/>
          </p:nvSpPr>
          <p:spPr>
            <a:xfrm>
              <a:off x="3508018" y="4196893"/>
              <a:ext cx="2112257"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flagA</a:t>
              </a:r>
              <a:r>
                <a:rPr lang="en-US" sz="1600" i="1" dirty="0">
                  <a:solidFill>
                    <a:prstClr val="black"/>
                  </a:solidFill>
                </a:rPr>
                <a:t> == false and completes line 4</a:t>
              </a:r>
              <a:endParaRPr lang="en-US" sz="1600" dirty="0">
                <a:solidFill>
                  <a:srgbClr val="C00000"/>
                </a:solidFill>
              </a:endParaRPr>
            </a:p>
          </p:txBody>
        </p:sp>
      </p:grpSp>
      <p:sp>
        <p:nvSpPr>
          <p:cNvPr id="2" name="Slide Number Placeholder 1">
            <a:extLst>
              <a:ext uri="{FF2B5EF4-FFF2-40B4-BE49-F238E27FC236}">
                <a16:creationId xmlns:a16="http://schemas.microsoft.com/office/drawing/2014/main" id="{D62BC2DE-8C98-DB90-474F-30D5DDCAD12D}"/>
              </a:ext>
            </a:extLst>
          </p:cNvPr>
          <p:cNvSpPr>
            <a:spLocks noGrp="1"/>
          </p:cNvSpPr>
          <p:nvPr>
            <p:ph type="sldNum" sz="quarter" idx="12"/>
          </p:nvPr>
        </p:nvSpPr>
        <p:spPr/>
        <p:txBody>
          <a:bodyPr/>
          <a:lstStyle/>
          <a:p>
            <a:fld id="{67FCC1A6-2294-BF46-A2F7-E6BDB92DF1BF}" type="slidenum">
              <a:rPr lang="en-US" smtClean="0"/>
              <a:t>14</a:t>
            </a:fld>
            <a:endParaRPr lang="en-US"/>
          </a:p>
        </p:txBody>
      </p:sp>
      <p:sp>
        <p:nvSpPr>
          <p:cNvPr id="3" name="Date Placeholder 2">
            <a:extLst>
              <a:ext uri="{FF2B5EF4-FFF2-40B4-BE49-F238E27FC236}">
                <a16:creationId xmlns:a16="http://schemas.microsoft.com/office/drawing/2014/main" id="{88BACE61-AE58-09D9-EBC5-B0CA424EAFD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230088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7B75B4-55BC-1A02-8C1B-7F8C8FD930A9}"/>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a:solidFill>
                  <a:schemeClr val="accent1">
                    <a:lumMod val="50000"/>
                  </a:schemeClr>
                </a:solidFill>
              </a:rPr>
              <a:t>check-competition: mutual exclusion property?</a:t>
            </a:r>
            <a:endParaRPr lang="sv-SE" sz="3600" b="1" dirty="0">
              <a:solidFill>
                <a:schemeClr val="accent1">
                  <a:lumMod val="50000"/>
                </a:schemeClr>
              </a:solidFill>
            </a:endParaRPr>
          </a:p>
        </p:txBody>
      </p:sp>
      <p:pic>
        <p:nvPicPr>
          <p:cNvPr id="14" name="Graphic 13">
            <a:extLst>
              <a:ext uri="{FF2B5EF4-FFF2-40B4-BE49-F238E27FC236}">
                <a16:creationId xmlns:a16="http://schemas.microsoft.com/office/drawing/2014/main" id="{687277A3-F6FD-3A16-60E8-CE997DDEF4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3218" y="1378707"/>
            <a:ext cx="3750935" cy="2595242"/>
          </a:xfrm>
          <a:prstGeom prst="rect">
            <a:avLst/>
          </a:prstGeom>
        </p:spPr>
      </p:pic>
      <p:cxnSp>
        <p:nvCxnSpPr>
          <p:cNvPr id="18" name="Straight Connector 17">
            <a:extLst>
              <a:ext uri="{FF2B5EF4-FFF2-40B4-BE49-F238E27FC236}">
                <a16:creationId xmlns:a16="http://schemas.microsoft.com/office/drawing/2014/main" id="{99328C07-C1B9-4B0F-EDC0-4815D60FD5A4}"/>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92BFE38-E5E7-C5EF-4516-5E236D933E79}"/>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C9E4D63-CA4E-7F68-3266-A1D2BE1479BE}"/>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26" name="Rectangle 25">
            <a:extLst>
              <a:ext uri="{FF2B5EF4-FFF2-40B4-BE49-F238E27FC236}">
                <a16:creationId xmlns:a16="http://schemas.microsoft.com/office/drawing/2014/main" id="{25CC3EA9-33A5-FFF5-082D-0A2947CCDFE7}"/>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28" name="Group 27">
            <a:extLst>
              <a:ext uri="{FF2B5EF4-FFF2-40B4-BE49-F238E27FC236}">
                <a16:creationId xmlns:a16="http://schemas.microsoft.com/office/drawing/2014/main" id="{41E44C87-40DE-66DC-2C91-687C77A59D0A}"/>
              </a:ext>
            </a:extLst>
          </p:cNvPr>
          <p:cNvGrpSpPr/>
          <p:nvPr/>
        </p:nvGrpSpPr>
        <p:grpSpPr>
          <a:xfrm>
            <a:off x="9224129" y="3902246"/>
            <a:ext cx="2037831" cy="369332"/>
            <a:chOff x="9352361" y="5886897"/>
            <a:chExt cx="2037831" cy="369332"/>
          </a:xfrm>
        </p:grpSpPr>
        <p:cxnSp>
          <p:nvCxnSpPr>
            <p:cNvPr id="29" name="Straight Arrow Connector 28">
              <a:extLst>
                <a:ext uri="{FF2B5EF4-FFF2-40B4-BE49-F238E27FC236}">
                  <a16:creationId xmlns:a16="http://schemas.microsoft.com/office/drawing/2014/main" id="{F760CD71-A479-7C04-DEFF-6004A92D868B}"/>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8BDB726-B1B4-81C2-0470-5EDBFB726547}"/>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grpSp>
        <p:nvGrpSpPr>
          <p:cNvPr id="31" name="Group 30">
            <a:extLst>
              <a:ext uri="{FF2B5EF4-FFF2-40B4-BE49-F238E27FC236}">
                <a16:creationId xmlns:a16="http://schemas.microsoft.com/office/drawing/2014/main" id="{2FC509CD-57E4-C335-20CA-2FDDDE450301}"/>
              </a:ext>
            </a:extLst>
          </p:cNvPr>
          <p:cNvGrpSpPr/>
          <p:nvPr/>
        </p:nvGrpSpPr>
        <p:grpSpPr>
          <a:xfrm>
            <a:off x="5680204" y="1644361"/>
            <a:ext cx="3256673" cy="1146701"/>
            <a:chOff x="4105958" y="3112942"/>
            <a:chExt cx="3256673" cy="1146701"/>
          </a:xfrm>
        </p:grpSpPr>
        <p:sp>
          <p:nvSpPr>
            <p:cNvPr id="32" name="Cloud Callout 31">
              <a:extLst>
                <a:ext uri="{FF2B5EF4-FFF2-40B4-BE49-F238E27FC236}">
                  <a16:creationId xmlns:a16="http://schemas.microsoft.com/office/drawing/2014/main" id="{6E92FF5F-CFFD-7605-50F1-83BAE556CFD9}"/>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3" name="TextBox 32">
              <a:extLst>
                <a:ext uri="{FF2B5EF4-FFF2-40B4-BE49-F238E27FC236}">
                  <a16:creationId xmlns:a16="http://schemas.microsoft.com/office/drawing/2014/main" id="{472B3F90-1D03-8A23-FAB6-70263E076E5B}"/>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flagB</a:t>
              </a:r>
              <a:r>
                <a:rPr lang="en-US" sz="1600" i="1" dirty="0">
                  <a:solidFill>
                    <a:prstClr val="black"/>
                  </a:solidFill>
                </a:rPr>
                <a:t> == false and completes line 4</a:t>
              </a:r>
              <a:endParaRPr lang="en-US" sz="1600" dirty="0">
                <a:solidFill>
                  <a:srgbClr val="C00000"/>
                </a:solidFill>
              </a:endParaRPr>
            </a:p>
          </p:txBody>
        </p:sp>
        <p:sp>
          <p:nvSpPr>
            <p:cNvPr id="34" name="Oval 33">
              <a:extLst>
                <a:ext uri="{FF2B5EF4-FFF2-40B4-BE49-F238E27FC236}">
                  <a16:creationId xmlns:a16="http://schemas.microsoft.com/office/drawing/2014/main" id="{350CF818-020F-A1E1-A5E2-F4D0D699622B}"/>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35" name="Group 34">
            <a:extLst>
              <a:ext uri="{FF2B5EF4-FFF2-40B4-BE49-F238E27FC236}">
                <a16:creationId xmlns:a16="http://schemas.microsoft.com/office/drawing/2014/main" id="{718A623D-4BBD-8913-EB61-E590BB911750}"/>
              </a:ext>
            </a:extLst>
          </p:cNvPr>
          <p:cNvGrpSpPr/>
          <p:nvPr/>
        </p:nvGrpSpPr>
        <p:grpSpPr>
          <a:xfrm>
            <a:off x="8502911" y="1685923"/>
            <a:ext cx="1550319" cy="1105902"/>
            <a:chOff x="6208226" y="3196069"/>
            <a:chExt cx="1550319" cy="1105902"/>
          </a:xfrm>
        </p:grpSpPr>
        <p:sp>
          <p:nvSpPr>
            <p:cNvPr id="36" name="Oval 35">
              <a:extLst>
                <a:ext uri="{FF2B5EF4-FFF2-40B4-BE49-F238E27FC236}">
                  <a16:creationId xmlns:a16="http://schemas.microsoft.com/office/drawing/2014/main" id="{35DC22B0-B75C-A26F-23DC-F4B45DF08624}"/>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7" name="Cloud Callout 16">
              <a:extLst>
                <a:ext uri="{FF2B5EF4-FFF2-40B4-BE49-F238E27FC236}">
                  <a16:creationId xmlns:a16="http://schemas.microsoft.com/office/drawing/2014/main" id="{DD3421A7-5FF3-F3A3-4DAB-657B06F9B2AA}"/>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8" name="TextBox 37">
              <a:extLst>
                <a:ext uri="{FF2B5EF4-FFF2-40B4-BE49-F238E27FC236}">
                  <a16:creationId xmlns:a16="http://schemas.microsoft.com/office/drawing/2014/main" id="{B79D0532-AE2D-084B-4D23-B97DC558AA06}"/>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grpSp>
        <p:nvGrpSpPr>
          <p:cNvPr id="39" name="Group 38">
            <a:extLst>
              <a:ext uri="{FF2B5EF4-FFF2-40B4-BE49-F238E27FC236}">
                <a16:creationId xmlns:a16="http://schemas.microsoft.com/office/drawing/2014/main" id="{8F026DBE-31CB-C844-C64E-AF78ADAD2B96}"/>
              </a:ext>
            </a:extLst>
          </p:cNvPr>
          <p:cNvGrpSpPr/>
          <p:nvPr/>
        </p:nvGrpSpPr>
        <p:grpSpPr>
          <a:xfrm>
            <a:off x="7320985" y="3522775"/>
            <a:ext cx="1486965" cy="967502"/>
            <a:chOff x="5118108" y="3522775"/>
            <a:chExt cx="1486965" cy="967502"/>
          </a:xfrm>
        </p:grpSpPr>
        <p:sp>
          <p:nvSpPr>
            <p:cNvPr id="40" name="Cloud Callout 39">
              <a:extLst>
                <a:ext uri="{FF2B5EF4-FFF2-40B4-BE49-F238E27FC236}">
                  <a16:creationId xmlns:a16="http://schemas.microsoft.com/office/drawing/2014/main" id="{10C2634F-7419-1220-2CE1-3D123C97905D}"/>
                </a:ext>
              </a:extLst>
            </p:cNvPr>
            <p:cNvSpPr/>
            <p:nvPr/>
          </p:nvSpPr>
          <p:spPr>
            <a:xfrm flipV="1">
              <a:off x="5138551" y="3858371"/>
              <a:ext cx="1466522" cy="631906"/>
            </a:xfrm>
            <a:prstGeom prst="cloudCallout">
              <a:avLst>
                <a:gd name="adj1" fmla="val -43783"/>
                <a:gd name="adj2" fmla="val 65251"/>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41" name="Oval 40">
              <a:extLst>
                <a:ext uri="{FF2B5EF4-FFF2-40B4-BE49-F238E27FC236}">
                  <a16:creationId xmlns:a16="http://schemas.microsoft.com/office/drawing/2014/main" id="{A772DBD4-F103-4D22-3598-A8F977948B75}"/>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42" name="TextBox 41">
              <a:extLst>
                <a:ext uri="{FF2B5EF4-FFF2-40B4-BE49-F238E27FC236}">
                  <a16:creationId xmlns:a16="http://schemas.microsoft.com/office/drawing/2014/main" id="{26FD0A47-739C-3AB6-08F9-AD34E45936DE}"/>
                </a:ext>
              </a:extLst>
            </p:cNvPr>
            <p:cNvSpPr txBox="1"/>
            <p:nvPr/>
          </p:nvSpPr>
          <p:spPr>
            <a:xfrm>
              <a:off x="5524866" y="4015033"/>
              <a:ext cx="746071"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sp>
        <p:nvSpPr>
          <p:cNvPr id="43" name="Oval 42">
            <a:extLst>
              <a:ext uri="{FF2B5EF4-FFF2-40B4-BE49-F238E27FC236}">
                <a16:creationId xmlns:a16="http://schemas.microsoft.com/office/drawing/2014/main" id="{B78B2D60-4EEA-566F-F1A2-D1613C7F4D6F}"/>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44" name="Oval 43">
            <a:extLst>
              <a:ext uri="{FF2B5EF4-FFF2-40B4-BE49-F238E27FC236}">
                <a16:creationId xmlns:a16="http://schemas.microsoft.com/office/drawing/2014/main" id="{01E796A2-9D78-C070-3990-AC2F1EA6D83C}"/>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45" name="Group 44">
            <a:extLst>
              <a:ext uri="{FF2B5EF4-FFF2-40B4-BE49-F238E27FC236}">
                <a16:creationId xmlns:a16="http://schemas.microsoft.com/office/drawing/2014/main" id="{EA2EE8B4-A556-9933-B352-9D05C0020A38}"/>
              </a:ext>
            </a:extLst>
          </p:cNvPr>
          <p:cNvGrpSpPr/>
          <p:nvPr/>
        </p:nvGrpSpPr>
        <p:grpSpPr>
          <a:xfrm>
            <a:off x="4117594" y="3531282"/>
            <a:ext cx="3034986" cy="1385364"/>
            <a:chOff x="3094674" y="3522775"/>
            <a:chExt cx="3034986" cy="1385364"/>
          </a:xfrm>
        </p:grpSpPr>
        <p:sp>
          <p:nvSpPr>
            <p:cNvPr id="46" name="Cloud Callout 45">
              <a:extLst>
                <a:ext uri="{FF2B5EF4-FFF2-40B4-BE49-F238E27FC236}">
                  <a16:creationId xmlns:a16="http://schemas.microsoft.com/office/drawing/2014/main" id="{4DC7EA10-479C-E0B4-0CD6-876E04999012}"/>
                </a:ext>
              </a:extLst>
            </p:cNvPr>
            <p:cNvSpPr/>
            <p:nvPr/>
          </p:nvSpPr>
          <p:spPr>
            <a:xfrm flipV="1">
              <a:off x="3094674" y="4031492"/>
              <a:ext cx="3034986" cy="876647"/>
            </a:xfrm>
            <a:prstGeom prst="cloudCallout">
              <a:avLst>
                <a:gd name="adj1" fmla="val 17883"/>
                <a:gd name="adj2" fmla="val 92118"/>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47" name="Oval 46">
              <a:extLst>
                <a:ext uri="{FF2B5EF4-FFF2-40B4-BE49-F238E27FC236}">
                  <a16:creationId xmlns:a16="http://schemas.microsoft.com/office/drawing/2014/main" id="{EC269BCF-6047-11CE-FFCF-7DDA77AFE886}"/>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48" name="TextBox 47">
              <a:extLst>
                <a:ext uri="{FF2B5EF4-FFF2-40B4-BE49-F238E27FC236}">
                  <a16:creationId xmlns:a16="http://schemas.microsoft.com/office/drawing/2014/main" id="{FA31F3DF-1F31-D8E9-CAB1-E9640B27F053}"/>
                </a:ext>
              </a:extLst>
            </p:cNvPr>
            <p:cNvSpPr txBox="1"/>
            <p:nvPr/>
          </p:nvSpPr>
          <p:spPr>
            <a:xfrm>
              <a:off x="3508018" y="4196893"/>
              <a:ext cx="2112257"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flagA</a:t>
              </a:r>
              <a:r>
                <a:rPr lang="en-US" sz="1600" i="1" dirty="0">
                  <a:solidFill>
                    <a:prstClr val="black"/>
                  </a:solidFill>
                </a:rPr>
                <a:t> == false and completes line 4</a:t>
              </a:r>
              <a:endParaRPr lang="en-US" sz="1600" dirty="0">
                <a:solidFill>
                  <a:srgbClr val="C00000"/>
                </a:solidFill>
              </a:endParaRPr>
            </a:p>
          </p:txBody>
        </p:sp>
      </p:grpSp>
      <p:pic>
        <p:nvPicPr>
          <p:cNvPr id="2" name="Picture 2" descr="383 Not Valid Stock Photos and Images - 123RF">
            <a:extLst>
              <a:ext uri="{FF2B5EF4-FFF2-40B4-BE49-F238E27FC236}">
                <a16:creationId xmlns:a16="http://schemas.microsoft.com/office/drawing/2014/main" id="{C0A396C6-A047-70E9-2D8A-CF4FDA686069}"/>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5827" y="1910679"/>
            <a:ext cx="3012716" cy="176076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2FB9892B-D2A6-8BD2-A104-E288ED076F92}"/>
              </a:ext>
            </a:extLst>
          </p:cNvPr>
          <p:cNvSpPr>
            <a:spLocks noGrp="1"/>
          </p:cNvSpPr>
          <p:nvPr>
            <p:ph type="sldNum" sz="quarter" idx="12"/>
          </p:nvPr>
        </p:nvSpPr>
        <p:spPr/>
        <p:txBody>
          <a:bodyPr/>
          <a:lstStyle/>
          <a:p>
            <a:fld id="{67FCC1A6-2294-BF46-A2F7-E6BDB92DF1BF}" type="slidenum">
              <a:rPr lang="en-US" smtClean="0"/>
              <a:t>15</a:t>
            </a:fld>
            <a:endParaRPr lang="en-US"/>
          </a:p>
        </p:txBody>
      </p:sp>
      <p:sp>
        <p:nvSpPr>
          <p:cNvPr id="4" name="Date Placeholder 3">
            <a:extLst>
              <a:ext uri="{FF2B5EF4-FFF2-40B4-BE49-F238E27FC236}">
                <a16:creationId xmlns:a16="http://schemas.microsoft.com/office/drawing/2014/main" id="{ECFAF097-B3E2-5D98-C024-627971509A33}"/>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130904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solidFill>
                  <a:schemeClr val="bg1">
                    <a:lumMod val="50000"/>
                  </a:schemeClr>
                </a:solidFill>
              </a:rPr>
              <a:t>The critical-section problem</a:t>
            </a:r>
          </a:p>
          <a:p>
            <a:pPr lvl="1"/>
            <a:r>
              <a:rPr lang="en-US" dirty="0">
                <a:solidFill>
                  <a:schemeClr val="bg1">
                    <a:lumMod val="50000"/>
                  </a:schemeClr>
                </a:solidFill>
              </a:rPr>
              <a:t>Check-competition approach</a:t>
            </a:r>
          </a:p>
          <a:p>
            <a:r>
              <a:rPr lang="en-US" dirty="0"/>
              <a:t>The check-order / after-you approach</a:t>
            </a:r>
          </a:p>
          <a:p>
            <a:r>
              <a:rPr lang="en-US" dirty="0">
                <a:solidFill>
                  <a:schemeClr val="bg1">
                    <a:lumMod val="50000"/>
                  </a:schemeClr>
                </a:solidFill>
              </a:rPr>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solidFill>
                  <a:schemeClr val="bg1">
                    <a:lumMod val="50000"/>
                  </a:schemeClr>
                </a:solidFill>
              </a:rPr>
              <a:t>Semaphores</a:t>
            </a: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8B9A5E63-8839-F55A-34E6-CF1384AC06AD}"/>
              </a:ext>
            </a:extLst>
          </p:cNvPr>
          <p:cNvSpPr>
            <a:spLocks noGrp="1"/>
          </p:cNvSpPr>
          <p:nvPr>
            <p:ph type="sldNum" sz="quarter" idx="12"/>
          </p:nvPr>
        </p:nvSpPr>
        <p:spPr/>
        <p:txBody>
          <a:bodyPr/>
          <a:lstStyle/>
          <a:p>
            <a:fld id="{67FCC1A6-2294-BF46-A2F7-E6BDB92DF1BF}" type="slidenum">
              <a:rPr lang="en-US" smtClean="0"/>
              <a:t>16</a:t>
            </a:fld>
            <a:endParaRPr lang="en-US"/>
          </a:p>
        </p:txBody>
      </p:sp>
      <p:sp>
        <p:nvSpPr>
          <p:cNvPr id="5" name="Date Placeholder 4">
            <a:extLst>
              <a:ext uri="{FF2B5EF4-FFF2-40B4-BE49-F238E27FC236}">
                <a16:creationId xmlns:a16="http://schemas.microsoft.com/office/drawing/2014/main" id="{BAF396B7-2BA7-F804-E6D1-FC7CD9081152}"/>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119580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Slide Number Placeholder 5"/>
          <p:cNvSpPr>
            <a:spLocks noGrp="1"/>
          </p:cNvSpPr>
          <p:nvPr>
            <p:ph type="sldNum" sz="quarter" idx="12"/>
          </p:nvPr>
        </p:nvSpPr>
        <p:spPr>
          <a:noFill/>
        </p:spPr>
        <p:txBody>
          <a:bodyPr/>
          <a:lstStyle/>
          <a:p>
            <a:fld id="{BD997C4C-CFCA-423C-90D6-F8FA7A7ED20E}" type="slidenum">
              <a:rPr lang="en-US" smtClean="0">
                <a:solidFill>
                  <a:prstClr val="black">
                    <a:tint val="75000"/>
                  </a:prstClr>
                </a:solidFill>
              </a:rPr>
              <a:pPr/>
              <a:t>17</a:t>
            </a:fld>
            <a:endParaRPr lang="en-US">
              <a:solidFill>
                <a:prstClr val="black">
                  <a:tint val="75000"/>
                </a:prstClr>
              </a:solidFill>
            </a:endParaRPr>
          </a:p>
        </p:txBody>
      </p:sp>
      <p:sp>
        <p:nvSpPr>
          <p:cNvPr id="14340" name="Rectangle 5"/>
          <p:cNvSpPr>
            <a:spLocks noGrp="1" noChangeArrowheads="1"/>
          </p:cNvSpPr>
          <p:nvPr>
            <p:ph type="body" idx="1"/>
          </p:nvPr>
        </p:nvSpPr>
        <p:spPr>
          <a:xfrm>
            <a:off x="3078480" y="1294305"/>
            <a:ext cx="6035040" cy="3832074"/>
          </a:xfrm>
          <a:noFill/>
          <a:effectLst/>
        </p:spPr>
        <p:style>
          <a:lnRef idx="1">
            <a:schemeClr val="dk1"/>
          </a:lnRef>
          <a:fillRef idx="2">
            <a:schemeClr val="dk1"/>
          </a:fillRef>
          <a:effectRef idx="1">
            <a:schemeClr val="dk1"/>
          </a:effectRef>
          <a:fontRef idx="minor">
            <a:schemeClr val="dk1"/>
          </a:fontRef>
        </p:style>
        <p:txBody>
          <a:bodyPr>
            <a:normAutofit/>
          </a:bodyPr>
          <a:lstStyle/>
          <a:p>
            <a:pPr marL="457200" indent="-457200">
              <a:lnSpc>
                <a:spcPct val="90000"/>
              </a:lnSpc>
              <a:buClr>
                <a:schemeClr val="tx1"/>
              </a:buClr>
              <a:buFont typeface="+mj-lt"/>
              <a:buAutoNum type="arabicPeriod"/>
              <a:tabLst>
                <a:tab pos="438150" algn="l"/>
                <a:tab pos="619125" algn="l"/>
                <a:tab pos="785813" algn="l"/>
              </a:tabLst>
            </a:pPr>
            <a:r>
              <a:rPr lang="en-US" sz="2200" dirty="0"/>
              <a:t>Shared </a:t>
            </a:r>
            <a:r>
              <a:rPr lang="en-US" sz="2200" b="1" dirty="0"/>
              <a:t>var</a:t>
            </a:r>
            <a:r>
              <a:rPr lang="en-US" sz="2200" dirty="0"/>
              <a:t> turn: (</a:t>
            </a:r>
            <a:r>
              <a:rPr lang="en-US" sz="2200" dirty="0" err="1"/>
              <a:t>idA</a:t>
            </a:r>
            <a:r>
              <a:rPr lang="en-US" sz="2200" dirty="0"/>
              <a:t>..</a:t>
            </a:r>
            <a:r>
              <a:rPr lang="en-US" sz="2200" dirty="0" err="1"/>
              <a:t>idB</a:t>
            </a:r>
            <a:r>
              <a:rPr lang="en-US" sz="2200" dirty="0"/>
              <a:t>)   // initially e.g. </a:t>
            </a:r>
            <a:r>
              <a:rPr lang="en-US" sz="2200" dirty="0" err="1"/>
              <a:t>idA</a:t>
            </a:r>
            <a:r>
              <a:rPr lang="en-US" sz="2200" dirty="0"/>
              <a:t> </a:t>
            </a:r>
            <a:r>
              <a:rPr lang="en-US" sz="2200" dirty="0">
                <a:solidFill>
                  <a:schemeClr val="bg1">
                    <a:lumMod val="50000"/>
                  </a:schemeClr>
                </a:solidFill>
              </a:rPr>
              <a:t>// indicates whose turn it is to enter CS</a:t>
            </a:r>
          </a:p>
          <a:p>
            <a:pPr marL="457200" lvl="0" indent="-457200">
              <a:buClr>
                <a:schemeClr val="tx1"/>
              </a:buClr>
              <a:buFont typeface="+mj-lt"/>
              <a:buAutoNum type="arabicPeriod"/>
              <a:tabLst>
                <a:tab pos="438150" algn="l"/>
                <a:tab pos="619125" algn="l"/>
                <a:tab pos="785813" algn="l"/>
              </a:tabLst>
            </a:pPr>
            <a:r>
              <a:rPr lang="en-US" sz="2200" dirty="0"/>
              <a:t>Thread A </a:t>
            </a:r>
            <a:r>
              <a:rPr lang="en-US" sz="2200" dirty="0">
                <a:solidFill>
                  <a:schemeClr val="bg1">
                    <a:lumMod val="65000"/>
                  </a:schemeClr>
                </a:solidFill>
              </a:rPr>
              <a:t> // B is symmetric</a:t>
            </a:r>
          </a:p>
          <a:p>
            <a:pPr marL="457200" indent="-457200">
              <a:lnSpc>
                <a:spcPct val="90000"/>
              </a:lnSpc>
              <a:buClr>
                <a:schemeClr val="tx1"/>
              </a:buClr>
              <a:buFont typeface="+mj-lt"/>
              <a:buAutoNum type="arabicPeriod"/>
              <a:tabLst>
                <a:tab pos="438150" algn="l"/>
                <a:tab pos="619125" algn="l"/>
                <a:tab pos="785813" algn="l"/>
              </a:tabLst>
            </a:pPr>
            <a:r>
              <a:rPr lang="en-US" sz="2200" b="1" dirty="0"/>
              <a:t>	repeat</a:t>
            </a:r>
            <a:endParaRPr lang="en-US" sz="2200" dirty="0"/>
          </a:p>
          <a:p>
            <a:pPr marL="457200" indent="-457200">
              <a:lnSpc>
                <a:spcPct val="90000"/>
              </a:lnSpc>
              <a:buClr>
                <a:schemeClr val="tx1"/>
              </a:buClr>
              <a:buFont typeface="+mj-lt"/>
              <a:buAutoNum type="arabicPeriod"/>
              <a:tabLst>
                <a:tab pos="438150" algn="l"/>
                <a:tab pos="619125" algn="l"/>
                <a:tab pos="785813" algn="l"/>
              </a:tabLst>
            </a:pPr>
            <a:r>
              <a:rPr lang="en-US" sz="2200" dirty="0">
                <a:solidFill>
                  <a:srgbClr val="C00000"/>
                </a:solidFill>
              </a:rPr>
              <a:t>		</a:t>
            </a:r>
            <a:r>
              <a:rPr lang="en-US" sz="2200" b="1" dirty="0">
                <a:solidFill>
                  <a:srgbClr val="C00000"/>
                </a:solidFill>
              </a:rPr>
              <a:t>while</a:t>
            </a:r>
            <a:r>
              <a:rPr lang="en-US" sz="2200" dirty="0">
                <a:solidFill>
                  <a:srgbClr val="C00000"/>
                </a:solidFill>
              </a:rPr>
              <a:t> turn </a:t>
            </a:r>
            <a:r>
              <a:rPr lang="en-US" sz="2200" dirty="0">
                <a:solidFill>
                  <a:srgbClr val="C00000"/>
                </a:solidFill>
                <a:sym typeface="Symbol" pitchFamily="18" charset="2"/>
              </a:rPr>
              <a:t> </a:t>
            </a:r>
            <a:r>
              <a:rPr lang="en-US" sz="2200" dirty="0" err="1">
                <a:solidFill>
                  <a:srgbClr val="C00000"/>
                </a:solidFill>
                <a:sym typeface="Symbol" pitchFamily="18" charset="2"/>
              </a:rPr>
              <a:t>idA</a:t>
            </a:r>
            <a:r>
              <a:rPr lang="en-US" sz="2200" dirty="0">
                <a:solidFill>
                  <a:srgbClr val="C00000"/>
                </a:solidFill>
                <a:sym typeface="Symbol" pitchFamily="18" charset="2"/>
              </a:rPr>
              <a:t> </a:t>
            </a:r>
            <a:r>
              <a:rPr lang="en-US" sz="2200" b="1" dirty="0">
                <a:solidFill>
                  <a:srgbClr val="C00000"/>
                </a:solidFill>
                <a:sym typeface="Symbol" pitchFamily="18" charset="2"/>
              </a:rPr>
              <a:t>do</a:t>
            </a:r>
            <a:r>
              <a:rPr lang="en-US" sz="2200" dirty="0">
                <a:solidFill>
                  <a:srgbClr val="C00000"/>
                </a:solidFill>
                <a:sym typeface="Symbol" pitchFamily="18" charset="2"/>
              </a:rPr>
              <a:t> [nothing] </a:t>
            </a:r>
            <a:r>
              <a:rPr lang="en-US" sz="2200" dirty="0">
                <a:sym typeface="Symbol" pitchFamily="18" charset="2"/>
              </a:rPr>
              <a:t> </a:t>
            </a:r>
            <a:r>
              <a:rPr lang="en-US" sz="2200" dirty="0">
                <a:solidFill>
                  <a:schemeClr val="bg1">
                    <a:lumMod val="65000"/>
                  </a:schemeClr>
                </a:solidFill>
                <a:sym typeface="Symbol" pitchFamily="18" charset="2"/>
              </a:rPr>
              <a:t>//busy-wait</a:t>
            </a:r>
          </a:p>
          <a:p>
            <a:pPr marL="457200" indent="-457200">
              <a:lnSpc>
                <a:spcPct val="90000"/>
              </a:lnSpc>
              <a:buClr>
                <a:schemeClr val="tx1"/>
              </a:buClr>
              <a:buFont typeface="+mj-lt"/>
              <a:buAutoNum type="arabicPeriod"/>
              <a:tabLst>
                <a:tab pos="438150" algn="l"/>
                <a:tab pos="619125" algn="l"/>
                <a:tab pos="785813" algn="l"/>
              </a:tabLst>
            </a:pPr>
            <a:r>
              <a:rPr lang="en-US" sz="2200" dirty="0">
                <a:sym typeface="Symbol" pitchFamily="18" charset="2"/>
              </a:rPr>
              <a:t>		[critical section]</a:t>
            </a:r>
          </a:p>
          <a:p>
            <a:pPr marL="457200" indent="-457200">
              <a:lnSpc>
                <a:spcPct val="90000"/>
              </a:lnSpc>
              <a:buClr>
                <a:schemeClr val="tx1"/>
              </a:buClr>
              <a:buFont typeface="+mj-lt"/>
              <a:buAutoNum type="arabicPeriod"/>
              <a:tabLst>
                <a:tab pos="438150" algn="l"/>
                <a:tab pos="619125" algn="l"/>
                <a:tab pos="785813" algn="l"/>
              </a:tabLst>
            </a:pPr>
            <a:r>
              <a:rPr lang="en-US" sz="2200" dirty="0">
                <a:solidFill>
                  <a:srgbClr val="C00000"/>
                </a:solidFill>
                <a:sym typeface="Symbol" pitchFamily="18" charset="2"/>
              </a:rPr>
              <a:t>		turn ← </a:t>
            </a:r>
            <a:r>
              <a:rPr lang="en-US" sz="2200" dirty="0" err="1">
                <a:solidFill>
                  <a:srgbClr val="C00000"/>
                </a:solidFill>
                <a:sym typeface="Symbol" pitchFamily="18" charset="2"/>
              </a:rPr>
              <a:t>idB</a:t>
            </a:r>
            <a:endParaRPr lang="en-US" sz="2200" dirty="0">
              <a:solidFill>
                <a:srgbClr val="C00000"/>
              </a:solidFill>
              <a:sym typeface="Symbol" pitchFamily="18" charset="2"/>
            </a:endParaRPr>
          </a:p>
          <a:p>
            <a:pPr marL="457200" indent="-457200">
              <a:lnSpc>
                <a:spcPct val="90000"/>
              </a:lnSpc>
              <a:buClr>
                <a:schemeClr val="tx1"/>
              </a:buClr>
              <a:buFont typeface="+mj-lt"/>
              <a:buAutoNum type="arabicPeriod"/>
              <a:tabLst>
                <a:tab pos="438150" algn="l"/>
                <a:tab pos="619125" algn="l"/>
                <a:tab pos="785813" algn="l"/>
              </a:tabLst>
            </a:pPr>
            <a:r>
              <a:rPr lang="en-US" sz="2200" dirty="0">
                <a:sym typeface="Symbol" pitchFamily="18" charset="2"/>
              </a:rPr>
              <a:t>		[remainder section]</a:t>
            </a:r>
          </a:p>
          <a:p>
            <a:pPr marL="457200" indent="-457200">
              <a:lnSpc>
                <a:spcPct val="90000"/>
              </a:lnSpc>
              <a:buClr>
                <a:schemeClr val="tx1"/>
              </a:buClr>
              <a:buFont typeface="+mj-lt"/>
              <a:buAutoNum type="arabicPeriod"/>
              <a:tabLst>
                <a:tab pos="438150" algn="l"/>
                <a:tab pos="619125" algn="l"/>
                <a:tab pos="785813" algn="l"/>
              </a:tabLst>
            </a:pPr>
            <a:r>
              <a:rPr lang="en-US" sz="2200" dirty="0">
                <a:sym typeface="Symbol" pitchFamily="18" charset="2"/>
              </a:rPr>
              <a:t>    </a:t>
            </a:r>
            <a:r>
              <a:rPr lang="en-US" sz="2200" b="1" dirty="0">
                <a:sym typeface="Symbol" pitchFamily="18" charset="2"/>
              </a:rPr>
              <a:t>forever</a:t>
            </a:r>
            <a:endParaRPr lang="en-US" sz="2200" dirty="0">
              <a:solidFill>
                <a:schemeClr val="accent2"/>
              </a:solidFill>
            </a:endParaRPr>
          </a:p>
        </p:txBody>
      </p:sp>
      <p:sp>
        <p:nvSpPr>
          <p:cNvPr id="9" name="Title 1"/>
          <p:cNvSpPr txBox="1">
            <a:spLocks/>
          </p:cNvSpPr>
          <p:nvPr/>
        </p:nvSpPr>
        <p:spPr bwMode="auto">
          <a:xfrm>
            <a:off x="527381" y="130324"/>
            <a:ext cx="10959008" cy="57606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kern="1200">
                <a:solidFill>
                  <a:schemeClr val="accent1">
                    <a:lumMod val="50000"/>
                  </a:schemeClr>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dirty="0"/>
              <a:t>check-order (</a:t>
            </a:r>
            <a:r>
              <a:rPr lang="en-US" i="1" dirty="0"/>
              <a:t>after-you</a:t>
            </a:r>
            <a:r>
              <a:rPr lang="en-US" dirty="0"/>
              <a:t>) approach</a:t>
            </a:r>
            <a:endParaRPr lang="sv-SE" dirty="0"/>
          </a:p>
        </p:txBody>
      </p:sp>
      <p:sp>
        <p:nvSpPr>
          <p:cNvPr id="2" name="Date Placeholder 1">
            <a:extLst>
              <a:ext uri="{FF2B5EF4-FFF2-40B4-BE49-F238E27FC236}">
                <a16:creationId xmlns:a16="http://schemas.microsoft.com/office/drawing/2014/main" id="{5003AEA0-F203-64A8-9AD8-2542C4C05961}"/>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611044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AA73C85-A595-C5B4-9326-15DA6160E1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618" y="1654214"/>
            <a:ext cx="3513698" cy="2251873"/>
          </a:xfrm>
          <a:prstGeom prst="rect">
            <a:avLst/>
          </a:prstGeom>
        </p:spPr>
      </p:pic>
      <p:sp>
        <p:nvSpPr>
          <p:cNvPr id="13" name="Title 1">
            <a:extLst>
              <a:ext uri="{FF2B5EF4-FFF2-40B4-BE49-F238E27FC236}">
                <a16:creationId xmlns:a16="http://schemas.microsoft.com/office/drawing/2014/main" id="{C8FA16F6-ACDA-54FA-BAA4-0658EB0B1443}"/>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check-order: mutual exclusion property?</a:t>
            </a:r>
            <a:endParaRPr lang="sv-SE" sz="3600" b="1" dirty="0">
              <a:solidFill>
                <a:schemeClr val="accent1">
                  <a:lumMod val="50000"/>
                </a:schemeClr>
              </a:solidFill>
            </a:endParaRPr>
          </a:p>
        </p:txBody>
      </p:sp>
      <p:cxnSp>
        <p:nvCxnSpPr>
          <p:cNvPr id="14" name="Straight Connector 13">
            <a:extLst>
              <a:ext uri="{FF2B5EF4-FFF2-40B4-BE49-F238E27FC236}">
                <a16:creationId xmlns:a16="http://schemas.microsoft.com/office/drawing/2014/main" id="{FBDC4891-B30F-D74A-1918-7A980975A595}"/>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F887BF7-F2A3-0182-19EB-EFDBEBB499EF}"/>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5249718C-CA2C-9E89-04EA-D742338CB59B}"/>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19" name="Rectangle 18">
            <a:extLst>
              <a:ext uri="{FF2B5EF4-FFF2-40B4-BE49-F238E27FC236}">
                <a16:creationId xmlns:a16="http://schemas.microsoft.com/office/drawing/2014/main" id="{538E3829-F958-9C0B-1138-8D877D650054}"/>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22" name="Group 21">
            <a:extLst>
              <a:ext uri="{FF2B5EF4-FFF2-40B4-BE49-F238E27FC236}">
                <a16:creationId xmlns:a16="http://schemas.microsoft.com/office/drawing/2014/main" id="{82666BAD-5702-8A2C-0B8C-AC60D48DC8A8}"/>
              </a:ext>
            </a:extLst>
          </p:cNvPr>
          <p:cNvGrpSpPr/>
          <p:nvPr/>
        </p:nvGrpSpPr>
        <p:grpSpPr>
          <a:xfrm>
            <a:off x="9224129" y="3902246"/>
            <a:ext cx="2037831" cy="369332"/>
            <a:chOff x="9352361" y="5886897"/>
            <a:chExt cx="2037831" cy="369332"/>
          </a:xfrm>
        </p:grpSpPr>
        <p:cxnSp>
          <p:nvCxnSpPr>
            <p:cNvPr id="24" name="Straight Arrow Connector 23">
              <a:extLst>
                <a:ext uri="{FF2B5EF4-FFF2-40B4-BE49-F238E27FC236}">
                  <a16:creationId xmlns:a16="http://schemas.microsoft.com/office/drawing/2014/main" id="{0DD36D7C-C336-4A7E-5385-38BBDB6B4F4B}"/>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FC463EB-393C-D34C-50D8-28687C7EE023}"/>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26" name="Oval 25">
            <a:extLst>
              <a:ext uri="{FF2B5EF4-FFF2-40B4-BE49-F238E27FC236}">
                <a16:creationId xmlns:a16="http://schemas.microsoft.com/office/drawing/2014/main" id="{63A687AD-FB1C-2190-6DF4-DAD9DB67A4B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7" name="Oval 26">
            <a:extLst>
              <a:ext uri="{FF2B5EF4-FFF2-40B4-BE49-F238E27FC236}">
                <a16:creationId xmlns:a16="http://schemas.microsoft.com/office/drawing/2014/main" id="{7B976F2F-E145-ABD0-E532-72DC887A7D09}"/>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28" name="Group 27">
            <a:extLst>
              <a:ext uri="{FF2B5EF4-FFF2-40B4-BE49-F238E27FC236}">
                <a16:creationId xmlns:a16="http://schemas.microsoft.com/office/drawing/2014/main" id="{C39251E1-8E3C-46AA-8919-9344D20DD13D}"/>
              </a:ext>
            </a:extLst>
          </p:cNvPr>
          <p:cNvGrpSpPr/>
          <p:nvPr/>
        </p:nvGrpSpPr>
        <p:grpSpPr>
          <a:xfrm>
            <a:off x="5680204" y="1644361"/>
            <a:ext cx="3256673" cy="1146701"/>
            <a:chOff x="4105958" y="3112942"/>
            <a:chExt cx="3256673" cy="1146701"/>
          </a:xfrm>
        </p:grpSpPr>
        <p:sp>
          <p:nvSpPr>
            <p:cNvPr id="29" name="Cloud Callout 28">
              <a:extLst>
                <a:ext uri="{FF2B5EF4-FFF2-40B4-BE49-F238E27FC236}">
                  <a16:creationId xmlns:a16="http://schemas.microsoft.com/office/drawing/2014/main" id="{E1C57AB8-66A5-6C5A-7363-9F9738D79A07}"/>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0" name="TextBox 29">
              <a:extLst>
                <a:ext uri="{FF2B5EF4-FFF2-40B4-BE49-F238E27FC236}">
                  <a16:creationId xmlns:a16="http://schemas.microsoft.com/office/drawing/2014/main" id="{F29E9079-BA0C-F40C-DE5B-2861E1123A18}"/>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turn==A and completes line 4</a:t>
              </a:r>
              <a:endParaRPr lang="en-US" sz="1600" dirty="0">
                <a:solidFill>
                  <a:srgbClr val="C00000"/>
                </a:solidFill>
              </a:endParaRPr>
            </a:p>
          </p:txBody>
        </p:sp>
        <p:sp>
          <p:nvSpPr>
            <p:cNvPr id="31" name="Oval 30">
              <a:extLst>
                <a:ext uri="{FF2B5EF4-FFF2-40B4-BE49-F238E27FC236}">
                  <a16:creationId xmlns:a16="http://schemas.microsoft.com/office/drawing/2014/main" id="{1C727056-A06B-E7C7-9E52-DD19A3251AD1}"/>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32" name="Group 31">
            <a:extLst>
              <a:ext uri="{FF2B5EF4-FFF2-40B4-BE49-F238E27FC236}">
                <a16:creationId xmlns:a16="http://schemas.microsoft.com/office/drawing/2014/main" id="{8D42CAEE-E389-FB98-30CB-1631680E5EF3}"/>
              </a:ext>
            </a:extLst>
          </p:cNvPr>
          <p:cNvGrpSpPr/>
          <p:nvPr/>
        </p:nvGrpSpPr>
        <p:grpSpPr>
          <a:xfrm>
            <a:off x="6220714" y="3531282"/>
            <a:ext cx="3034986" cy="1385364"/>
            <a:chOff x="3094674" y="3522775"/>
            <a:chExt cx="3034986" cy="1385364"/>
          </a:xfrm>
        </p:grpSpPr>
        <p:sp>
          <p:nvSpPr>
            <p:cNvPr id="33" name="Cloud Callout 32">
              <a:extLst>
                <a:ext uri="{FF2B5EF4-FFF2-40B4-BE49-F238E27FC236}">
                  <a16:creationId xmlns:a16="http://schemas.microsoft.com/office/drawing/2014/main" id="{4672CAA0-6E9B-77B5-2191-741850CCC616}"/>
                </a:ext>
              </a:extLst>
            </p:cNvPr>
            <p:cNvSpPr/>
            <p:nvPr/>
          </p:nvSpPr>
          <p:spPr>
            <a:xfrm flipV="1">
              <a:off x="3094674" y="4031492"/>
              <a:ext cx="3034986" cy="876647"/>
            </a:xfrm>
            <a:prstGeom prst="cloudCallout">
              <a:avLst>
                <a:gd name="adj1" fmla="val 17883"/>
                <a:gd name="adj2" fmla="val 92118"/>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34" name="Oval 33">
              <a:extLst>
                <a:ext uri="{FF2B5EF4-FFF2-40B4-BE49-F238E27FC236}">
                  <a16:creationId xmlns:a16="http://schemas.microsoft.com/office/drawing/2014/main" id="{C134AEDB-083F-5ECE-1506-787E375EF63F}"/>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5" name="TextBox 34">
              <a:extLst>
                <a:ext uri="{FF2B5EF4-FFF2-40B4-BE49-F238E27FC236}">
                  <a16:creationId xmlns:a16="http://schemas.microsoft.com/office/drawing/2014/main" id="{59884A3E-4CFD-AD2F-AEE3-D25996BAA6D0}"/>
                </a:ext>
              </a:extLst>
            </p:cNvPr>
            <p:cNvSpPr txBox="1"/>
            <p:nvPr/>
          </p:nvSpPr>
          <p:spPr>
            <a:xfrm>
              <a:off x="3508018" y="4196893"/>
              <a:ext cx="2112257"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turn==B and completes line 4</a:t>
              </a:r>
              <a:endParaRPr lang="en-US" sz="1600" dirty="0">
                <a:solidFill>
                  <a:srgbClr val="C00000"/>
                </a:solidFill>
              </a:endParaRPr>
            </a:p>
          </p:txBody>
        </p:sp>
      </p:grpSp>
      <p:pic>
        <p:nvPicPr>
          <p:cNvPr id="40" name="Picture 39" descr="A picture containing text&#10;&#10;Description automatically generated">
            <a:extLst>
              <a:ext uri="{FF2B5EF4-FFF2-40B4-BE49-F238E27FC236}">
                <a16:creationId xmlns:a16="http://schemas.microsoft.com/office/drawing/2014/main" id="{DE960915-6D40-E507-A149-CAE9537C8F09}"/>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4581016" y="2810326"/>
            <a:ext cx="3372436" cy="1896995"/>
          </a:xfrm>
          <a:prstGeom prst="rect">
            <a:avLst/>
          </a:prstGeom>
        </p:spPr>
      </p:pic>
      <p:sp>
        <p:nvSpPr>
          <p:cNvPr id="2" name="Slide Number Placeholder 1">
            <a:extLst>
              <a:ext uri="{FF2B5EF4-FFF2-40B4-BE49-F238E27FC236}">
                <a16:creationId xmlns:a16="http://schemas.microsoft.com/office/drawing/2014/main" id="{A07C8584-1C9C-233A-E2F9-6787D21C63EB}"/>
              </a:ext>
            </a:extLst>
          </p:cNvPr>
          <p:cNvSpPr>
            <a:spLocks noGrp="1"/>
          </p:cNvSpPr>
          <p:nvPr>
            <p:ph type="sldNum" sz="quarter" idx="12"/>
          </p:nvPr>
        </p:nvSpPr>
        <p:spPr/>
        <p:txBody>
          <a:bodyPr/>
          <a:lstStyle/>
          <a:p>
            <a:fld id="{67FCC1A6-2294-BF46-A2F7-E6BDB92DF1BF}" type="slidenum">
              <a:rPr lang="en-US" smtClean="0"/>
              <a:t>18</a:t>
            </a:fld>
            <a:endParaRPr lang="en-US"/>
          </a:p>
        </p:txBody>
      </p:sp>
      <p:sp>
        <p:nvSpPr>
          <p:cNvPr id="3" name="Date Placeholder 2">
            <a:extLst>
              <a:ext uri="{FF2B5EF4-FFF2-40B4-BE49-F238E27FC236}">
                <a16:creationId xmlns:a16="http://schemas.microsoft.com/office/drawing/2014/main" id="{1FC5CCF7-1409-935C-C59A-7C458F4070A3}"/>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031116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8F78E6F-4923-6259-8867-70B9B9AA83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618" y="1654214"/>
            <a:ext cx="3513698" cy="2251873"/>
          </a:xfrm>
          <a:prstGeom prst="rect">
            <a:avLst/>
          </a:prstGeom>
        </p:spPr>
      </p:pic>
      <p:cxnSp>
        <p:nvCxnSpPr>
          <p:cNvPr id="5" name="Straight Connector 4">
            <a:extLst>
              <a:ext uri="{FF2B5EF4-FFF2-40B4-BE49-F238E27FC236}">
                <a16:creationId xmlns:a16="http://schemas.microsoft.com/office/drawing/2014/main" id="{0748FF3D-4F42-3DCD-1465-85F3E4246B6F}"/>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C8CA7AE-2903-1DEF-43A8-4874CF1D7249}"/>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EDF666C-1CED-FA65-91EA-29C8F39065D2}"/>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13" name="Rectangle 12">
            <a:extLst>
              <a:ext uri="{FF2B5EF4-FFF2-40B4-BE49-F238E27FC236}">
                <a16:creationId xmlns:a16="http://schemas.microsoft.com/office/drawing/2014/main" id="{8C49F92F-21CF-C6E1-119E-5D3DD73BE7F4}"/>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14" name="Group 13">
            <a:extLst>
              <a:ext uri="{FF2B5EF4-FFF2-40B4-BE49-F238E27FC236}">
                <a16:creationId xmlns:a16="http://schemas.microsoft.com/office/drawing/2014/main" id="{B634FA6C-0619-5BA0-F35D-249B6448BFFF}"/>
              </a:ext>
            </a:extLst>
          </p:cNvPr>
          <p:cNvGrpSpPr/>
          <p:nvPr/>
        </p:nvGrpSpPr>
        <p:grpSpPr>
          <a:xfrm>
            <a:off x="9224129" y="3902246"/>
            <a:ext cx="2037831" cy="369332"/>
            <a:chOff x="9352361" y="5886897"/>
            <a:chExt cx="2037831" cy="369332"/>
          </a:xfrm>
        </p:grpSpPr>
        <p:cxnSp>
          <p:nvCxnSpPr>
            <p:cNvPr id="16" name="Straight Arrow Connector 15">
              <a:extLst>
                <a:ext uri="{FF2B5EF4-FFF2-40B4-BE49-F238E27FC236}">
                  <a16:creationId xmlns:a16="http://schemas.microsoft.com/office/drawing/2014/main" id="{93F18986-3AD5-7F82-CF20-E9772C525DDC}"/>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3193AB5-805A-F8FC-EA02-6AFEF30AA262}"/>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19" name="Oval 18">
            <a:extLst>
              <a:ext uri="{FF2B5EF4-FFF2-40B4-BE49-F238E27FC236}">
                <a16:creationId xmlns:a16="http://schemas.microsoft.com/office/drawing/2014/main" id="{B3A1B63C-72A5-CEC7-1202-5AA6BA71D5F4}"/>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2" name="Oval 21">
            <a:extLst>
              <a:ext uri="{FF2B5EF4-FFF2-40B4-BE49-F238E27FC236}">
                <a16:creationId xmlns:a16="http://schemas.microsoft.com/office/drawing/2014/main" id="{331BD4A0-AAD0-C84D-14FC-E5D82A70D325}"/>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24" name="Group 23">
            <a:extLst>
              <a:ext uri="{FF2B5EF4-FFF2-40B4-BE49-F238E27FC236}">
                <a16:creationId xmlns:a16="http://schemas.microsoft.com/office/drawing/2014/main" id="{4D6D983B-5007-AC40-1DA0-729D75A080E6}"/>
              </a:ext>
            </a:extLst>
          </p:cNvPr>
          <p:cNvGrpSpPr/>
          <p:nvPr/>
        </p:nvGrpSpPr>
        <p:grpSpPr>
          <a:xfrm>
            <a:off x="5511983" y="1066205"/>
            <a:ext cx="2795849" cy="1724857"/>
            <a:chOff x="3937737" y="2534786"/>
            <a:chExt cx="2795849" cy="1724857"/>
          </a:xfrm>
        </p:grpSpPr>
        <p:sp>
          <p:nvSpPr>
            <p:cNvPr id="25" name="Cloud Callout 24">
              <a:extLst>
                <a:ext uri="{FF2B5EF4-FFF2-40B4-BE49-F238E27FC236}">
                  <a16:creationId xmlns:a16="http://schemas.microsoft.com/office/drawing/2014/main" id="{8C07552F-8464-87F8-BC23-4FD3D0352FA7}"/>
                </a:ext>
              </a:extLst>
            </p:cNvPr>
            <p:cNvSpPr/>
            <p:nvPr/>
          </p:nvSpPr>
          <p:spPr>
            <a:xfrm>
              <a:off x="3937737" y="2534786"/>
              <a:ext cx="2795849" cy="1024288"/>
            </a:xfrm>
            <a:prstGeom prst="cloudCallout">
              <a:avLst>
                <a:gd name="adj1" fmla="val -40421"/>
                <a:gd name="adj2" fmla="val 10460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6" name="TextBox 25">
              <a:extLst>
                <a:ext uri="{FF2B5EF4-FFF2-40B4-BE49-F238E27FC236}">
                  <a16:creationId xmlns:a16="http://schemas.microsoft.com/office/drawing/2014/main" id="{7E5378AF-5792-79E8-C026-E48A5CC4B5BD}"/>
                </a:ext>
              </a:extLst>
            </p:cNvPr>
            <p:cNvSpPr txBox="1"/>
            <p:nvPr/>
          </p:nvSpPr>
          <p:spPr>
            <a:xfrm>
              <a:off x="4345176" y="2725964"/>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turn==A and completes line 4</a:t>
              </a:r>
              <a:endParaRPr lang="en-US" sz="1600" dirty="0">
                <a:solidFill>
                  <a:srgbClr val="C00000"/>
                </a:solidFill>
              </a:endParaRPr>
            </a:p>
          </p:txBody>
        </p:sp>
        <p:sp>
          <p:nvSpPr>
            <p:cNvPr id="27" name="Oval 26">
              <a:extLst>
                <a:ext uri="{FF2B5EF4-FFF2-40B4-BE49-F238E27FC236}">
                  <a16:creationId xmlns:a16="http://schemas.microsoft.com/office/drawing/2014/main" id="{6B2C42A3-509D-96CC-A627-FF9067145FB3}"/>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28" name="Group 27">
            <a:extLst>
              <a:ext uri="{FF2B5EF4-FFF2-40B4-BE49-F238E27FC236}">
                <a16:creationId xmlns:a16="http://schemas.microsoft.com/office/drawing/2014/main" id="{477A9F86-CD31-42BC-9802-C7BD2EE942B4}"/>
              </a:ext>
            </a:extLst>
          </p:cNvPr>
          <p:cNvGrpSpPr/>
          <p:nvPr/>
        </p:nvGrpSpPr>
        <p:grpSpPr>
          <a:xfrm>
            <a:off x="5511983" y="3531282"/>
            <a:ext cx="3034986" cy="1259699"/>
            <a:chOff x="2385943" y="3522775"/>
            <a:chExt cx="3034986" cy="1259699"/>
          </a:xfrm>
        </p:grpSpPr>
        <p:sp>
          <p:nvSpPr>
            <p:cNvPr id="29" name="Cloud Callout 28">
              <a:extLst>
                <a:ext uri="{FF2B5EF4-FFF2-40B4-BE49-F238E27FC236}">
                  <a16:creationId xmlns:a16="http://schemas.microsoft.com/office/drawing/2014/main" id="{D17C0668-D3E7-EEB4-FF49-F9D859D136BC}"/>
                </a:ext>
              </a:extLst>
            </p:cNvPr>
            <p:cNvSpPr/>
            <p:nvPr/>
          </p:nvSpPr>
          <p:spPr>
            <a:xfrm flipV="1">
              <a:off x="2385943" y="3905827"/>
              <a:ext cx="3034986" cy="876647"/>
            </a:xfrm>
            <a:prstGeom prst="cloudCallout">
              <a:avLst>
                <a:gd name="adj1" fmla="val 41140"/>
                <a:gd name="adj2" fmla="val 79308"/>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30" name="Oval 29">
              <a:extLst>
                <a:ext uri="{FF2B5EF4-FFF2-40B4-BE49-F238E27FC236}">
                  <a16:creationId xmlns:a16="http://schemas.microsoft.com/office/drawing/2014/main" id="{AC0F90BF-5F8D-3C98-20E6-BEE8C7BA89BB}"/>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1" name="TextBox 30">
              <a:extLst>
                <a:ext uri="{FF2B5EF4-FFF2-40B4-BE49-F238E27FC236}">
                  <a16:creationId xmlns:a16="http://schemas.microsoft.com/office/drawing/2014/main" id="{0D01F92B-E7D1-B002-6D43-A552A016C83D}"/>
                </a:ext>
              </a:extLst>
            </p:cNvPr>
            <p:cNvSpPr txBox="1"/>
            <p:nvPr/>
          </p:nvSpPr>
          <p:spPr>
            <a:xfrm>
              <a:off x="2799287" y="4071228"/>
              <a:ext cx="2112257"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turn==B and completes line 4</a:t>
              </a:r>
              <a:endParaRPr lang="en-US" sz="1600" dirty="0">
                <a:solidFill>
                  <a:srgbClr val="C00000"/>
                </a:solidFill>
              </a:endParaRPr>
            </a:p>
          </p:txBody>
        </p:sp>
      </p:grpSp>
      <p:sp>
        <p:nvSpPr>
          <p:cNvPr id="35" name="Title 1">
            <a:extLst>
              <a:ext uri="{FF2B5EF4-FFF2-40B4-BE49-F238E27FC236}">
                <a16:creationId xmlns:a16="http://schemas.microsoft.com/office/drawing/2014/main" id="{DF1946E0-47AC-2CD5-C02A-572DD7CE2EF8}"/>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check-order: mutual exclusion property?</a:t>
            </a:r>
            <a:endParaRPr lang="sv-SE" sz="3600" b="1" dirty="0">
              <a:solidFill>
                <a:schemeClr val="accent1">
                  <a:lumMod val="50000"/>
                </a:schemeClr>
              </a:solidFill>
            </a:endParaRPr>
          </a:p>
        </p:txBody>
      </p:sp>
      <p:sp>
        <p:nvSpPr>
          <p:cNvPr id="36" name="Rectangle 35">
            <a:extLst>
              <a:ext uri="{FF2B5EF4-FFF2-40B4-BE49-F238E27FC236}">
                <a16:creationId xmlns:a16="http://schemas.microsoft.com/office/drawing/2014/main" id="{AF52CCE2-C3E9-C51F-C542-359CE43A6EFD}"/>
              </a:ext>
            </a:extLst>
          </p:cNvPr>
          <p:cNvSpPr/>
          <p:nvPr/>
        </p:nvSpPr>
        <p:spPr>
          <a:xfrm>
            <a:off x="6220231" y="2541575"/>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grpSp>
        <p:nvGrpSpPr>
          <p:cNvPr id="37" name="Group 36">
            <a:extLst>
              <a:ext uri="{FF2B5EF4-FFF2-40B4-BE49-F238E27FC236}">
                <a16:creationId xmlns:a16="http://schemas.microsoft.com/office/drawing/2014/main" id="{2D559633-33DA-1649-F3B7-D6470B86EC3A}"/>
              </a:ext>
            </a:extLst>
          </p:cNvPr>
          <p:cNvGrpSpPr/>
          <p:nvPr/>
        </p:nvGrpSpPr>
        <p:grpSpPr>
          <a:xfrm>
            <a:off x="7492259" y="1685923"/>
            <a:ext cx="1550319" cy="1105902"/>
            <a:chOff x="6208226" y="3196069"/>
            <a:chExt cx="1550319" cy="1105902"/>
          </a:xfrm>
        </p:grpSpPr>
        <p:sp>
          <p:nvSpPr>
            <p:cNvPr id="38" name="Oval 37">
              <a:extLst>
                <a:ext uri="{FF2B5EF4-FFF2-40B4-BE49-F238E27FC236}">
                  <a16:creationId xmlns:a16="http://schemas.microsoft.com/office/drawing/2014/main" id="{7260B93D-2442-87EE-F0A3-6BFF61323EA4}"/>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9" name="Cloud Callout 16">
              <a:extLst>
                <a:ext uri="{FF2B5EF4-FFF2-40B4-BE49-F238E27FC236}">
                  <a16:creationId xmlns:a16="http://schemas.microsoft.com/office/drawing/2014/main" id="{5DBA49DF-71BD-7325-8EC4-7B1EB12CBE75}"/>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40" name="TextBox 39">
              <a:extLst>
                <a:ext uri="{FF2B5EF4-FFF2-40B4-BE49-F238E27FC236}">
                  <a16:creationId xmlns:a16="http://schemas.microsoft.com/office/drawing/2014/main" id="{349CD451-987C-72F9-6AC6-AB9D8E845189}"/>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dirty="0">
                  <a:solidFill>
                    <a:prstClr val="black"/>
                  </a:solidFill>
                </a:rPr>
                <a:t>line 6</a:t>
              </a:r>
              <a:endParaRPr lang="en-US" sz="1600" dirty="0">
                <a:solidFill>
                  <a:prstClr val="black"/>
                </a:solidFill>
              </a:endParaRPr>
            </a:p>
          </p:txBody>
        </p:sp>
      </p:grpSp>
      <p:sp>
        <p:nvSpPr>
          <p:cNvPr id="41" name="Rectangle 40">
            <a:extLst>
              <a:ext uri="{FF2B5EF4-FFF2-40B4-BE49-F238E27FC236}">
                <a16:creationId xmlns:a16="http://schemas.microsoft.com/office/drawing/2014/main" id="{856D8DC4-C1AE-CC72-7284-CB5A053DA87E}"/>
              </a:ext>
            </a:extLst>
          </p:cNvPr>
          <p:cNvSpPr/>
          <p:nvPr/>
        </p:nvSpPr>
        <p:spPr>
          <a:xfrm>
            <a:off x="5133473" y="716808"/>
            <a:ext cx="3995413" cy="4208118"/>
          </a:xfrm>
          <a:custGeom>
            <a:avLst/>
            <a:gdLst>
              <a:gd name="csX0" fmla="*/ 0 w 3995413"/>
              <a:gd name="csY0" fmla="*/ 0 h 4208118"/>
              <a:gd name="csX1" fmla="*/ 3995413 w 3995413"/>
              <a:gd name="csY1" fmla="*/ 0 h 4208118"/>
              <a:gd name="csX2" fmla="*/ 3995413 w 3995413"/>
              <a:gd name="csY2" fmla="*/ 4208118 h 4208118"/>
              <a:gd name="csX3" fmla="*/ 0 w 3995413"/>
              <a:gd name="csY3" fmla="*/ 4208118 h 4208118"/>
              <a:gd name="csX4" fmla="*/ 0 w 3995413"/>
              <a:gd name="csY4" fmla="*/ 0 h 4208118"/>
            </a:gdLst>
            <a:ahLst/>
            <a:cxnLst>
              <a:cxn ang="0">
                <a:pos x="csX0" y="csY0"/>
              </a:cxn>
              <a:cxn ang="0">
                <a:pos x="csX1" y="csY1"/>
              </a:cxn>
              <a:cxn ang="0">
                <a:pos x="csX2" y="csY2"/>
              </a:cxn>
              <a:cxn ang="0">
                <a:pos x="csX3" y="csY3"/>
              </a:cxn>
              <a:cxn ang="0">
                <a:pos x="csX4" y="csY4"/>
              </a:cxn>
            </a:cxnLst>
            <a:rect l="l" t="t" r="r" b="b"/>
            <a:pathLst>
              <a:path w="3995413" h="4208118" extrusionOk="0">
                <a:moveTo>
                  <a:pt x="0" y="0"/>
                </a:moveTo>
                <a:cubicBezTo>
                  <a:pt x="1794669" y="118645"/>
                  <a:pt x="2563159" y="116012"/>
                  <a:pt x="3995413" y="0"/>
                </a:cubicBezTo>
                <a:cubicBezTo>
                  <a:pt x="3862531" y="1029170"/>
                  <a:pt x="4080364" y="3112774"/>
                  <a:pt x="3995413" y="4208118"/>
                </a:cubicBezTo>
                <a:cubicBezTo>
                  <a:pt x="2935171" y="4342718"/>
                  <a:pt x="1542294" y="4050922"/>
                  <a:pt x="0" y="4208118"/>
                </a:cubicBezTo>
                <a:cubicBezTo>
                  <a:pt x="-20187" y="2231772"/>
                  <a:pt x="-152480" y="803862"/>
                  <a:pt x="0" y="0"/>
                </a:cubicBezTo>
                <a:close/>
              </a:path>
            </a:pathLst>
          </a:custGeom>
          <a:noFill/>
          <a:ln w="38100">
            <a:solidFill>
              <a:srgbClr val="FF0000"/>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401E72CA-45D9-2718-4D37-C4774ABAE057}"/>
              </a:ext>
            </a:extLst>
          </p:cNvPr>
          <p:cNvSpPr>
            <a:spLocks noGrp="1"/>
          </p:cNvSpPr>
          <p:nvPr>
            <p:ph type="sldNum" sz="quarter" idx="12"/>
          </p:nvPr>
        </p:nvSpPr>
        <p:spPr/>
        <p:txBody>
          <a:bodyPr/>
          <a:lstStyle/>
          <a:p>
            <a:fld id="{67FCC1A6-2294-BF46-A2F7-E6BDB92DF1BF}" type="slidenum">
              <a:rPr lang="en-US" smtClean="0"/>
              <a:t>19</a:t>
            </a:fld>
            <a:endParaRPr lang="en-US"/>
          </a:p>
        </p:txBody>
      </p:sp>
      <p:sp>
        <p:nvSpPr>
          <p:cNvPr id="4" name="Date Placeholder 3">
            <a:extLst>
              <a:ext uri="{FF2B5EF4-FFF2-40B4-BE49-F238E27FC236}">
                <a16:creationId xmlns:a16="http://schemas.microsoft.com/office/drawing/2014/main" id="{D1D5B559-2C99-2E8A-848D-4A6A08DF8F0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667530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AA73C85-A595-C5B4-9326-15DA6160E1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618" y="1654214"/>
            <a:ext cx="3513698" cy="2251873"/>
          </a:xfrm>
          <a:prstGeom prst="rect">
            <a:avLst/>
          </a:prstGeom>
        </p:spPr>
      </p:pic>
      <p:sp>
        <p:nvSpPr>
          <p:cNvPr id="13" name="Title 1">
            <a:extLst>
              <a:ext uri="{FF2B5EF4-FFF2-40B4-BE49-F238E27FC236}">
                <a16:creationId xmlns:a16="http://schemas.microsoft.com/office/drawing/2014/main" id="{C8FA16F6-ACDA-54FA-BAA4-0658EB0B1443}"/>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check-order: progress property?</a:t>
            </a:r>
            <a:endParaRPr lang="sv-SE" sz="3600" b="1" dirty="0">
              <a:solidFill>
                <a:schemeClr val="accent1">
                  <a:lumMod val="50000"/>
                </a:schemeClr>
              </a:solidFill>
            </a:endParaRPr>
          </a:p>
        </p:txBody>
      </p:sp>
      <p:cxnSp>
        <p:nvCxnSpPr>
          <p:cNvPr id="14" name="Straight Connector 13">
            <a:extLst>
              <a:ext uri="{FF2B5EF4-FFF2-40B4-BE49-F238E27FC236}">
                <a16:creationId xmlns:a16="http://schemas.microsoft.com/office/drawing/2014/main" id="{FBDC4891-B30F-D74A-1918-7A980975A595}"/>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F887BF7-F2A3-0182-19EB-EFDBEBB499EF}"/>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82666BAD-5702-8A2C-0B8C-AC60D48DC8A8}"/>
              </a:ext>
            </a:extLst>
          </p:cNvPr>
          <p:cNvGrpSpPr/>
          <p:nvPr/>
        </p:nvGrpSpPr>
        <p:grpSpPr>
          <a:xfrm>
            <a:off x="9224129" y="3902246"/>
            <a:ext cx="2037831" cy="369332"/>
            <a:chOff x="9352361" y="5886897"/>
            <a:chExt cx="2037831" cy="369332"/>
          </a:xfrm>
        </p:grpSpPr>
        <p:cxnSp>
          <p:nvCxnSpPr>
            <p:cNvPr id="24" name="Straight Arrow Connector 23">
              <a:extLst>
                <a:ext uri="{FF2B5EF4-FFF2-40B4-BE49-F238E27FC236}">
                  <a16:creationId xmlns:a16="http://schemas.microsoft.com/office/drawing/2014/main" id="{0DD36D7C-C336-4A7E-5385-38BBDB6B4F4B}"/>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FC463EB-393C-D34C-50D8-28687C7EE023}"/>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26" name="Oval 25">
            <a:extLst>
              <a:ext uri="{FF2B5EF4-FFF2-40B4-BE49-F238E27FC236}">
                <a16:creationId xmlns:a16="http://schemas.microsoft.com/office/drawing/2014/main" id="{63A687AD-FB1C-2190-6DF4-DAD9DB67A4B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7" name="Oval 26">
            <a:extLst>
              <a:ext uri="{FF2B5EF4-FFF2-40B4-BE49-F238E27FC236}">
                <a16:creationId xmlns:a16="http://schemas.microsoft.com/office/drawing/2014/main" id="{7B976F2F-E145-ABD0-E532-72DC887A7D09}"/>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28" name="Group 27">
            <a:extLst>
              <a:ext uri="{FF2B5EF4-FFF2-40B4-BE49-F238E27FC236}">
                <a16:creationId xmlns:a16="http://schemas.microsoft.com/office/drawing/2014/main" id="{C39251E1-8E3C-46AA-8919-9344D20DD13D}"/>
              </a:ext>
            </a:extLst>
          </p:cNvPr>
          <p:cNvGrpSpPr/>
          <p:nvPr/>
        </p:nvGrpSpPr>
        <p:grpSpPr>
          <a:xfrm>
            <a:off x="5680204" y="1644361"/>
            <a:ext cx="3256673" cy="1146701"/>
            <a:chOff x="4105958" y="3112942"/>
            <a:chExt cx="3256673" cy="1146701"/>
          </a:xfrm>
        </p:grpSpPr>
        <p:sp>
          <p:nvSpPr>
            <p:cNvPr id="29" name="Cloud Callout 28">
              <a:extLst>
                <a:ext uri="{FF2B5EF4-FFF2-40B4-BE49-F238E27FC236}">
                  <a16:creationId xmlns:a16="http://schemas.microsoft.com/office/drawing/2014/main" id="{E1C57AB8-66A5-6C5A-7363-9F9738D79A07}"/>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0" name="TextBox 29">
              <a:extLst>
                <a:ext uri="{FF2B5EF4-FFF2-40B4-BE49-F238E27FC236}">
                  <a16:creationId xmlns:a16="http://schemas.microsoft.com/office/drawing/2014/main" id="{F29E9079-BA0C-F40C-DE5B-2861E1123A18}"/>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Inside loop in line 4 (turn value is </a:t>
              </a:r>
              <a:r>
                <a:rPr lang="en-US" sz="1600" dirty="0" err="1">
                  <a:solidFill>
                    <a:prstClr val="black"/>
                  </a:solidFill>
                </a:rPr>
                <a:t>idB</a:t>
              </a:r>
              <a:r>
                <a:rPr lang="en-US" sz="1600" dirty="0">
                  <a:solidFill>
                    <a:prstClr val="black"/>
                  </a:solidFill>
                </a:rPr>
                <a:t>)</a:t>
              </a:r>
              <a:endParaRPr lang="en-US" sz="1600" dirty="0">
                <a:solidFill>
                  <a:srgbClr val="C00000"/>
                </a:solidFill>
              </a:endParaRPr>
            </a:p>
          </p:txBody>
        </p:sp>
        <p:sp>
          <p:nvSpPr>
            <p:cNvPr id="31" name="Oval 30">
              <a:extLst>
                <a:ext uri="{FF2B5EF4-FFF2-40B4-BE49-F238E27FC236}">
                  <a16:creationId xmlns:a16="http://schemas.microsoft.com/office/drawing/2014/main" id="{1C727056-A06B-E7C7-9E52-DD19A3251AD1}"/>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pic>
        <p:nvPicPr>
          <p:cNvPr id="3" name="Picture 2" descr="Icon&#10;&#10;Description automatically generated">
            <a:extLst>
              <a:ext uri="{FF2B5EF4-FFF2-40B4-BE49-F238E27FC236}">
                <a16:creationId xmlns:a16="http://schemas.microsoft.com/office/drawing/2014/main" id="{325356D8-5DE4-D82B-AA35-D2BDBD37DFBA}"/>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flipH="1">
            <a:off x="9224129" y="1832442"/>
            <a:ext cx="885686" cy="442843"/>
          </a:xfrm>
          <a:prstGeom prst="rect">
            <a:avLst/>
          </a:prstGeom>
        </p:spPr>
      </p:pic>
      <p:sp>
        <p:nvSpPr>
          <p:cNvPr id="2" name="Slide Number Placeholder 1">
            <a:extLst>
              <a:ext uri="{FF2B5EF4-FFF2-40B4-BE49-F238E27FC236}">
                <a16:creationId xmlns:a16="http://schemas.microsoft.com/office/drawing/2014/main" id="{7A490BE0-2F6F-5B2B-1062-EABE6D876040}"/>
              </a:ext>
            </a:extLst>
          </p:cNvPr>
          <p:cNvSpPr>
            <a:spLocks noGrp="1"/>
          </p:cNvSpPr>
          <p:nvPr>
            <p:ph type="sldNum" sz="quarter" idx="12"/>
          </p:nvPr>
        </p:nvSpPr>
        <p:spPr/>
        <p:txBody>
          <a:bodyPr/>
          <a:lstStyle/>
          <a:p>
            <a:fld id="{67FCC1A6-2294-BF46-A2F7-E6BDB92DF1BF}" type="slidenum">
              <a:rPr lang="en-US" smtClean="0"/>
              <a:t>20</a:t>
            </a:fld>
            <a:endParaRPr lang="en-US"/>
          </a:p>
        </p:txBody>
      </p:sp>
      <p:sp>
        <p:nvSpPr>
          <p:cNvPr id="4" name="Date Placeholder 3">
            <a:extLst>
              <a:ext uri="{FF2B5EF4-FFF2-40B4-BE49-F238E27FC236}">
                <a16:creationId xmlns:a16="http://schemas.microsoft.com/office/drawing/2014/main" id="{33E7ECBC-7A5D-F837-FDFC-96E3699C465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079961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AA73C85-A595-C5B4-9326-15DA6160E1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9618" y="1654214"/>
            <a:ext cx="3513698" cy="2251873"/>
          </a:xfrm>
          <a:prstGeom prst="rect">
            <a:avLst/>
          </a:prstGeom>
        </p:spPr>
      </p:pic>
      <p:sp>
        <p:nvSpPr>
          <p:cNvPr id="13" name="Title 1">
            <a:extLst>
              <a:ext uri="{FF2B5EF4-FFF2-40B4-BE49-F238E27FC236}">
                <a16:creationId xmlns:a16="http://schemas.microsoft.com/office/drawing/2014/main" id="{C8FA16F6-ACDA-54FA-BAA4-0658EB0B1443}"/>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check-order: progress property?</a:t>
            </a:r>
            <a:endParaRPr lang="sv-SE" sz="3600" b="1" dirty="0">
              <a:solidFill>
                <a:schemeClr val="accent1">
                  <a:lumMod val="50000"/>
                </a:schemeClr>
              </a:solidFill>
            </a:endParaRPr>
          </a:p>
        </p:txBody>
      </p:sp>
      <p:cxnSp>
        <p:nvCxnSpPr>
          <p:cNvPr id="14" name="Straight Connector 13">
            <a:extLst>
              <a:ext uri="{FF2B5EF4-FFF2-40B4-BE49-F238E27FC236}">
                <a16:creationId xmlns:a16="http://schemas.microsoft.com/office/drawing/2014/main" id="{FBDC4891-B30F-D74A-1918-7A980975A595}"/>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F887BF7-F2A3-0182-19EB-EFDBEBB499EF}"/>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82666BAD-5702-8A2C-0B8C-AC60D48DC8A8}"/>
              </a:ext>
            </a:extLst>
          </p:cNvPr>
          <p:cNvGrpSpPr/>
          <p:nvPr/>
        </p:nvGrpSpPr>
        <p:grpSpPr>
          <a:xfrm>
            <a:off x="9224129" y="3902246"/>
            <a:ext cx="2037831" cy="369332"/>
            <a:chOff x="9352361" y="5886897"/>
            <a:chExt cx="2037831" cy="369332"/>
          </a:xfrm>
        </p:grpSpPr>
        <p:cxnSp>
          <p:nvCxnSpPr>
            <p:cNvPr id="24" name="Straight Arrow Connector 23">
              <a:extLst>
                <a:ext uri="{FF2B5EF4-FFF2-40B4-BE49-F238E27FC236}">
                  <a16:creationId xmlns:a16="http://schemas.microsoft.com/office/drawing/2014/main" id="{0DD36D7C-C336-4A7E-5385-38BBDB6B4F4B}"/>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FC463EB-393C-D34C-50D8-28687C7EE023}"/>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26" name="Oval 25">
            <a:extLst>
              <a:ext uri="{FF2B5EF4-FFF2-40B4-BE49-F238E27FC236}">
                <a16:creationId xmlns:a16="http://schemas.microsoft.com/office/drawing/2014/main" id="{63A687AD-FB1C-2190-6DF4-DAD9DB67A4B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7" name="Oval 26">
            <a:extLst>
              <a:ext uri="{FF2B5EF4-FFF2-40B4-BE49-F238E27FC236}">
                <a16:creationId xmlns:a16="http://schemas.microsoft.com/office/drawing/2014/main" id="{7B976F2F-E145-ABD0-E532-72DC887A7D09}"/>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28" name="Group 27">
            <a:extLst>
              <a:ext uri="{FF2B5EF4-FFF2-40B4-BE49-F238E27FC236}">
                <a16:creationId xmlns:a16="http://schemas.microsoft.com/office/drawing/2014/main" id="{C39251E1-8E3C-46AA-8919-9344D20DD13D}"/>
              </a:ext>
            </a:extLst>
          </p:cNvPr>
          <p:cNvGrpSpPr/>
          <p:nvPr/>
        </p:nvGrpSpPr>
        <p:grpSpPr>
          <a:xfrm>
            <a:off x="5680204" y="1644361"/>
            <a:ext cx="3256673" cy="1146701"/>
            <a:chOff x="4105958" y="3112942"/>
            <a:chExt cx="3256673" cy="1146701"/>
          </a:xfrm>
        </p:grpSpPr>
        <p:sp>
          <p:nvSpPr>
            <p:cNvPr id="29" name="Cloud Callout 28">
              <a:extLst>
                <a:ext uri="{FF2B5EF4-FFF2-40B4-BE49-F238E27FC236}">
                  <a16:creationId xmlns:a16="http://schemas.microsoft.com/office/drawing/2014/main" id="{E1C57AB8-66A5-6C5A-7363-9F9738D79A07}"/>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0" name="TextBox 29">
              <a:extLst>
                <a:ext uri="{FF2B5EF4-FFF2-40B4-BE49-F238E27FC236}">
                  <a16:creationId xmlns:a16="http://schemas.microsoft.com/office/drawing/2014/main" id="{F29E9079-BA0C-F40C-DE5B-2861E1123A18}"/>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Inside loop in line 4 (turn value is </a:t>
              </a:r>
              <a:r>
                <a:rPr lang="en-US" sz="1600" dirty="0" err="1">
                  <a:solidFill>
                    <a:prstClr val="black"/>
                  </a:solidFill>
                </a:rPr>
                <a:t>idB</a:t>
              </a:r>
              <a:r>
                <a:rPr lang="en-US" sz="1600" dirty="0">
                  <a:solidFill>
                    <a:prstClr val="black"/>
                  </a:solidFill>
                </a:rPr>
                <a:t>)</a:t>
              </a:r>
              <a:endParaRPr lang="en-US" sz="1600" dirty="0">
                <a:solidFill>
                  <a:srgbClr val="C00000"/>
                </a:solidFill>
              </a:endParaRPr>
            </a:p>
          </p:txBody>
        </p:sp>
        <p:sp>
          <p:nvSpPr>
            <p:cNvPr id="31" name="Oval 30">
              <a:extLst>
                <a:ext uri="{FF2B5EF4-FFF2-40B4-BE49-F238E27FC236}">
                  <a16:creationId xmlns:a16="http://schemas.microsoft.com/office/drawing/2014/main" id="{1C727056-A06B-E7C7-9E52-DD19A3251AD1}"/>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pic>
        <p:nvPicPr>
          <p:cNvPr id="3" name="Picture 2" descr="Icon&#10;&#10;Description automatically generated">
            <a:extLst>
              <a:ext uri="{FF2B5EF4-FFF2-40B4-BE49-F238E27FC236}">
                <a16:creationId xmlns:a16="http://schemas.microsoft.com/office/drawing/2014/main" id="{325356D8-5DE4-D82B-AA35-D2BDBD37DFBA}"/>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flipH="1">
            <a:off x="9224129" y="1832442"/>
            <a:ext cx="885686" cy="442843"/>
          </a:xfrm>
          <a:prstGeom prst="rect">
            <a:avLst/>
          </a:prstGeom>
        </p:spPr>
      </p:pic>
      <p:pic>
        <p:nvPicPr>
          <p:cNvPr id="6" name="Picture 2" descr="383 Not Valid Stock Photos and Images - 123RF">
            <a:extLst>
              <a:ext uri="{FF2B5EF4-FFF2-40B4-BE49-F238E27FC236}">
                <a16:creationId xmlns:a16="http://schemas.microsoft.com/office/drawing/2014/main" id="{A0572E61-023F-BD34-5037-7C3856052879}"/>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5827" y="1910679"/>
            <a:ext cx="3012716" cy="176076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6C56BE31-52D8-F255-5976-7FE8D5BEC365}"/>
              </a:ext>
            </a:extLst>
          </p:cNvPr>
          <p:cNvSpPr>
            <a:spLocks noGrp="1"/>
          </p:cNvSpPr>
          <p:nvPr>
            <p:ph type="sldNum" sz="quarter" idx="12"/>
          </p:nvPr>
        </p:nvSpPr>
        <p:spPr/>
        <p:txBody>
          <a:bodyPr/>
          <a:lstStyle/>
          <a:p>
            <a:fld id="{67FCC1A6-2294-BF46-A2F7-E6BDB92DF1BF}" type="slidenum">
              <a:rPr lang="en-US" smtClean="0"/>
              <a:t>21</a:t>
            </a:fld>
            <a:endParaRPr lang="en-US"/>
          </a:p>
        </p:txBody>
      </p:sp>
      <p:sp>
        <p:nvSpPr>
          <p:cNvPr id="4" name="Date Placeholder 3">
            <a:extLst>
              <a:ext uri="{FF2B5EF4-FFF2-40B4-BE49-F238E27FC236}">
                <a16:creationId xmlns:a16="http://schemas.microsoft.com/office/drawing/2014/main" id="{30961991-94B5-9078-A19B-46A3E0C66CC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806571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solidFill>
                  <a:schemeClr val="bg1">
                    <a:lumMod val="50000"/>
                  </a:schemeClr>
                </a:solidFill>
              </a:rPr>
              <a:t>The critical-section problem</a:t>
            </a:r>
          </a:p>
          <a:p>
            <a:pPr lvl="1"/>
            <a:r>
              <a:rPr lang="en-US" dirty="0">
                <a:solidFill>
                  <a:schemeClr val="bg1">
                    <a:lumMod val="50000"/>
                  </a:schemeClr>
                </a:solidFill>
              </a:rPr>
              <a:t>Check-competition approach</a:t>
            </a:r>
          </a:p>
          <a:p>
            <a:r>
              <a:rPr lang="en-US" dirty="0">
                <a:solidFill>
                  <a:schemeClr val="bg1">
                    <a:lumMod val="50000"/>
                  </a:schemeClr>
                </a:solidFill>
              </a:rPr>
              <a:t>The check-order / after-you approach</a:t>
            </a:r>
          </a:p>
          <a:p>
            <a:r>
              <a:rPr lang="en-US" dirty="0"/>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solidFill>
                  <a:schemeClr val="bg1">
                    <a:lumMod val="50000"/>
                  </a:schemeClr>
                </a:solidFill>
              </a:rPr>
              <a:t>Semaphores</a:t>
            </a: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7F98F834-BBAD-246C-E9BF-A4BCC351158A}"/>
              </a:ext>
            </a:extLst>
          </p:cNvPr>
          <p:cNvSpPr>
            <a:spLocks noGrp="1"/>
          </p:cNvSpPr>
          <p:nvPr>
            <p:ph type="sldNum" sz="quarter" idx="12"/>
          </p:nvPr>
        </p:nvSpPr>
        <p:spPr/>
        <p:txBody>
          <a:bodyPr/>
          <a:lstStyle/>
          <a:p>
            <a:fld id="{67FCC1A6-2294-BF46-A2F7-E6BDB92DF1BF}" type="slidenum">
              <a:rPr lang="en-US" smtClean="0"/>
              <a:t>22</a:t>
            </a:fld>
            <a:endParaRPr lang="en-US"/>
          </a:p>
        </p:txBody>
      </p:sp>
      <p:sp>
        <p:nvSpPr>
          <p:cNvPr id="5" name="Date Placeholder 4">
            <a:extLst>
              <a:ext uri="{FF2B5EF4-FFF2-40B4-BE49-F238E27FC236}">
                <a16:creationId xmlns:a16="http://schemas.microsoft.com/office/drawing/2014/main" id="{6A2E21A0-AC4B-1399-9F8C-065965FA98F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575041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2"/>
          </p:nvPr>
        </p:nvSpPr>
        <p:spPr>
          <a:noFill/>
        </p:spPr>
        <p:txBody>
          <a:bodyPr/>
          <a:lstStyle/>
          <a:p>
            <a:fld id="{DEB72B4B-979A-4B2F-8E18-5ACC8E504041}" type="slidenum">
              <a:rPr lang="en-US" smtClean="0">
                <a:solidFill>
                  <a:prstClr val="black">
                    <a:tint val="75000"/>
                  </a:prstClr>
                </a:solidFill>
              </a:rPr>
              <a:pPr/>
              <a:t>23</a:t>
            </a:fld>
            <a:endParaRPr lang="en-US">
              <a:solidFill>
                <a:prstClr val="black">
                  <a:tint val="75000"/>
                </a:prstClr>
              </a:solidFill>
            </a:endParaRPr>
          </a:p>
        </p:txBody>
      </p:sp>
      <p:sp>
        <p:nvSpPr>
          <p:cNvPr id="16388" name="Rectangle 4"/>
          <p:cNvSpPr>
            <a:spLocks noGrp="1" noChangeArrowheads="1"/>
          </p:cNvSpPr>
          <p:nvPr>
            <p:ph type="body" idx="1"/>
          </p:nvPr>
        </p:nvSpPr>
        <p:spPr>
          <a:xfrm>
            <a:off x="3960266" y="1519420"/>
            <a:ext cx="4271468" cy="3191179"/>
          </a:xfrm>
          <a:noFill/>
          <a:effectLst/>
        </p:spPr>
        <p:style>
          <a:lnRef idx="1">
            <a:schemeClr val="dk1"/>
          </a:lnRef>
          <a:fillRef idx="2">
            <a:schemeClr val="dk1"/>
          </a:fillRef>
          <a:effectRef idx="1">
            <a:schemeClr val="dk1"/>
          </a:effectRef>
          <a:fontRef idx="minor">
            <a:schemeClr val="dk1"/>
          </a:fontRef>
        </p:style>
        <p:txBody>
          <a:bodyPr>
            <a:normAutofit fontScale="85000" lnSpcReduction="20000"/>
          </a:bodyPr>
          <a:lstStyle/>
          <a:p>
            <a:pPr marL="342900" indent="-342900">
              <a:lnSpc>
                <a:spcPct val="80000"/>
              </a:lnSpc>
              <a:buClr>
                <a:schemeClr val="tx1"/>
              </a:buClr>
              <a:buFont typeface="+mj-lt"/>
              <a:buAutoNum type="arabicPeriod"/>
              <a:tabLst>
                <a:tab pos="436563" algn="l"/>
                <a:tab pos="614363" algn="l"/>
                <a:tab pos="792163" algn="l"/>
              </a:tabLst>
            </a:pPr>
            <a:r>
              <a:rPr lang="en-US" sz="1800" dirty="0"/>
              <a:t>Shared var turn: (</a:t>
            </a:r>
            <a:r>
              <a:rPr lang="en-US" sz="1800" dirty="0" err="1"/>
              <a:t>idA</a:t>
            </a:r>
            <a:r>
              <a:rPr lang="en-US" sz="1800" dirty="0"/>
              <a:t>..</a:t>
            </a:r>
            <a:r>
              <a:rPr lang="en-US" sz="1800" dirty="0" err="1"/>
              <a:t>idB</a:t>
            </a:r>
            <a:r>
              <a:rPr lang="en-US" sz="1800" dirty="0"/>
              <a:t>) </a:t>
            </a:r>
            <a:r>
              <a:rPr lang="en-US" sz="1800" dirty="0">
                <a:solidFill>
                  <a:schemeClr val="bg1">
                    <a:lumMod val="50000"/>
                  </a:schemeClr>
                </a:solidFill>
              </a:rPr>
              <a:t>// initially e.g., </a:t>
            </a:r>
            <a:r>
              <a:rPr lang="en-US" sz="1800" dirty="0" err="1">
                <a:solidFill>
                  <a:schemeClr val="bg1">
                    <a:lumMod val="50000"/>
                  </a:schemeClr>
                </a:solidFill>
              </a:rPr>
              <a:t>idA</a:t>
            </a:r>
            <a:r>
              <a:rPr lang="en-US" sz="1800" dirty="0">
                <a:solidFill>
                  <a:schemeClr val="bg1">
                    <a:lumMod val="50000"/>
                  </a:schemeClr>
                </a:solidFill>
              </a:rPr>
              <a:t> </a:t>
            </a:r>
          </a:p>
          <a:p>
            <a:pPr marL="342900" indent="-342900">
              <a:lnSpc>
                <a:spcPct val="80000"/>
              </a:lnSpc>
              <a:buClr>
                <a:schemeClr val="tx1"/>
              </a:buClr>
              <a:buFont typeface="+mj-lt"/>
              <a:buAutoNum type="arabicPeriod"/>
              <a:tabLst>
                <a:tab pos="436563" algn="l"/>
                <a:tab pos="614363" algn="l"/>
                <a:tab pos="792163" algn="l"/>
              </a:tabLst>
            </a:pPr>
            <a:r>
              <a:rPr lang="en-US" sz="1800" dirty="0"/>
              <a:t>Shared var </a:t>
            </a:r>
            <a:r>
              <a:rPr lang="en-US" sz="1800" dirty="0" err="1"/>
              <a:t>flagA</a:t>
            </a:r>
            <a:r>
              <a:rPr lang="en-US" sz="1800" dirty="0"/>
              <a:t>, </a:t>
            </a:r>
            <a:r>
              <a:rPr lang="en-US" sz="1800" dirty="0" err="1"/>
              <a:t>flagB</a:t>
            </a:r>
            <a:r>
              <a:rPr lang="en-US" sz="1800" dirty="0"/>
              <a:t>: Boolean </a:t>
            </a:r>
            <a:r>
              <a:rPr lang="en-US" sz="1800" dirty="0">
                <a:solidFill>
                  <a:schemeClr val="bg1">
                    <a:lumMod val="50000"/>
                  </a:schemeClr>
                </a:solidFill>
              </a:rPr>
              <a:t>// initially false</a:t>
            </a:r>
            <a:endParaRPr lang="en-US" sz="1800" dirty="0">
              <a:solidFill>
                <a:schemeClr val="bg1">
                  <a:lumMod val="50000"/>
                </a:schemeClr>
              </a:solidFill>
              <a:sym typeface="Symbol" pitchFamily="18" charset="2"/>
            </a:endParaRPr>
          </a:p>
          <a:p>
            <a:pPr marL="342900" indent="-342900">
              <a:lnSpc>
                <a:spcPct val="80000"/>
              </a:lnSpc>
              <a:buClr>
                <a:schemeClr val="tx1"/>
              </a:buClr>
              <a:buFont typeface="+mj-lt"/>
              <a:buAutoNum type="arabicPeriod"/>
              <a:tabLst>
                <a:tab pos="436563" algn="l"/>
                <a:tab pos="614363" algn="l"/>
                <a:tab pos="792163" algn="l"/>
              </a:tabLst>
            </a:pPr>
            <a:endParaRPr lang="en-US" sz="1800" b="1" dirty="0"/>
          </a:p>
          <a:p>
            <a:pPr marL="342900" indent="-342900">
              <a:lnSpc>
                <a:spcPct val="80000"/>
              </a:lnSpc>
              <a:buClr>
                <a:schemeClr val="tx1"/>
              </a:buClr>
              <a:buFont typeface="+mj-lt"/>
              <a:buAutoNum type="arabicPeriod"/>
              <a:tabLst>
                <a:tab pos="436563" algn="l"/>
                <a:tab pos="614363" algn="l"/>
                <a:tab pos="792163" algn="l"/>
              </a:tabLst>
            </a:pPr>
            <a:r>
              <a:rPr lang="en-US" sz="1800" dirty="0"/>
              <a:t>thread A </a:t>
            </a:r>
            <a:r>
              <a:rPr lang="en-US" sz="1800" dirty="0">
                <a:solidFill>
                  <a:schemeClr val="bg1">
                    <a:lumMod val="50000"/>
                  </a:schemeClr>
                </a:solidFill>
              </a:rPr>
              <a:t>// B is symmetric</a:t>
            </a:r>
          </a:p>
          <a:p>
            <a:pPr marL="342900" indent="-342900">
              <a:lnSpc>
                <a:spcPct val="80000"/>
              </a:lnSpc>
              <a:buClr>
                <a:schemeClr val="tx1"/>
              </a:buClr>
              <a:buFont typeface="+mj-lt"/>
              <a:buAutoNum type="arabicPeriod"/>
              <a:tabLst>
                <a:tab pos="436563" algn="l"/>
                <a:tab pos="614363" algn="l"/>
                <a:tab pos="792163" algn="l"/>
              </a:tabLst>
            </a:pPr>
            <a:r>
              <a:rPr lang="en-US" sz="1800" dirty="0"/>
              <a:t>	</a:t>
            </a:r>
            <a:r>
              <a:rPr lang="en-US" sz="1800" b="1" dirty="0"/>
              <a:t>repeat</a:t>
            </a:r>
          </a:p>
          <a:p>
            <a:pPr marL="342900" indent="-342900">
              <a:lnSpc>
                <a:spcPct val="80000"/>
              </a:lnSpc>
              <a:buClr>
                <a:schemeClr val="tx1"/>
              </a:buClr>
              <a:buFont typeface="+mj-lt"/>
              <a:buAutoNum type="arabicPeriod"/>
              <a:tabLst>
                <a:tab pos="436563" algn="l"/>
                <a:tab pos="614363" algn="l"/>
                <a:tab pos="792163" algn="l"/>
              </a:tabLst>
            </a:pPr>
            <a:r>
              <a:rPr lang="en-US" sz="1800" dirty="0">
                <a:solidFill>
                  <a:srgbClr val="C00000"/>
                </a:solidFill>
              </a:rPr>
              <a:t>		</a:t>
            </a:r>
            <a:r>
              <a:rPr lang="en-US" sz="1800" dirty="0" err="1">
                <a:solidFill>
                  <a:srgbClr val="C00000"/>
                </a:solidFill>
              </a:rPr>
              <a:t>flagA</a:t>
            </a:r>
            <a:r>
              <a:rPr lang="en-US" sz="1800" dirty="0">
                <a:solidFill>
                  <a:srgbClr val="C00000"/>
                </a:solidFill>
              </a:rPr>
              <a:t> ← true</a:t>
            </a:r>
          </a:p>
          <a:p>
            <a:pPr marL="342900" indent="-342900">
              <a:lnSpc>
                <a:spcPct val="80000"/>
              </a:lnSpc>
              <a:buClr>
                <a:schemeClr val="tx1"/>
              </a:buClr>
              <a:buFont typeface="+mj-lt"/>
              <a:buAutoNum type="arabicPeriod"/>
              <a:tabLst>
                <a:tab pos="436563" algn="l"/>
                <a:tab pos="614363" algn="l"/>
                <a:tab pos="792163" algn="l"/>
              </a:tabLst>
            </a:pPr>
            <a:r>
              <a:rPr lang="en-US" sz="1800" dirty="0">
                <a:solidFill>
                  <a:srgbClr val="C00000"/>
                </a:solidFill>
              </a:rPr>
              <a:t>		turn </a:t>
            </a:r>
            <a:r>
              <a:rPr lang="en-US" sz="1800" dirty="0">
                <a:solidFill>
                  <a:srgbClr val="C00000"/>
                </a:solidFill>
                <a:sym typeface="Symbol" pitchFamily="18" charset="2"/>
              </a:rPr>
              <a:t>← </a:t>
            </a:r>
            <a:r>
              <a:rPr lang="en-US" sz="1800" dirty="0" err="1">
                <a:solidFill>
                  <a:srgbClr val="C00000"/>
                </a:solidFill>
                <a:sym typeface="Symbol" pitchFamily="18" charset="2"/>
              </a:rPr>
              <a:t>idB</a:t>
            </a:r>
            <a:endParaRPr lang="en-US" sz="1800" dirty="0">
              <a:solidFill>
                <a:srgbClr val="C00000"/>
              </a:solidFill>
              <a:sym typeface="Symbol" pitchFamily="18" charset="2"/>
            </a:endParaRPr>
          </a:p>
          <a:p>
            <a:pPr marL="342900" indent="-342900">
              <a:lnSpc>
                <a:spcPct val="80000"/>
              </a:lnSpc>
              <a:buClr>
                <a:schemeClr val="tx1"/>
              </a:buClr>
              <a:buFont typeface="+mj-lt"/>
              <a:buAutoNum type="arabicPeriod"/>
              <a:tabLst>
                <a:tab pos="436563" algn="l"/>
                <a:tab pos="614363" algn="l"/>
                <a:tab pos="792163" algn="l"/>
              </a:tabLst>
            </a:pPr>
            <a:r>
              <a:rPr lang="en-US" sz="1800" dirty="0">
                <a:solidFill>
                  <a:srgbClr val="C00000"/>
                </a:solidFill>
              </a:rPr>
              <a:t>		</a:t>
            </a:r>
            <a:r>
              <a:rPr lang="en-US" sz="1800" b="1" dirty="0">
                <a:solidFill>
                  <a:srgbClr val="C00000"/>
                </a:solidFill>
              </a:rPr>
              <a:t>while</a:t>
            </a:r>
            <a:r>
              <a:rPr lang="en-US" sz="1800" dirty="0">
                <a:solidFill>
                  <a:srgbClr val="C00000"/>
                </a:solidFill>
              </a:rPr>
              <a:t> (</a:t>
            </a:r>
            <a:r>
              <a:rPr lang="en-US" sz="1800" dirty="0" err="1">
                <a:solidFill>
                  <a:srgbClr val="C00000"/>
                </a:solidFill>
              </a:rPr>
              <a:t>flagB</a:t>
            </a:r>
            <a:r>
              <a:rPr lang="en-US" sz="1800" dirty="0">
                <a:solidFill>
                  <a:srgbClr val="C00000"/>
                </a:solidFill>
              </a:rPr>
              <a:t> and turn == </a:t>
            </a:r>
            <a:r>
              <a:rPr lang="en-US" sz="1800" dirty="0" err="1">
                <a:solidFill>
                  <a:srgbClr val="C00000"/>
                </a:solidFill>
              </a:rPr>
              <a:t>idB</a:t>
            </a:r>
            <a:r>
              <a:rPr lang="en-US" sz="1800" dirty="0">
                <a:solidFill>
                  <a:srgbClr val="C00000"/>
                </a:solidFill>
              </a:rPr>
              <a:t>) </a:t>
            </a:r>
            <a:r>
              <a:rPr lang="en-US" sz="1800" b="1" dirty="0">
                <a:solidFill>
                  <a:srgbClr val="C00000"/>
                </a:solidFill>
              </a:rPr>
              <a:t>do </a:t>
            </a:r>
            <a:r>
              <a:rPr lang="en-US" sz="1800" dirty="0">
                <a:solidFill>
                  <a:srgbClr val="C00000"/>
                </a:solidFill>
              </a:rPr>
              <a:t>[nothing] </a:t>
            </a:r>
          </a:p>
          <a:p>
            <a:pPr marL="342900" indent="-342900">
              <a:lnSpc>
                <a:spcPct val="80000"/>
              </a:lnSpc>
              <a:buClr>
                <a:schemeClr val="tx1"/>
              </a:buClr>
              <a:buFont typeface="+mj-lt"/>
              <a:buAutoNum type="arabicPeriod"/>
              <a:tabLst>
                <a:tab pos="436563" algn="l"/>
                <a:tab pos="614363" algn="l"/>
                <a:tab pos="792163" algn="l"/>
              </a:tabLst>
            </a:pPr>
            <a:r>
              <a:rPr lang="en-US" sz="1800" dirty="0">
                <a:solidFill>
                  <a:srgbClr val="C00000"/>
                </a:solidFill>
              </a:rPr>
              <a:t>		</a:t>
            </a:r>
            <a:r>
              <a:rPr lang="en-US" sz="1800" dirty="0"/>
              <a:t>[critical section]</a:t>
            </a:r>
          </a:p>
          <a:p>
            <a:pPr marL="342900" indent="-342900">
              <a:lnSpc>
                <a:spcPct val="80000"/>
              </a:lnSpc>
              <a:buClr>
                <a:schemeClr val="tx1"/>
              </a:buClr>
              <a:buFont typeface="+mj-lt"/>
              <a:buAutoNum type="arabicPeriod"/>
              <a:tabLst>
                <a:tab pos="436563" algn="l"/>
                <a:tab pos="614363" algn="l"/>
                <a:tab pos="792163" algn="l"/>
              </a:tabLst>
            </a:pPr>
            <a:r>
              <a:rPr lang="en-US" sz="1800" dirty="0">
                <a:solidFill>
                  <a:srgbClr val="C00000"/>
                </a:solidFill>
              </a:rPr>
              <a:t>		</a:t>
            </a:r>
            <a:r>
              <a:rPr lang="en-US" sz="1800" dirty="0" err="1">
                <a:solidFill>
                  <a:srgbClr val="C00000"/>
                </a:solidFill>
              </a:rPr>
              <a:t>flagA</a:t>
            </a:r>
            <a:r>
              <a:rPr lang="en-US" sz="1800" dirty="0">
                <a:solidFill>
                  <a:srgbClr val="C00000"/>
                </a:solidFill>
              </a:rPr>
              <a:t>← false</a:t>
            </a:r>
          </a:p>
          <a:p>
            <a:pPr marL="342900" indent="-342900">
              <a:lnSpc>
                <a:spcPct val="80000"/>
              </a:lnSpc>
              <a:buClr>
                <a:schemeClr val="tx1"/>
              </a:buClr>
              <a:buFont typeface="+mj-lt"/>
              <a:buAutoNum type="arabicPeriod"/>
              <a:tabLst>
                <a:tab pos="436563" algn="l"/>
                <a:tab pos="614363" algn="l"/>
                <a:tab pos="792163" algn="l"/>
              </a:tabLst>
            </a:pPr>
            <a:r>
              <a:rPr lang="en-US" sz="1800" dirty="0"/>
              <a:t>		[remainder section]</a:t>
            </a:r>
          </a:p>
          <a:p>
            <a:pPr marL="342900" indent="-342900">
              <a:lnSpc>
                <a:spcPct val="80000"/>
              </a:lnSpc>
              <a:buClr>
                <a:schemeClr val="tx1"/>
              </a:buClr>
              <a:buFont typeface="+mj-lt"/>
              <a:buAutoNum type="arabicPeriod"/>
              <a:tabLst>
                <a:tab pos="436563" algn="l"/>
                <a:tab pos="614363" algn="l"/>
                <a:tab pos="792163" algn="l"/>
              </a:tabLst>
            </a:pPr>
            <a:r>
              <a:rPr lang="en-US" sz="1800" dirty="0"/>
              <a:t>	</a:t>
            </a:r>
            <a:r>
              <a:rPr lang="en-US" sz="1800" b="1" dirty="0"/>
              <a:t>forever</a:t>
            </a:r>
            <a:endParaRPr lang="en-US" sz="1800" dirty="0"/>
          </a:p>
        </p:txBody>
      </p:sp>
      <p:sp>
        <p:nvSpPr>
          <p:cNvPr id="2" name="Title 1">
            <a:extLst>
              <a:ext uri="{FF2B5EF4-FFF2-40B4-BE49-F238E27FC236}">
                <a16:creationId xmlns:a16="http://schemas.microsoft.com/office/drawing/2014/main" id="{B90EE329-2DDE-2C15-2D11-215C213AB608}"/>
              </a:ext>
            </a:extLst>
          </p:cNvPr>
          <p:cNvSpPr txBox="1">
            <a:spLocks/>
          </p:cNvSpPr>
          <p:nvPr/>
        </p:nvSpPr>
        <p:spPr bwMode="auto">
          <a:xfrm>
            <a:off x="527381" y="130324"/>
            <a:ext cx="10959008" cy="57606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kern="1200">
                <a:solidFill>
                  <a:schemeClr val="accent1">
                    <a:lumMod val="50000"/>
                  </a:schemeClr>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dirty="0"/>
              <a:t>Peterson’s algo (</a:t>
            </a:r>
            <a:r>
              <a:rPr lang="en-US" i="1" dirty="0"/>
              <a:t>check order &amp; competition</a:t>
            </a:r>
            <a:r>
              <a:rPr lang="en-US" dirty="0"/>
              <a:t>) approach</a:t>
            </a:r>
            <a:endParaRPr lang="sv-SE" dirty="0"/>
          </a:p>
        </p:txBody>
      </p:sp>
      <p:sp>
        <p:nvSpPr>
          <p:cNvPr id="3" name="Date Placeholder 2">
            <a:extLst>
              <a:ext uri="{FF2B5EF4-FFF2-40B4-BE49-F238E27FC236}">
                <a16:creationId xmlns:a16="http://schemas.microsoft.com/office/drawing/2014/main" id="{C0AFD284-39B2-FD6A-D4D1-186E07088292}"/>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448738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Arrow Connector 18"/>
          <p:cNvCxnSpPr>
            <a:cxnSpLocks/>
          </p:cNvCxnSpPr>
          <p:nvPr/>
        </p:nvCxnSpPr>
        <p:spPr>
          <a:xfrm>
            <a:off x="5833926" y="2877506"/>
            <a:ext cx="515509" cy="583564"/>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FEF86712-FEA1-A117-EAD4-B80E24317281}"/>
              </a:ext>
            </a:extLst>
          </p:cNvPr>
          <p:cNvGrpSpPr/>
          <p:nvPr/>
        </p:nvGrpSpPr>
        <p:grpSpPr>
          <a:xfrm>
            <a:off x="886820" y="4986027"/>
            <a:ext cx="4708714" cy="523220"/>
            <a:chOff x="-318200" y="6574745"/>
            <a:chExt cx="4708714" cy="523220"/>
          </a:xfrm>
        </p:grpSpPr>
        <p:sp>
          <p:nvSpPr>
            <p:cNvPr id="8" name="TextBox 7"/>
            <p:cNvSpPr txBox="1"/>
            <p:nvPr/>
          </p:nvSpPr>
          <p:spPr>
            <a:xfrm>
              <a:off x="435649" y="6574745"/>
              <a:ext cx="3954865" cy="523220"/>
            </a:xfrm>
            <a:prstGeom prst="rect">
              <a:avLst/>
            </a:prstGeom>
            <a:solidFill>
              <a:schemeClr val="accent4">
                <a:lumMod val="20000"/>
                <a:lumOff val="80000"/>
              </a:schemeClr>
            </a:solidFill>
          </p:spPr>
          <p:txBody>
            <a:bodyPr wrap="none" rtlCol="0">
              <a:spAutoFit/>
            </a:bodyPr>
            <a:lstStyle/>
            <a:p>
              <a:r>
                <a:rPr lang="en-US" sz="2800" dirty="0">
                  <a:solidFill>
                    <a:prstClr val="black"/>
                  </a:solidFill>
                </a:rPr>
                <a:t>denotes happened before</a:t>
              </a:r>
            </a:p>
          </p:txBody>
        </p:sp>
        <p:cxnSp>
          <p:nvCxnSpPr>
            <p:cNvPr id="63" name="Straight Arrow Connector 62">
              <a:extLst>
                <a:ext uri="{FF2B5EF4-FFF2-40B4-BE49-F238E27FC236}">
                  <a16:creationId xmlns:a16="http://schemas.microsoft.com/office/drawing/2014/main" id="{EEFC65EF-E14B-4109-B0EB-D8C04252F1E1}"/>
                </a:ext>
              </a:extLst>
            </p:cNvPr>
            <p:cNvCxnSpPr>
              <a:cxnSpLocks/>
            </p:cNvCxnSpPr>
            <p:nvPr/>
          </p:nvCxnSpPr>
          <p:spPr>
            <a:xfrm>
              <a:off x="-318200" y="6836355"/>
              <a:ext cx="579455" cy="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grpSp>
      <p:sp>
        <p:nvSpPr>
          <p:cNvPr id="66" name="Title 1">
            <a:extLst>
              <a:ext uri="{FF2B5EF4-FFF2-40B4-BE49-F238E27FC236}">
                <a16:creationId xmlns:a16="http://schemas.microsoft.com/office/drawing/2014/main" id="{86BDBD92-82D0-B1C5-8D0D-2D00D82983DA}"/>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400" dirty="0"/>
          </a:p>
        </p:txBody>
      </p:sp>
      <p:sp>
        <p:nvSpPr>
          <p:cNvPr id="2" name="Title 1">
            <a:extLst>
              <a:ext uri="{FF2B5EF4-FFF2-40B4-BE49-F238E27FC236}">
                <a16:creationId xmlns:a16="http://schemas.microsoft.com/office/drawing/2014/main" id="{474E2A7B-A116-4D68-154E-7B481E2ADA89}"/>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Peterson’s algo: mutual exclusion property?</a:t>
            </a:r>
            <a:endParaRPr lang="sv-SE" sz="3600" b="1" dirty="0">
              <a:solidFill>
                <a:schemeClr val="accent1">
                  <a:lumMod val="50000"/>
                </a:schemeClr>
              </a:solidFill>
            </a:endParaRPr>
          </a:p>
        </p:txBody>
      </p:sp>
      <p:pic>
        <p:nvPicPr>
          <p:cNvPr id="6" name="Graphic 5">
            <a:extLst>
              <a:ext uri="{FF2B5EF4-FFF2-40B4-BE49-F238E27FC236}">
                <a16:creationId xmlns:a16="http://schemas.microsoft.com/office/drawing/2014/main" id="{2FB2A308-A27B-CA35-0E28-3DCFD62721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352" y="1336241"/>
            <a:ext cx="3225800" cy="2489200"/>
          </a:xfrm>
          <a:prstGeom prst="rect">
            <a:avLst/>
          </a:prstGeom>
        </p:spPr>
      </p:pic>
      <p:cxnSp>
        <p:nvCxnSpPr>
          <p:cNvPr id="36" name="Straight Connector 35">
            <a:extLst>
              <a:ext uri="{FF2B5EF4-FFF2-40B4-BE49-F238E27FC236}">
                <a16:creationId xmlns:a16="http://schemas.microsoft.com/office/drawing/2014/main" id="{847CCCE1-2C29-5AA9-C301-2C858F4607DA}"/>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0984E99-CC02-50C0-2A49-D7539A026FB7}"/>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52E57A2F-7A0D-7C70-405C-C5C4EB179D4B}"/>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39" name="Rectangle 38">
            <a:extLst>
              <a:ext uri="{FF2B5EF4-FFF2-40B4-BE49-F238E27FC236}">
                <a16:creationId xmlns:a16="http://schemas.microsoft.com/office/drawing/2014/main" id="{6D2C70C7-537B-FCD2-629C-53A00A0868EF}"/>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40" name="Group 39">
            <a:extLst>
              <a:ext uri="{FF2B5EF4-FFF2-40B4-BE49-F238E27FC236}">
                <a16:creationId xmlns:a16="http://schemas.microsoft.com/office/drawing/2014/main" id="{2D18035E-CD9A-7475-3B49-3CF1D007C210}"/>
              </a:ext>
            </a:extLst>
          </p:cNvPr>
          <p:cNvGrpSpPr/>
          <p:nvPr/>
        </p:nvGrpSpPr>
        <p:grpSpPr>
          <a:xfrm>
            <a:off x="9224129" y="3902246"/>
            <a:ext cx="2037831" cy="369332"/>
            <a:chOff x="9352361" y="5886897"/>
            <a:chExt cx="2037831" cy="369332"/>
          </a:xfrm>
        </p:grpSpPr>
        <p:cxnSp>
          <p:nvCxnSpPr>
            <p:cNvPr id="41" name="Straight Arrow Connector 40">
              <a:extLst>
                <a:ext uri="{FF2B5EF4-FFF2-40B4-BE49-F238E27FC236}">
                  <a16:creationId xmlns:a16="http://schemas.microsoft.com/office/drawing/2014/main" id="{4159FAE7-00F8-6075-CFC6-3A1A341D08A0}"/>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CD864D8-83BE-2702-EFB7-79E4ACB112C9}"/>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43" name="Oval 42">
            <a:extLst>
              <a:ext uri="{FF2B5EF4-FFF2-40B4-BE49-F238E27FC236}">
                <a16:creationId xmlns:a16="http://schemas.microsoft.com/office/drawing/2014/main" id="{3D2FD25A-2C46-F974-6598-BF88CEDD8109}"/>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44" name="Oval 43">
            <a:extLst>
              <a:ext uri="{FF2B5EF4-FFF2-40B4-BE49-F238E27FC236}">
                <a16:creationId xmlns:a16="http://schemas.microsoft.com/office/drawing/2014/main" id="{3887952A-5A21-45D2-19D1-3A0E2DE68987}"/>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45" name="Group 44">
            <a:extLst>
              <a:ext uri="{FF2B5EF4-FFF2-40B4-BE49-F238E27FC236}">
                <a16:creationId xmlns:a16="http://schemas.microsoft.com/office/drawing/2014/main" id="{38CFB622-B111-A8F7-A69A-FCBF4793F546}"/>
              </a:ext>
            </a:extLst>
          </p:cNvPr>
          <p:cNvGrpSpPr/>
          <p:nvPr/>
        </p:nvGrpSpPr>
        <p:grpSpPr>
          <a:xfrm>
            <a:off x="5680204" y="1644361"/>
            <a:ext cx="3256673" cy="1146701"/>
            <a:chOff x="4105958" y="3112942"/>
            <a:chExt cx="3256673" cy="1146701"/>
          </a:xfrm>
        </p:grpSpPr>
        <p:sp>
          <p:nvSpPr>
            <p:cNvPr id="46" name="Cloud Callout 45">
              <a:extLst>
                <a:ext uri="{FF2B5EF4-FFF2-40B4-BE49-F238E27FC236}">
                  <a16:creationId xmlns:a16="http://schemas.microsoft.com/office/drawing/2014/main" id="{0008602C-CB31-03D4-4D5B-A2DFF32AFC21}"/>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47" name="TextBox 46">
              <a:extLst>
                <a:ext uri="{FF2B5EF4-FFF2-40B4-BE49-F238E27FC236}">
                  <a16:creationId xmlns:a16="http://schemas.microsoft.com/office/drawing/2014/main" id="{62ACF193-95B0-5CFB-83B0-0530D3120991}"/>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flagB</a:t>
              </a:r>
              <a:r>
                <a:rPr lang="en-US" sz="1600" i="1" dirty="0">
                  <a:solidFill>
                    <a:prstClr val="black"/>
                  </a:solidFill>
                </a:rPr>
                <a:t>==false and completes line 7</a:t>
              </a:r>
              <a:endParaRPr lang="en-US" sz="1600" dirty="0">
                <a:solidFill>
                  <a:srgbClr val="C00000"/>
                </a:solidFill>
              </a:endParaRPr>
            </a:p>
          </p:txBody>
        </p:sp>
        <p:sp>
          <p:nvSpPr>
            <p:cNvPr id="48" name="Oval 47">
              <a:extLst>
                <a:ext uri="{FF2B5EF4-FFF2-40B4-BE49-F238E27FC236}">
                  <a16:creationId xmlns:a16="http://schemas.microsoft.com/office/drawing/2014/main" id="{562DC103-FD98-926B-AD78-817FCE0136F0}"/>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49" name="Group 48">
            <a:extLst>
              <a:ext uri="{FF2B5EF4-FFF2-40B4-BE49-F238E27FC236}">
                <a16:creationId xmlns:a16="http://schemas.microsoft.com/office/drawing/2014/main" id="{54AA506E-466A-E080-AFC8-4AB9FB7DB7D2}"/>
              </a:ext>
            </a:extLst>
          </p:cNvPr>
          <p:cNvGrpSpPr/>
          <p:nvPr/>
        </p:nvGrpSpPr>
        <p:grpSpPr>
          <a:xfrm>
            <a:off x="6349435" y="3522775"/>
            <a:ext cx="1486965" cy="967502"/>
            <a:chOff x="5118108" y="3522775"/>
            <a:chExt cx="1486965" cy="967502"/>
          </a:xfrm>
        </p:grpSpPr>
        <p:sp>
          <p:nvSpPr>
            <p:cNvPr id="50" name="Cloud Callout 49">
              <a:extLst>
                <a:ext uri="{FF2B5EF4-FFF2-40B4-BE49-F238E27FC236}">
                  <a16:creationId xmlns:a16="http://schemas.microsoft.com/office/drawing/2014/main" id="{47924BB4-356E-6828-AC41-75217474A03C}"/>
                </a:ext>
              </a:extLst>
            </p:cNvPr>
            <p:cNvSpPr/>
            <p:nvPr/>
          </p:nvSpPr>
          <p:spPr>
            <a:xfrm flipV="1">
              <a:off x="5138551" y="3858371"/>
              <a:ext cx="1466522" cy="631906"/>
            </a:xfrm>
            <a:prstGeom prst="cloudCallout">
              <a:avLst>
                <a:gd name="adj1" fmla="val -43783"/>
                <a:gd name="adj2" fmla="val 65251"/>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51" name="Oval 50">
              <a:extLst>
                <a:ext uri="{FF2B5EF4-FFF2-40B4-BE49-F238E27FC236}">
                  <a16:creationId xmlns:a16="http://schemas.microsoft.com/office/drawing/2014/main" id="{D0CF82E5-639B-AADE-52BA-AFFF1DC29271}"/>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52" name="TextBox 51">
              <a:extLst>
                <a:ext uri="{FF2B5EF4-FFF2-40B4-BE49-F238E27FC236}">
                  <a16:creationId xmlns:a16="http://schemas.microsoft.com/office/drawing/2014/main" id="{14A3AB47-0BBE-DA93-4C31-1463F030C96F}"/>
                </a:ext>
              </a:extLst>
            </p:cNvPr>
            <p:cNvSpPr txBox="1"/>
            <p:nvPr/>
          </p:nvSpPr>
          <p:spPr>
            <a:xfrm>
              <a:off x="5524866" y="4015033"/>
              <a:ext cx="746071" cy="338554"/>
            </a:xfrm>
            <a:prstGeom prst="rect">
              <a:avLst/>
            </a:prstGeom>
            <a:solidFill>
              <a:schemeClr val="bg1"/>
            </a:solidFill>
          </p:spPr>
          <p:txBody>
            <a:bodyPr wrap="square" rtlCol="0">
              <a:spAutoFit/>
            </a:bodyPr>
            <a:lstStyle/>
            <a:p>
              <a:r>
                <a:rPr lang="en-US" sz="1600" i="1">
                  <a:solidFill>
                    <a:prstClr val="black"/>
                  </a:solidFill>
                </a:rPr>
                <a:t>line 5</a:t>
              </a:r>
              <a:endParaRPr lang="en-US" sz="1600">
                <a:solidFill>
                  <a:prstClr val="black"/>
                </a:solidFill>
              </a:endParaRPr>
            </a:p>
          </p:txBody>
        </p:sp>
      </p:grpSp>
      <p:grpSp>
        <p:nvGrpSpPr>
          <p:cNvPr id="54" name="Group 53">
            <a:extLst>
              <a:ext uri="{FF2B5EF4-FFF2-40B4-BE49-F238E27FC236}">
                <a16:creationId xmlns:a16="http://schemas.microsoft.com/office/drawing/2014/main" id="{6925B613-B539-35B3-BCC8-67CFCEAB42E3}"/>
              </a:ext>
            </a:extLst>
          </p:cNvPr>
          <p:cNvGrpSpPr/>
          <p:nvPr/>
        </p:nvGrpSpPr>
        <p:grpSpPr>
          <a:xfrm>
            <a:off x="7063088" y="2937340"/>
            <a:ext cx="1589721" cy="723176"/>
            <a:chOff x="5118108" y="2933344"/>
            <a:chExt cx="1589721" cy="723176"/>
          </a:xfrm>
        </p:grpSpPr>
        <p:sp>
          <p:nvSpPr>
            <p:cNvPr id="55" name="Cloud Callout 54">
              <a:extLst>
                <a:ext uri="{FF2B5EF4-FFF2-40B4-BE49-F238E27FC236}">
                  <a16:creationId xmlns:a16="http://schemas.microsoft.com/office/drawing/2014/main" id="{FCCB6757-EAFC-5ECB-1901-5C165D3DBC74}"/>
                </a:ext>
              </a:extLst>
            </p:cNvPr>
            <p:cNvSpPr/>
            <p:nvPr/>
          </p:nvSpPr>
          <p:spPr>
            <a:xfrm flipV="1">
              <a:off x="5241307" y="2933344"/>
              <a:ext cx="1466522" cy="631906"/>
            </a:xfrm>
            <a:prstGeom prst="cloudCallout">
              <a:avLst>
                <a:gd name="adj1" fmla="val -52356"/>
                <a:gd name="adj2" fmla="val -52322"/>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59" name="Oval 58">
              <a:extLst>
                <a:ext uri="{FF2B5EF4-FFF2-40B4-BE49-F238E27FC236}">
                  <a16:creationId xmlns:a16="http://schemas.microsoft.com/office/drawing/2014/main" id="{96514CF5-257E-57BB-B7D3-A5804DD8B3AB}"/>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0" name="TextBox 59">
              <a:extLst>
                <a:ext uri="{FF2B5EF4-FFF2-40B4-BE49-F238E27FC236}">
                  <a16:creationId xmlns:a16="http://schemas.microsoft.com/office/drawing/2014/main" id="{1504F162-3BFE-3040-1A7E-1E6FCAE0AAB1}"/>
                </a:ext>
              </a:extLst>
            </p:cNvPr>
            <p:cNvSpPr txBox="1"/>
            <p:nvPr/>
          </p:nvSpPr>
          <p:spPr>
            <a:xfrm>
              <a:off x="5540580" y="3088922"/>
              <a:ext cx="746071" cy="338554"/>
            </a:xfrm>
            <a:prstGeom prst="rect">
              <a:avLst/>
            </a:prstGeom>
            <a:solidFill>
              <a:schemeClr val="bg1"/>
            </a:solidFill>
          </p:spPr>
          <p:txBody>
            <a:bodyPr wrap="square" rtlCol="0">
              <a:spAutoFit/>
            </a:bodyPr>
            <a:lstStyle/>
            <a:p>
              <a:r>
                <a:rPr lang="en-US" sz="1600" i="1" dirty="0">
                  <a:solidFill>
                    <a:prstClr val="black"/>
                  </a:solidFill>
                </a:rPr>
                <a:t>line 6</a:t>
              </a:r>
              <a:endParaRPr lang="en-US" sz="1600" dirty="0">
                <a:solidFill>
                  <a:prstClr val="black"/>
                </a:solidFill>
              </a:endParaRPr>
            </a:p>
          </p:txBody>
        </p:sp>
      </p:grpSp>
      <p:grpSp>
        <p:nvGrpSpPr>
          <p:cNvPr id="61" name="Group 60">
            <a:extLst>
              <a:ext uri="{FF2B5EF4-FFF2-40B4-BE49-F238E27FC236}">
                <a16:creationId xmlns:a16="http://schemas.microsoft.com/office/drawing/2014/main" id="{83689F13-AA74-E177-ABEB-3023A8942204}"/>
              </a:ext>
            </a:extLst>
          </p:cNvPr>
          <p:cNvGrpSpPr/>
          <p:nvPr/>
        </p:nvGrpSpPr>
        <p:grpSpPr>
          <a:xfrm>
            <a:off x="8238453" y="3529999"/>
            <a:ext cx="2795849" cy="1930568"/>
            <a:chOff x="3856883" y="4115643"/>
            <a:chExt cx="2795849" cy="1930568"/>
          </a:xfrm>
        </p:grpSpPr>
        <p:sp>
          <p:nvSpPr>
            <p:cNvPr id="62" name="Cloud Callout 61">
              <a:extLst>
                <a:ext uri="{FF2B5EF4-FFF2-40B4-BE49-F238E27FC236}">
                  <a16:creationId xmlns:a16="http://schemas.microsoft.com/office/drawing/2014/main" id="{961B765F-1332-E3EE-0556-18651C63CC21}"/>
                </a:ext>
              </a:extLst>
            </p:cNvPr>
            <p:cNvSpPr/>
            <p:nvPr/>
          </p:nvSpPr>
          <p:spPr>
            <a:xfrm>
              <a:off x="3856883" y="5021923"/>
              <a:ext cx="2795849" cy="1024288"/>
            </a:xfrm>
            <a:prstGeom prst="cloudCallout">
              <a:avLst>
                <a:gd name="adj1" fmla="val -37043"/>
                <a:gd name="adj2" fmla="val -126283"/>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7" name="TextBox 66">
              <a:extLst>
                <a:ext uri="{FF2B5EF4-FFF2-40B4-BE49-F238E27FC236}">
                  <a16:creationId xmlns:a16="http://schemas.microsoft.com/office/drawing/2014/main" id="{AACB6F6B-3053-8755-89DF-5FFAB97A14DF}"/>
                </a:ext>
              </a:extLst>
            </p:cNvPr>
            <p:cNvSpPr txBox="1"/>
            <p:nvPr/>
          </p:nvSpPr>
          <p:spPr>
            <a:xfrm>
              <a:off x="4264322" y="5222536"/>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a:t>
              </a:r>
              <a:r>
                <a:rPr lang="en-US" sz="1600" i="1" dirty="0" err="1">
                  <a:solidFill>
                    <a:prstClr val="black"/>
                  </a:solidFill>
                </a:rPr>
                <a:t>flagA</a:t>
              </a:r>
              <a:r>
                <a:rPr lang="en-US" sz="1600" i="1" dirty="0">
                  <a:solidFill>
                    <a:prstClr val="black"/>
                  </a:solidFill>
                </a:rPr>
                <a:t>==false and completes line 7</a:t>
              </a:r>
              <a:endParaRPr lang="en-US" sz="1600" dirty="0">
                <a:solidFill>
                  <a:srgbClr val="C00000"/>
                </a:solidFill>
              </a:endParaRPr>
            </a:p>
          </p:txBody>
        </p:sp>
        <p:sp>
          <p:nvSpPr>
            <p:cNvPr id="68" name="Oval 67">
              <a:extLst>
                <a:ext uri="{FF2B5EF4-FFF2-40B4-BE49-F238E27FC236}">
                  <a16:creationId xmlns:a16="http://schemas.microsoft.com/office/drawing/2014/main" id="{D9CDF2CB-AA3C-3580-5C81-CDD32D9C3B16}"/>
                </a:ext>
              </a:extLst>
            </p:cNvPr>
            <p:cNvSpPr/>
            <p:nvPr/>
          </p:nvSpPr>
          <p:spPr>
            <a:xfrm>
              <a:off x="4105958" y="4115643"/>
              <a:ext cx="144000" cy="1440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pic>
        <p:nvPicPr>
          <p:cNvPr id="70" name="Picture 69" descr="A picture containing text&#10;&#10;Description automatically generated">
            <a:extLst>
              <a:ext uri="{FF2B5EF4-FFF2-40B4-BE49-F238E27FC236}">
                <a16:creationId xmlns:a16="http://schemas.microsoft.com/office/drawing/2014/main" id="{C0A329CF-9FD3-0B8F-9C0B-0A05AB612E7D}"/>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0037894" y="4606049"/>
            <a:ext cx="1803422" cy="1014425"/>
          </a:xfrm>
          <a:prstGeom prst="rect">
            <a:avLst/>
          </a:prstGeom>
        </p:spPr>
      </p:pic>
      <p:sp>
        <p:nvSpPr>
          <p:cNvPr id="3" name="Slide Number Placeholder 2">
            <a:extLst>
              <a:ext uri="{FF2B5EF4-FFF2-40B4-BE49-F238E27FC236}">
                <a16:creationId xmlns:a16="http://schemas.microsoft.com/office/drawing/2014/main" id="{9BAC25ED-98DA-02F7-A47E-938EFDE46E66}"/>
              </a:ext>
            </a:extLst>
          </p:cNvPr>
          <p:cNvSpPr>
            <a:spLocks noGrp="1"/>
          </p:cNvSpPr>
          <p:nvPr>
            <p:ph type="sldNum" sz="quarter" idx="12"/>
          </p:nvPr>
        </p:nvSpPr>
        <p:spPr/>
        <p:txBody>
          <a:bodyPr/>
          <a:lstStyle/>
          <a:p>
            <a:fld id="{67FCC1A6-2294-BF46-A2F7-E6BDB92DF1BF}" type="slidenum">
              <a:rPr lang="en-US" smtClean="0"/>
              <a:t>24</a:t>
            </a:fld>
            <a:endParaRPr lang="en-US"/>
          </a:p>
        </p:txBody>
      </p:sp>
      <p:sp>
        <p:nvSpPr>
          <p:cNvPr id="4" name="Date Placeholder 3">
            <a:extLst>
              <a:ext uri="{FF2B5EF4-FFF2-40B4-BE49-F238E27FC236}">
                <a16:creationId xmlns:a16="http://schemas.microsoft.com/office/drawing/2014/main" id="{12670123-1BB6-F9A7-57B8-1F0100345376}"/>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061034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25</a:t>
            </a:fld>
            <a:endParaRPr lang="en-US">
              <a:solidFill>
                <a:prstClr val="black">
                  <a:tint val="75000"/>
                </a:prstClr>
              </a:solidFill>
            </a:endParaRPr>
          </a:p>
        </p:txBody>
      </p:sp>
      <p:sp>
        <p:nvSpPr>
          <p:cNvPr id="6" name="Title 1">
            <a:extLst>
              <a:ext uri="{FF2B5EF4-FFF2-40B4-BE49-F238E27FC236}">
                <a16:creationId xmlns:a16="http://schemas.microsoft.com/office/drawing/2014/main" id="{A0994D04-C127-7CEB-2FB6-E2E2D9A2B741}"/>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Peterson’s algo: mutual exclusion property?</a:t>
            </a:r>
            <a:endParaRPr lang="sv-SE" sz="3600" b="1" dirty="0">
              <a:solidFill>
                <a:schemeClr val="accent1">
                  <a:lumMod val="50000"/>
                </a:schemeClr>
              </a:solidFill>
            </a:endParaRPr>
          </a:p>
        </p:txBody>
      </p:sp>
      <p:pic>
        <p:nvPicPr>
          <p:cNvPr id="8" name="Graphic 7">
            <a:extLst>
              <a:ext uri="{FF2B5EF4-FFF2-40B4-BE49-F238E27FC236}">
                <a16:creationId xmlns:a16="http://schemas.microsoft.com/office/drawing/2014/main" id="{6B30C391-B1C1-972D-6312-BAA0177E8B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352" y="1336241"/>
            <a:ext cx="3225800" cy="2489200"/>
          </a:xfrm>
          <a:prstGeom prst="rect">
            <a:avLst/>
          </a:prstGeom>
        </p:spPr>
      </p:pic>
      <p:cxnSp>
        <p:nvCxnSpPr>
          <p:cNvPr id="12" name="Straight Arrow Connector 11">
            <a:extLst>
              <a:ext uri="{FF2B5EF4-FFF2-40B4-BE49-F238E27FC236}">
                <a16:creationId xmlns:a16="http://schemas.microsoft.com/office/drawing/2014/main" id="{F237908D-431D-8814-3C9A-8D1FFEEF8092}"/>
              </a:ext>
            </a:extLst>
          </p:cNvPr>
          <p:cNvCxnSpPr>
            <a:cxnSpLocks/>
          </p:cNvCxnSpPr>
          <p:nvPr/>
        </p:nvCxnSpPr>
        <p:spPr>
          <a:xfrm>
            <a:off x="6302556" y="2877506"/>
            <a:ext cx="515509" cy="583564"/>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6650A4D-2EB2-7C92-6BB2-107700B1AC9C}"/>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378200-5AD0-F5BB-254A-6E0507FA82FD}"/>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AAAC076D-469C-9360-7710-2000657FECF2}"/>
              </a:ext>
            </a:extLst>
          </p:cNvPr>
          <p:cNvSpPr/>
          <p:nvPr/>
        </p:nvSpPr>
        <p:spPr>
          <a:xfrm>
            <a:off x="988372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sp>
        <p:nvSpPr>
          <p:cNvPr id="20" name="Rectangle 19">
            <a:extLst>
              <a:ext uri="{FF2B5EF4-FFF2-40B4-BE49-F238E27FC236}">
                <a16:creationId xmlns:a16="http://schemas.microsoft.com/office/drawing/2014/main" id="{2DB18A3F-30F0-25DC-ACB7-7D049007FF62}"/>
              </a:ext>
            </a:extLst>
          </p:cNvPr>
          <p:cNvSpPr/>
          <p:nvPr/>
        </p:nvSpPr>
        <p:spPr>
          <a:xfrm>
            <a:off x="9586432" y="3417391"/>
            <a:ext cx="1453188"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grpSp>
        <p:nvGrpSpPr>
          <p:cNvPr id="21" name="Group 20">
            <a:extLst>
              <a:ext uri="{FF2B5EF4-FFF2-40B4-BE49-F238E27FC236}">
                <a16:creationId xmlns:a16="http://schemas.microsoft.com/office/drawing/2014/main" id="{AD87687D-1DE0-3839-1770-B067428E639A}"/>
              </a:ext>
            </a:extLst>
          </p:cNvPr>
          <p:cNvGrpSpPr/>
          <p:nvPr/>
        </p:nvGrpSpPr>
        <p:grpSpPr>
          <a:xfrm>
            <a:off x="9224129" y="3902246"/>
            <a:ext cx="2037831" cy="369332"/>
            <a:chOff x="9352361" y="5886897"/>
            <a:chExt cx="2037831" cy="369332"/>
          </a:xfrm>
        </p:grpSpPr>
        <p:cxnSp>
          <p:nvCxnSpPr>
            <p:cNvPr id="22" name="Straight Arrow Connector 21">
              <a:extLst>
                <a:ext uri="{FF2B5EF4-FFF2-40B4-BE49-F238E27FC236}">
                  <a16:creationId xmlns:a16="http://schemas.microsoft.com/office/drawing/2014/main" id="{B853CB02-B33A-87BF-0C1E-F3CF9002F302}"/>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0CE98B3-5E29-4C51-E745-B95C318E7A6D}"/>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27" name="Oval 26">
            <a:extLst>
              <a:ext uri="{FF2B5EF4-FFF2-40B4-BE49-F238E27FC236}">
                <a16:creationId xmlns:a16="http://schemas.microsoft.com/office/drawing/2014/main" id="{9F19F37C-FDF4-FD0E-479A-FFF85D9753DC}"/>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28" name="Oval 27">
            <a:extLst>
              <a:ext uri="{FF2B5EF4-FFF2-40B4-BE49-F238E27FC236}">
                <a16:creationId xmlns:a16="http://schemas.microsoft.com/office/drawing/2014/main" id="{36301C04-414C-6DE8-AA28-B44E432C1E89}"/>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37" name="Group 36">
            <a:extLst>
              <a:ext uri="{FF2B5EF4-FFF2-40B4-BE49-F238E27FC236}">
                <a16:creationId xmlns:a16="http://schemas.microsoft.com/office/drawing/2014/main" id="{BBF7AA90-B974-207A-902A-6463BA98C2F2}"/>
              </a:ext>
            </a:extLst>
          </p:cNvPr>
          <p:cNvGrpSpPr/>
          <p:nvPr/>
        </p:nvGrpSpPr>
        <p:grpSpPr>
          <a:xfrm>
            <a:off x="7360414" y="1644361"/>
            <a:ext cx="3256673" cy="1146701"/>
            <a:chOff x="4105958" y="3112942"/>
            <a:chExt cx="3256673" cy="1146701"/>
          </a:xfrm>
        </p:grpSpPr>
        <p:sp>
          <p:nvSpPr>
            <p:cNvPr id="38" name="Cloud Callout 37">
              <a:extLst>
                <a:ext uri="{FF2B5EF4-FFF2-40B4-BE49-F238E27FC236}">
                  <a16:creationId xmlns:a16="http://schemas.microsoft.com/office/drawing/2014/main" id="{B32C24E6-101C-D0A9-8155-3E9FC0D5014A}"/>
                </a:ext>
              </a:extLst>
            </p:cNvPr>
            <p:cNvSpPr/>
            <p:nvPr/>
          </p:nvSpPr>
          <p:spPr>
            <a:xfrm>
              <a:off x="4566782" y="3112942"/>
              <a:ext cx="2795849" cy="1024288"/>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9" name="TextBox 38">
              <a:extLst>
                <a:ext uri="{FF2B5EF4-FFF2-40B4-BE49-F238E27FC236}">
                  <a16:creationId xmlns:a16="http://schemas.microsoft.com/office/drawing/2014/main" id="{D93FD1BC-3486-C100-CC7F-75D0FE0B7AD1}"/>
                </a:ext>
              </a:extLst>
            </p:cNvPr>
            <p:cNvSpPr txBox="1"/>
            <p:nvPr/>
          </p:nvSpPr>
          <p:spPr>
            <a:xfrm>
              <a:off x="4947696" y="3301023"/>
              <a:ext cx="1980969" cy="584775"/>
            </a:xfrm>
            <a:prstGeom prst="rect">
              <a:avLst/>
            </a:prstGeom>
            <a:solidFill>
              <a:schemeClr val="bg1"/>
            </a:solidFill>
          </p:spPr>
          <p:txBody>
            <a:bodyPr wrap="square" rtlCol="0">
              <a:spAutoFit/>
            </a:bodyPr>
            <a:lstStyle/>
            <a:p>
              <a:r>
                <a:rPr lang="en-US" sz="1600" dirty="0">
                  <a:solidFill>
                    <a:prstClr val="black"/>
                  </a:solidFill>
                </a:rPr>
                <a:t>sees</a:t>
              </a:r>
              <a:r>
                <a:rPr lang="en-US" sz="1600" i="1" dirty="0">
                  <a:solidFill>
                    <a:prstClr val="black"/>
                  </a:solidFill>
                </a:rPr>
                <a:t>  turn==</a:t>
              </a:r>
              <a:r>
                <a:rPr lang="en-US" sz="1600" i="1" dirty="0" err="1">
                  <a:solidFill>
                    <a:prstClr val="black"/>
                  </a:solidFill>
                </a:rPr>
                <a:t>idA</a:t>
              </a:r>
              <a:r>
                <a:rPr lang="en-US" sz="1600" i="1" dirty="0">
                  <a:solidFill>
                    <a:prstClr val="black"/>
                  </a:solidFill>
                </a:rPr>
                <a:t> and completes line 7</a:t>
              </a:r>
              <a:endParaRPr lang="en-US" sz="1600" dirty="0">
                <a:solidFill>
                  <a:srgbClr val="C00000"/>
                </a:solidFill>
              </a:endParaRPr>
            </a:p>
          </p:txBody>
        </p:sp>
        <p:sp>
          <p:nvSpPr>
            <p:cNvPr id="40" name="Oval 39">
              <a:extLst>
                <a:ext uri="{FF2B5EF4-FFF2-40B4-BE49-F238E27FC236}">
                  <a16:creationId xmlns:a16="http://schemas.microsoft.com/office/drawing/2014/main" id="{547644AC-597F-E4F1-D178-844C38721A88}"/>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46" name="Group 45">
            <a:extLst>
              <a:ext uri="{FF2B5EF4-FFF2-40B4-BE49-F238E27FC236}">
                <a16:creationId xmlns:a16="http://schemas.microsoft.com/office/drawing/2014/main" id="{5295B02D-0417-55C4-379E-706220965243}"/>
              </a:ext>
            </a:extLst>
          </p:cNvPr>
          <p:cNvGrpSpPr/>
          <p:nvPr/>
        </p:nvGrpSpPr>
        <p:grpSpPr>
          <a:xfrm>
            <a:off x="6765908" y="2845868"/>
            <a:ext cx="2205028" cy="791788"/>
            <a:chOff x="5118108" y="2864732"/>
            <a:chExt cx="2205028" cy="791788"/>
          </a:xfrm>
        </p:grpSpPr>
        <p:sp>
          <p:nvSpPr>
            <p:cNvPr id="47" name="Cloud Callout 46">
              <a:extLst>
                <a:ext uri="{FF2B5EF4-FFF2-40B4-BE49-F238E27FC236}">
                  <a16:creationId xmlns:a16="http://schemas.microsoft.com/office/drawing/2014/main" id="{FF0715F1-B915-AE71-255D-DC93887945E7}"/>
                </a:ext>
              </a:extLst>
            </p:cNvPr>
            <p:cNvSpPr/>
            <p:nvPr/>
          </p:nvSpPr>
          <p:spPr>
            <a:xfrm flipV="1">
              <a:off x="5856614" y="2864732"/>
              <a:ext cx="1466522" cy="631906"/>
            </a:xfrm>
            <a:prstGeom prst="cloudCallout">
              <a:avLst>
                <a:gd name="adj1" fmla="val -94443"/>
                <a:gd name="adj2" fmla="val -68601"/>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48" name="Oval 47">
              <a:extLst>
                <a:ext uri="{FF2B5EF4-FFF2-40B4-BE49-F238E27FC236}">
                  <a16:creationId xmlns:a16="http://schemas.microsoft.com/office/drawing/2014/main" id="{85DEF442-7B61-B232-CDB4-B88508B22970}"/>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50" name="TextBox 49">
              <a:extLst>
                <a:ext uri="{FF2B5EF4-FFF2-40B4-BE49-F238E27FC236}">
                  <a16:creationId xmlns:a16="http://schemas.microsoft.com/office/drawing/2014/main" id="{F8683265-E7D3-E958-312B-69C838D69FE2}"/>
                </a:ext>
              </a:extLst>
            </p:cNvPr>
            <p:cNvSpPr txBox="1"/>
            <p:nvPr/>
          </p:nvSpPr>
          <p:spPr>
            <a:xfrm>
              <a:off x="6216729" y="3020618"/>
              <a:ext cx="746071" cy="338554"/>
            </a:xfrm>
            <a:prstGeom prst="rect">
              <a:avLst/>
            </a:prstGeom>
            <a:solidFill>
              <a:schemeClr val="bg1"/>
            </a:solidFill>
          </p:spPr>
          <p:txBody>
            <a:bodyPr wrap="square" rtlCol="0">
              <a:spAutoFit/>
            </a:bodyPr>
            <a:lstStyle/>
            <a:p>
              <a:r>
                <a:rPr lang="en-US" sz="1600" i="1" dirty="0">
                  <a:solidFill>
                    <a:prstClr val="black"/>
                  </a:solidFill>
                </a:rPr>
                <a:t>line 6</a:t>
              </a:r>
              <a:endParaRPr lang="en-US" sz="1600" dirty="0">
                <a:solidFill>
                  <a:prstClr val="black"/>
                </a:solidFill>
              </a:endParaRPr>
            </a:p>
          </p:txBody>
        </p:sp>
      </p:grpSp>
      <p:grpSp>
        <p:nvGrpSpPr>
          <p:cNvPr id="51" name="Group 50">
            <a:extLst>
              <a:ext uri="{FF2B5EF4-FFF2-40B4-BE49-F238E27FC236}">
                <a16:creationId xmlns:a16="http://schemas.microsoft.com/office/drawing/2014/main" id="{03CBF91C-594F-B445-F0C6-BE3C542A28DC}"/>
              </a:ext>
            </a:extLst>
          </p:cNvPr>
          <p:cNvGrpSpPr/>
          <p:nvPr/>
        </p:nvGrpSpPr>
        <p:grpSpPr>
          <a:xfrm>
            <a:off x="8397820" y="3529999"/>
            <a:ext cx="2128557" cy="1714372"/>
            <a:chOff x="4016250" y="4115643"/>
            <a:chExt cx="2128557" cy="1714372"/>
          </a:xfrm>
        </p:grpSpPr>
        <p:sp>
          <p:nvSpPr>
            <p:cNvPr id="52" name="Cloud Callout 51">
              <a:extLst>
                <a:ext uri="{FF2B5EF4-FFF2-40B4-BE49-F238E27FC236}">
                  <a16:creationId xmlns:a16="http://schemas.microsoft.com/office/drawing/2014/main" id="{49E66024-52B4-2197-01AE-9B93004B40B9}"/>
                </a:ext>
              </a:extLst>
            </p:cNvPr>
            <p:cNvSpPr/>
            <p:nvPr/>
          </p:nvSpPr>
          <p:spPr>
            <a:xfrm>
              <a:off x="4016250" y="5058947"/>
              <a:ext cx="2128557" cy="771068"/>
            </a:xfrm>
            <a:prstGeom prst="cloudCallout">
              <a:avLst>
                <a:gd name="adj1" fmla="val -40802"/>
                <a:gd name="adj2" fmla="val -166307"/>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53" name="TextBox 52">
              <a:extLst>
                <a:ext uri="{FF2B5EF4-FFF2-40B4-BE49-F238E27FC236}">
                  <a16:creationId xmlns:a16="http://schemas.microsoft.com/office/drawing/2014/main" id="{B997DF7F-32F8-A19F-B47D-74927998F227}"/>
                </a:ext>
              </a:extLst>
            </p:cNvPr>
            <p:cNvSpPr txBox="1"/>
            <p:nvPr/>
          </p:nvSpPr>
          <p:spPr>
            <a:xfrm>
              <a:off x="4264323" y="5222536"/>
              <a:ext cx="1537228" cy="338554"/>
            </a:xfrm>
            <a:prstGeom prst="rect">
              <a:avLst/>
            </a:prstGeom>
            <a:solidFill>
              <a:schemeClr val="bg1"/>
            </a:solidFill>
          </p:spPr>
          <p:txBody>
            <a:bodyPr wrap="square" rtlCol="0">
              <a:spAutoFit/>
            </a:bodyPr>
            <a:lstStyle/>
            <a:p>
              <a:r>
                <a:rPr lang="en-US" sz="1600" i="1" dirty="0">
                  <a:solidFill>
                    <a:prstClr val="black"/>
                  </a:solidFill>
                </a:rPr>
                <a:t>completes line 7</a:t>
              </a:r>
              <a:endParaRPr lang="en-US" sz="1600" dirty="0">
                <a:solidFill>
                  <a:srgbClr val="C00000"/>
                </a:solidFill>
              </a:endParaRPr>
            </a:p>
          </p:txBody>
        </p:sp>
        <p:sp>
          <p:nvSpPr>
            <p:cNvPr id="56" name="Oval 55">
              <a:extLst>
                <a:ext uri="{FF2B5EF4-FFF2-40B4-BE49-F238E27FC236}">
                  <a16:creationId xmlns:a16="http://schemas.microsoft.com/office/drawing/2014/main" id="{11F91DBF-8B79-5435-826D-E92674AAA5FD}"/>
                </a:ext>
              </a:extLst>
            </p:cNvPr>
            <p:cNvSpPr/>
            <p:nvPr/>
          </p:nvSpPr>
          <p:spPr>
            <a:xfrm>
              <a:off x="4105958" y="4115643"/>
              <a:ext cx="144000" cy="1440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pic>
        <p:nvPicPr>
          <p:cNvPr id="57" name="Picture 56" descr="A picture containing text&#10;&#10;Description automatically generated">
            <a:extLst>
              <a:ext uri="{FF2B5EF4-FFF2-40B4-BE49-F238E27FC236}">
                <a16:creationId xmlns:a16="http://schemas.microsoft.com/office/drawing/2014/main" id="{C92BB278-7E13-B8A3-602F-8335AC054114}"/>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9586432" y="4492838"/>
            <a:ext cx="1803422" cy="1014425"/>
          </a:xfrm>
          <a:prstGeom prst="rect">
            <a:avLst/>
          </a:prstGeom>
        </p:spPr>
      </p:pic>
      <p:grpSp>
        <p:nvGrpSpPr>
          <p:cNvPr id="58" name="Group 57">
            <a:extLst>
              <a:ext uri="{FF2B5EF4-FFF2-40B4-BE49-F238E27FC236}">
                <a16:creationId xmlns:a16="http://schemas.microsoft.com/office/drawing/2014/main" id="{FE0940C6-8108-1544-C724-1003CFDD8F41}"/>
              </a:ext>
            </a:extLst>
          </p:cNvPr>
          <p:cNvGrpSpPr/>
          <p:nvPr/>
        </p:nvGrpSpPr>
        <p:grpSpPr>
          <a:xfrm>
            <a:off x="6120659" y="1685923"/>
            <a:ext cx="1550319" cy="1105902"/>
            <a:chOff x="6208226" y="3196069"/>
            <a:chExt cx="1550319" cy="1105902"/>
          </a:xfrm>
        </p:grpSpPr>
        <p:sp>
          <p:nvSpPr>
            <p:cNvPr id="59" name="Oval 58">
              <a:extLst>
                <a:ext uri="{FF2B5EF4-FFF2-40B4-BE49-F238E27FC236}">
                  <a16:creationId xmlns:a16="http://schemas.microsoft.com/office/drawing/2014/main" id="{62E5B60B-CCCC-9513-C195-61B772189CE4}"/>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0" name="Cloud Callout 16">
              <a:extLst>
                <a:ext uri="{FF2B5EF4-FFF2-40B4-BE49-F238E27FC236}">
                  <a16:creationId xmlns:a16="http://schemas.microsoft.com/office/drawing/2014/main" id="{981C0158-166B-936F-30AB-DF2C543EDD6A}"/>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1" name="TextBox 60">
              <a:extLst>
                <a:ext uri="{FF2B5EF4-FFF2-40B4-BE49-F238E27FC236}">
                  <a16:creationId xmlns:a16="http://schemas.microsoft.com/office/drawing/2014/main" id="{96D937AD-01D3-A572-F878-85CBC99B5A3E}"/>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dirty="0">
                  <a:solidFill>
                    <a:prstClr val="black"/>
                  </a:solidFill>
                </a:rPr>
                <a:t>line 6</a:t>
              </a:r>
              <a:endParaRPr lang="en-US" sz="1600" dirty="0">
                <a:solidFill>
                  <a:prstClr val="black"/>
                </a:solidFill>
              </a:endParaRPr>
            </a:p>
          </p:txBody>
        </p:sp>
      </p:grpSp>
      <p:grpSp>
        <p:nvGrpSpPr>
          <p:cNvPr id="62" name="Group 61">
            <a:extLst>
              <a:ext uri="{FF2B5EF4-FFF2-40B4-BE49-F238E27FC236}">
                <a16:creationId xmlns:a16="http://schemas.microsoft.com/office/drawing/2014/main" id="{911A35C9-8519-01AB-F7FD-E8896B8FBF79}"/>
              </a:ext>
            </a:extLst>
          </p:cNvPr>
          <p:cNvGrpSpPr/>
          <p:nvPr/>
        </p:nvGrpSpPr>
        <p:grpSpPr>
          <a:xfrm>
            <a:off x="5034809" y="1685923"/>
            <a:ext cx="1550319" cy="1105902"/>
            <a:chOff x="6208226" y="3196069"/>
            <a:chExt cx="1550319" cy="1105902"/>
          </a:xfrm>
        </p:grpSpPr>
        <p:sp>
          <p:nvSpPr>
            <p:cNvPr id="63" name="Oval 62">
              <a:extLst>
                <a:ext uri="{FF2B5EF4-FFF2-40B4-BE49-F238E27FC236}">
                  <a16:creationId xmlns:a16="http://schemas.microsoft.com/office/drawing/2014/main" id="{87FA4A3E-DD52-EFBC-F7A2-A1D2E1429093}"/>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4" name="Cloud Callout 16">
              <a:extLst>
                <a:ext uri="{FF2B5EF4-FFF2-40B4-BE49-F238E27FC236}">
                  <a16:creationId xmlns:a16="http://schemas.microsoft.com/office/drawing/2014/main" id="{26AA8DB2-13F9-94E0-5AC1-66F58EF00360}"/>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65" name="TextBox 64">
              <a:extLst>
                <a:ext uri="{FF2B5EF4-FFF2-40B4-BE49-F238E27FC236}">
                  <a16:creationId xmlns:a16="http://schemas.microsoft.com/office/drawing/2014/main" id="{EEBA56CC-0716-1F6C-38A4-3A0CBBFCF1A3}"/>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dirty="0">
                  <a:solidFill>
                    <a:prstClr val="black"/>
                  </a:solidFill>
                </a:rPr>
                <a:t>line 5</a:t>
              </a:r>
              <a:endParaRPr lang="en-US" sz="1600" dirty="0">
                <a:solidFill>
                  <a:prstClr val="black"/>
                </a:solidFill>
              </a:endParaRPr>
            </a:p>
          </p:txBody>
        </p:sp>
      </p:grpSp>
      <p:cxnSp>
        <p:nvCxnSpPr>
          <p:cNvPr id="66" name="Straight Arrow Connector 65">
            <a:extLst>
              <a:ext uri="{FF2B5EF4-FFF2-40B4-BE49-F238E27FC236}">
                <a16:creationId xmlns:a16="http://schemas.microsoft.com/office/drawing/2014/main" id="{A1108711-309E-81FF-F9C0-860E710D317D}"/>
              </a:ext>
            </a:extLst>
          </p:cNvPr>
          <p:cNvCxnSpPr>
            <a:cxnSpLocks/>
          </p:cNvCxnSpPr>
          <p:nvPr/>
        </p:nvCxnSpPr>
        <p:spPr>
          <a:xfrm flipV="1">
            <a:off x="6897948" y="2882175"/>
            <a:ext cx="515509" cy="583564"/>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6A1946D-9133-D0AD-5DCC-401372ADEB8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99648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26</a:t>
            </a:fld>
            <a:endParaRPr lang="en-US">
              <a:solidFill>
                <a:prstClr val="black">
                  <a:tint val="75000"/>
                </a:prstClr>
              </a:solidFill>
            </a:endParaRPr>
          </a:p>
        </p:txBody>
      </p:sp>
      <p:sp>
        <p:nvSpPr>
          <p:cNvPr id="5" name="Title 1">
            <a:extLst>
              <a:ext uri="{FF2B5EF4-FFF2-40B4-BE49-F238E27FC236}">
                <a16:creationId xmlns:a16="http://schemas.microsoft.com/office/drawing/2014/main" id="{2CCBF307-40AC-03C6-F2F5-C2763D9B59A6}"/>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Peterson’s algo: progress property?</a:t>
            </a:r>
            <a:endParaRPr lang="sv-SE" sz="3600" b="1" dirty="0">
              <a:solidFill>
                <a:schemeClr val="accent1">
                  <a:lumMod val="50000"/>
                </a:schemeClr>
              </a:solidFill>
            </a:endParaRPr>
          </a:p>
        </p:txBody>
      </p:sp>
      <p:pic>
        <p:nvPicPr>
          <p:cNvPr id="6" name="Graphic 5">
            <a:extLst>
              <a:ext uri="{FF2B5EF4-FFF2-40B4-BE49-F238E27FC236}">
                <a16:creationId xmlns:a16="http://schemas.microsoft.com/office/drawing/2014/main" id="{4511954D-01F5-F3A5-DBAF-7B90F8CFC0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352" y="1336241"/>
            <a:ext cx="3225800" cy="2489200"/>
          </a:xfrm>
          <a:prstGeom prst="rect">
            <a:avLst/>
          </a:prstGeom>
        </p:spPr>
      </p:pic>
      <p:cxnSp>
        <p:nvCxnSpPr>
          <p:cNvPr id="10" name="Straight Connector 9">
            <a:extLst>
              <a:ext uri="{FF2B5EF4-FFF2-40B4-BE49-F238E27FC236}">
                <a16:creationId xmlns:a16="http://schemas.microsoft.com/office/drawing/2014/main" id="{56979CD3-9C32-ED4F-5588-F2CB6CEA0BF2}"/>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6511CD-A10C-76D4-9924-F11E42CD9ECF}"/>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2C2E872-6998-A761-4880-38DEC4E3E613}"/>
              </a:ext>
            </a:extLst>
          </p:cNvPr>
          <p:cNvGrpSpPr/>
          <p:nvPr/>
        </p:nvGrpSpPr>
        <p:grpSpPr>
          <a:xfrm>
            <a:off x="9224129" y="3902246"/>
            <a:ext cx="2037831" cy="369332"/>
            <a:chOff x="9352361" y="5886897"/>
            <a:chExt cx="2037831" cy="369332"/>
          </a:xfrm>
        </p:grpSpPr>
        <p:cxnSp>
          <p:nvCxnSpPr>
            <p:cNvPr id="13" name="Straight Arrow Connector 12">
              <a:extLst>
                <a:ext uri="{FF2B5EF4-FFF2-40B4-BE49-F238E27FC236}">
                  <a16:creationId xmlns:a16="http://schemas.microsoft.com/office/drawing/2014/main" id="{3D566659-BF85-0B13-D7C6-EF41DFE01760}"/>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EFC54DA-C12E-1D84-D864-4BD451D172B7}"/>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15" name="Oval 14">
            <a:extLst>
              <a:ext uri="{FF2B5EF4-FFF2-40B4-BE49-F238E27FC236}">
                <a16:creationId xmlns:a16="http://schemas.microsoft.com/office/drawing/2014/main" id="{DFFCAAEA-00E3-843E-20A2-AE15EF211558}"/>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6" name="Oval 15">
            <a:extLst>
              <a:ext uri="{FF2B5EF4-FFF2-40B4-BE49-F238E27FC236}">
                <a16:creationId xmlns:a16="http://schemas.microsoft.com/office/drawing/2014/main" id="{3335C024-AEF4-B936-5916-DCE95C14E833}"/>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17" name="Group 16">
            <a:extLst>
              <a:ext uri="{FF2B5EF4-FFF2-40B4-BE49-F238E27FC236}">
                <a16:creationId xmlns:a16="http://schemas.microsoft.com/office/drawing/2014/main" id="{4028ACCD-6D5A-F408-B964-4B134647491C}"/>
              </a:ext>
            </a:extLst>
          </p:cNvPr>
          <p:cNvGrpSpPr/>
          <p:nvPr/>
        </p:nvGrpSpPr>
        <p:grpSpPr>
          <a:xfrm>
            <a:off x="5269230" y="1278255"/>
            <a:ext cx="3667647" cy="1512807"/>
            <a:chOff x="3694984" y="2746836"/>
            <a:chExt cx="3667647" cy="1512807"/>
          </a:xfrm>
        </p:grpSpPr>
        <p:sp>
          <p:nvSpPr>
            <p:cNvPr id="18" name="Cloud Callout 17">
              <a:extLst>
                <a:ext uri="{FF2B5EF4-FFF2-40B4-BE49-F238E27FC236}">
                  <a16:creationId xmlns:a16="http://schemas.microsoft.com/office/drawing/2014/main" id="{580B7C3E-9B3E-C428-B306-7174D7FA2D4F}"/>
                </a:ext>
              </a:extLst>
            </p:cNvPr>
            <p:cNvSpPr/>
            <p:nvPr/>
          </p:nvSpPr>
          <p:spPr>
            <a:xfrm>
              <a:off x="3694984" y="2746836"/>
              <a:ext cx="3667647" cy="1024288"/>
            </a:xfrm>
            <a:prstGeom prst="cloudCallout">
              <a:avLst>
                <a:gd name="adj1" fmla="val -36309"/>
                <a:gd name="adj2" fmla="val 8908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19" name="TextBox 18">
              <a:extLst>
                <a:ext uri="{FF2B5EF4-FFF2-40B4-BE49-F238E27FC236}">
                  <a16:creationId xmlns:a16="http://schemas.microsoft.com/office/drawing/2014/main" id="{8EC9352F-ADDA-C984-E305-3039856ACB13}"/>
                </a:ext>
              </a:extLst>
            </p:cNvPr>
            <p:cNvSpPr txBox="1"/>
            <p:nvPr/>
          </p:nvSpPr>
          <p:spPr>
            <a:xfrm>
              <a:off x="4177958" y="2959160"/>
              <a:ext cx="2604657" cy="584775"/>
            </a:xfrm>
            <a:prstGeom prst="rect">
              <a:avLst/>
            </a:prstGeom>
            <a:solidFill>
              <a:schemeClr val="bg1"/>
            </a:solidFill>
          </p:spPr>
          <p:txBody>
            <a:bodyPr wrap="square" rtlCol="0">
              <a:spAutoFit/>
            </a:bodyPr>
            <a:lstStyle/>
            <a:p>
              <a:r>
                <a:rPr lang="en-US" sz="1600" dirty="0">
                  <a:solidFill>
                    <a:prstClr val="black"/>
                  </a:solidFill>
                </a:rPr>
                <a:t>Inside loop in line 7 (turn value is </a:t>
              </a:r>
              <a:r>
                <a:rPr lang="en-US" sz="1600" dirty="0" err="1">
                  <a:solidFill>
                    <a:prstClr val="black"/>
                  </a:solidFill>
                </a:rPr>
                <a:t>idB</a:t>
              </a:r>
              <a:r>
                <a:rPr lang="en-US" sz="1600" dirty="0">
                  <a:solidFill>
                    <a:prstClr val="black"/>
                  </a:solidFill>
                </a:rPr>
                <a:t> and </a:t>
              </a:r>
              <a:r>
                <a:rPr lang="en-US" sz="1600" dirty="0" err="1">
                  <a:solidFill>
                    <a:prstClr val="black"/>
                  </a:solidFill>
                </a:rPr>
                <a:t>flagB</a:t>
              </a:r>
              <a:r>
                <a:rPr lang="en-US" sz="1600" dirty="0">
                  <a:solidFill>
                    <a:prstClr val="black"/>
                  </a:solidFill>
                </a:rPr>
                <a:t> is true)</a:t>
              </a:r>
              <a:endParaRPr lang="en-US" sz="1600" dirty="0">
                <a:solidFill>
                  <a:srgbClr val="C00000"/>
                </a:solidFill>
              </a:endParaRPr>
            </a:p>
          </p:txBody>
        </p:sp>
        <p:sp>
          <p:nvSpPr>
            <p:cNvPr id="20" name="Oval 19">
              <a:extLst>
                <a:ext uri="{FF2B5EF4-FFF2-40B4-BE49-F238E27FC236}">
                  <a16:creationId xmlns:a16="http://schemas.microsoft.com/office/drawing/2014/main" id="{B18685A4-6782-DD0B-A7B7-4DC48FB52AC0}"/>
                </a:ext>
              </a:extLst>
            </p:cNvPr>
            <p:cNvSpPr/>
            <p:nvPr/>
          </p:nvSpPr>
          <p:spPr>
            <a:xfrm>
              <a:off x="4105958" y="411564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pic>
        <p:nvPicPr>
          <p:cNvPr id="21" name="Picture 20" descr="Icon&#10;&#10;Description automatically generated">
            <a:extLst>
              <a:ext uri="{FF2B5EF4-FFF2-40B4-BE49-F238E27FC236}">
                <a16:creationId xmlns:a16="http://schemas.microsoft.com/office/drawing/2014/main" id="{50299D5A-59D0-B7FB-D7BE-0EFE656374B6}"/>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flipH="1">
            <a:off x="9224129" y="1832442"/>
            <a:ext cx="885686" cy="442843"/>
          </a:xfrm>
          <a:prstGeom prst="rect">
            <a:avLst/>
          </a:prstGeom>
        </p:spPr>
      </p:pic>
      <p:pic>
        <p:nvPicPr>
          <p:cNvPr id="22" name="Picture 21" descr="A picture containing text&#10;&#10;Description automatically generated">
            <a:extLst>
              <a:ext uri="{FF2B5EF4-FFF2-40B4-BE49-F238E27FC236}">
                <a16:creationId xmlns:a16="http://schemas.microsoft.com/office/drawing/2014/main" id="{948CB340-FF48-9FA1-51C9-4BEE045593CA}"/>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9550378" y="1639287"/>
            <a:ext cx="1803422" cy="1014425"/>
          </a:xfrm>
          <a:prstGeom prst="rect">
            <a:avLst/>
          </a:prstGeom>
        </p:spPr>
      </p:pic>
      <p:sp>
        <p:nvSpPr>
          <p:cNvPr id="23" name="Rectangle 22">
            <a:extLst>
              <a:ext uri="{FF2B5EF4-FFF2-40B4-BE49-F238E27FC236}">
                <a16:creationId xmlns:a16="http://schemas.microsoft.com/office/drawing/2014/main" id="{9CD90556-5641-21CF-7DCE-3AF56DF9ADE0}"/>
              </a:ext>
            </a:extLst>
          </p:cNvPr>
          <p:cNvSpPr/>
          <p:nvPr/>
        </p:nvSpPr>
        <p:spPr>
          <a:xfrm>
            <a:off x="5752204" y="3422241"/>
            <a:ext cx="5509756"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RS</a:t>
            </a:r>
          </a:p>
        </p:txBody>
      </p:sp>
      <p:sp>
        <p:nvSpPr>
          <p:cNvPr id="2" name="Date Placeholder 1">
            <a:extLst>
              <a:ext uri="{FF2B5EF4-FFF2-40B4-BE49-F238E27FC236}">
                <a16:creationId xmlns:a16="http://schemas.microsoft.com/office/drawing/2014/main" id="{B43E847D-57DD-88F2-282F-A3981B3D0EC4}"/>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09830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3F19581E-C58F-4F83-8FA8-2E7A8A7C33AE}" type="slidenum">
              <a:rPr lang="en-US" smtClean="0">
                <a:solidFill>
                  <a:prstClr val="black">
                    <a:tint val="75000"/>
                  </a:prstClr>
                </a:solidFill>
              </a:rPr>
              <a:pPr>
                <a:defRPr/>
              </a:pPr>
              <a:t>27</a:t>
            </a:fld>
            <a:endParaRPr lang="en-US">
              <a:solidFill>
                <a:prstClr val="black">
                  <a:tint val="75000"/>
                </a:prstClr>
              </a:solidFill>
            </a:endParaRPr>
          </a:p>
        </p:txBody>
      </p:sp>
      <p:sp>
        <p:nvSpPr>
          <p:cNvPr id="5" name="Title 1">
            <a:extLst>
              <a:ext uri="{FF2B5EF4-FFF2-40B4-BE49-F238E27FC236}">
                <a16:creationId xmlns:a16="http://schemas.microsoft.com/office/drawing/2014/main" id="{C5F2584E-B1FA-48D2-0E87-0D7B51D6E320}"/>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Peterson’s algo: fairness property?</a:t>
            </a:r>
            <a:endParaRPr lang="sv-SE" sz="3600" b="1" dirty="0">
              <a:solidFill>
                <a:schemeClr val="accent1">
                  <a:lumMod val="50000"/>
                </a:schemeClr>
              </a:solidFill>
            </a:endParaRPr>
          </a:p>
        </p:txBody>
      </p:sp>
      <p:pic>
        <p:nvPicPr>
          <p:cNvPr id="6" name="Graphic 5">
            <a:extLst>
              <a:ext uri="{FF2B5EF4-FFF2-40B4-BE49-F238E27FC236}">
                <a16:creationId xmlns:a16="http://schemas.microsoft.com/office/drawing/2014/main" id="{BD9BBD66-A958-E2C5-379F-E6BC77153A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352" y="1336241"/>
            <a:ext cx="3225800" cy="2489200"/>
          </a:xfrm>
          <a:prstGeom prst="rect">
            <a:avLst/>
          </a:prstGeom>
        </p:spPr>
      </p:pic>
      <p:cxnSp>
        <p:nvCxnSpPr>
          <p:cNvPr id="10" name="Straight Connector 9">
            <a:extLst>
              <a:ext uri="{FF2B5EF4-FFF2-40B4-BE49-F238E27FC236}">
                <a16:creationId xmlns:a16="http://schemas.microsoft.com/office/drawing/2014/main" id="{0C739E7E-252C-2F49-1111-FDDC7B7827D7}"/>
              </a:ext>
            </a:extLst>
          </p:cNvPr>
          <p:cNvCxnSpPr>
            <a:cxnSpLocks/>
          </p:cNvCxnSpPr>
          <p:nvPr/>
        </p:nvCxnSpPr>
        <p:spPr>
          <a:xfrm>
            <a:off x="4978099" y="2716727"/>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BDCA57D-7A0F-1310-510D-D9473CAE6567}"/>
              </a:ext>
            </a:extLst>
          </p:cNvPr>
          <p:cNvCxnSpPr>
            <a:cxnSpLocks/>
          </p:cNvCxnSpPr>
          <p:nvPr/>
        </p:nvCxnSpPr>
        <p:spPr>
          <a:xfrm>
            <a:off x="4978099" y="3605121"/>
            <a:ext cx="629254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A67AD7D-AD78-BA57-6ADB-C61EC69D032A}"/>
              </a:ext>
            </a:extLst>
          </p:cNvPr>
          <p:cNvSpPr/>
          <p:nvPr/>
        </p:nvSpPr>
        <p:spPr>
          <a:xfrm>
            <a:off x="5266001" y="2544471"/>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grpSp>
        <p:nvGrpSpPr>
          <p:cNvPr id="14" name="Group 13">
            <a:extLst>
              <a:ext uri="{FF2B5EF4-FFF2-40B4-BE49-F238E27FC236}">
                <a16:creationId xmlns:a16="http://schemas.microsoft.com/office/drawing/2014/main" id="{B648784A-AB97-F0EB-F653-40847D1257E8}"/>
              </a:ext>
            </a:extLst>
          </p:cNvPr>
          <p:cNvGrpSpPr/>
          <p:nvPr/>
        </p:nvGrpSpPr>
        <p:grpSpPr>
          <a:xfrm>
            <a:off x="9224129" y="3902246"/>
            <a:ext cx="2037831" cy="369332"/>
            <a:chOff x="9352361" y="5886897"/>
            <a:chExt cx="2037831" cy="369332"/>
          </a:xfrm>
        </p:grpSpPr>
        <p:cxnSp>
          <p:nvCxnSpPr>
            <p:cNvPr id="15" name="Straight Arrow Connector 14">
              <a:extLst>
                <a:ext uri="{FF2B5EF4-FFF2-40B4-BE49-F238E27FC236}">
                  <a16:creationId xmlns:a16="http://schemas.microsoft.com/office/drawing/2014/main" id="{5AEB910A-BEDC-05FC-B7E2-D8C1C70DEB6E}"/>
                </a:ext>
              </a:extLst>
            </p:cNvPr>
            <p:cNvCxnSpPr/>
            <p:nvPr/>
          </p:nvCxnSpPr>
          <p:spPr>
            <a:xfrm>
              <a:off x="9352361" y="6256229"/>
              <a:ext cx="203783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2F9B06E-13F0-A316-3534-D3BE5E1028E6}"/>
                </a:ext>
              </a:extLst>
            </p:cNvPr>
            <p:cNvSpPr txBox="1"/>
            <p:nvPr/>
          </p:nvSpPr>
          <p:spPr>
            <a:xfrm>
              <a:off x="10654609" y="5886897"/>
              <a:ext cx="702436" cy="369332"/>
            </a:xfrm>
            <a:prstGeom prst="rect">
              <a:avLst/>
            </a:prstGeom>
            <a:noFill/>
          </p:spPr>
          <p:txBody>
            <a:bodyPr wrap="none" rtlCol="0">
              <a:spAutoFit/>
            </a:bodyPr>
            <a:lstStyle/>
            <a:p>
              <a:r>
                <a:rPr lang="sv-SE" dirty="0" err="1">
                  <a:solidFill>
                    <a:prstClr val="black"/>
                  </a:solidFill>
                </a:rPr>
                <a:t>Time</a:t>
              </a:r>
              <a:r>
                <a:rPr lang="sv-SE" dirty="0">
                  <a:solidFill>
                    <a:prstClr val="black"/>
                  </a:solidFill>
                </a:rPr>
                <a:t> </a:t>
              </a:r>
            </a:p>
          </p:txBody>
        </p:sp>
      </p:grpSp>
      <p:sp>
        <p:nvSpPr>
          <p:cNvPr id="17" name="Oval 16">
            <a:extLst>
              <a:ext uri="{FF2B5EF4-FFF2-40B4-BE49-F238E27FC236}">
                <a16:creationId xmlns:a16="http://schemas.microsoft.com/office/drawing/2014/main" id="{ACF4A4F1-A988-542E-E41C-F77DAA078AE6}"/>
              </a:ext>
            </a:extLst>
          </p:cNvPr>
          <p:cNvSpPr/>
          <p:nvPr/>
        </p:nvSpPr>
        <p:spPr>
          <a:xfrm>
            <a:off x="4468213" y="2503842"/>
            <a:ext cx="425770" cy="4257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a:t>
            </a:r>
          </a:p>
        </p:txBody>
      </p:sp>
      <p:sp>
        <p:nvSpPr>
          <p:cNvPr id="18" name="Oval 17">
            <a:extLst>
              <a:ext uri="{FF2B5EF4-FFF2-40B4-BE49-F238E27FC236}">
                <a16:creationId xmlns:a16="http://schemas.microsoft.com/office/drawing/2014/main" id="{939F5AAD-452A-14D8-956B-DB65483BFD89}"/>
              </a:ext>
            </a:extLst>
          </p:cNvPr>
          <p:cNvSpPr/>
          <p:nvPr/>
        </p:nvSpPr>
        <p:spPr>
          <a:xfrm>
            <a:off x="4461312" y="3376762"/>
            <a:ext cx="425770" cy="42577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B</a:t>
            </a:r>
          </a:p>
        </p:txBody>
      </p:sp>
      <p:grpSp>
        <p:nvGrpSpPr>
          <p:cNvPr id="19" name="Group 18">
            <a:extLst>
              <a:ext uri="{FF2B5EF4-FFF2-40B4-BE49-F238E27FC236}">
                <a16:creationId xmlns:a16="http://schemas.microsoft.com/office/drawing/2014/main" id="{FC5BDAD4-410F-DF72-D218-B2687EE004B8}"/>
              </a:ext>
            </a:extLst>
          </p:cNvPr>
          <p:cNvGrpSpPr/>
          <p:nvPr/>
        </p:nvGrpSpPr>
        <p:grpSpPr>
          <a:xfrm>
            <a:off x="8977222" y="1685251"/>
            <a:ext cx="2251591" cy="1094848"/>
            <a:chOff x="2488694" y="3176225"/>
            <a:chExt cx="2251591" cy="1094848"/>
          </a:xfrm>
        </p:grpSpPr>
        <p:sp>
          <p:nvSpPr>
            <p:cNvPr id="20" name="Cloud Callout 19">
              <a:extLst>
                <a:ext uri="{FF2B5EF4-FFF2-40B4-BE49-F238E27FC236}">
                  <a16:creationId xmlns:a16="http://schemas.microsoft.com/office/drawing/2014/main" id="{B9DCA5E9-F025-1D47-7D36-AF1E19272BFB}"/>
                </a:ext>
              </a:extLst>
            </p:cNvPr>
            <p:cNvSpPr/>
            <p:nvPr/>
          </p:nvSpPr>
          <p:spPr>
            <a:xfrm>
              <a:off x="2488694" y="3176225"/>
              <a:ext cx="2251591" cy="673407"/>
            </a:xfrm>
            <a:prstGeom prst="cloudCallout">
              <a:avLst>
                <a:gd name="adj1" fmla="val -43790"/>
                <a:gd name="adj2" fmla="val 10314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1" name="TextBox 20">
              <a:extLst>
                <a:ext uri="{FF2B5EF4-FFF2-40B4-BE49-F238E27FC236}">
                  <a16:creationId xmlns:a16="http://schemas.microsoft.com/office/drawing/2014/main" id="{942AE892-CE30-D0BB-2656-BBDB2AEC23D2}"/>
                </a:ext>
              </a:extLst>
            </p:cNvPr>
            <p:cNvSpPr txBox="1"/>
            <p:nvPr/>
          </p:nvSpPr>
          <p:spPr>
            <a:xfrm>
              <a:off x="2815866" y="3299979"/>
              <a:ext cx="1597245" cy="338554"/>
            </a:xfrm>
            <a:prstGeom prst="rect">
              <a:avLst/>
            </a:prstGeom>
            <a:solidFill>
              <a:schemeClr val="bg1"/>
            </a:solidFill>
          </p:spPr>
          <p:txBody>
            <a:bodyPr wrap="square" rtlCol="0">
              <a:spAutoFit/>
            </a:bodyPr>
            <a:lstStyle/>
            <a:p>
              <a:r>
                <a:rPr lang="en-US" sz="1600" dirty="0">
                  <a:solidFill>
                    <a:prstClr val="black"/>
                  </a:solidFill>
                </a:rPr>
                <a:t>completes line 7</a:t>
              </a:r>
              <a:endParaRPr lang="en-US" sz="1600" dirty="0">
                <a:solidFill>
                  <a:srgbClr val="C00000"/>
                </a:solidFill>
              </a:endParaRPr>
            </a:p>
          </p:txBody>
        </p:sp>
        <p:sp>
          <p:nvSpPr>
            <p:cNvPr id="22" name="Oval 21">
              <a:extLst>
                <a:ext uri="{FF2B5EF4-FFF2-40B4-BE49-F238E27FC236}">
                  <a16:creationId xmlns:a16="http://schemas.microsoft.com/office/drawing/2014/main" id="{1FF33D7E-3103-6F89-38CB-230DEAA4E1A9}"/>
                </a:ext>
              </a:extLst>
            </p:cNvPr>
            <p:cNvSpPr/>
            <p:nvPr/>
          </p:nvSpPr>
          <p:spPr>
            <a:xfrm>
              <a:off x="2551478" y="4127073"/>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grpSp>
        <p:nvGrpSpPr>
          <p:cNvPr id="23" name="Group 22">
            <a:extLst>
              <a:ext uri="{FF2B5EF4-FFF2-40B4-BE49-F238E27FC236}">
                <a16:creationId xmlns:a16="http://schemas.microsoft.com/office/drawing/2014/main" id="{A917519E-F86C-8B81-5F01-23E0822BA9BC}"/>
              </a:ext>
            </a:extLst>
          </p:cNvPr>
          <p:cNvGrpSpPr/>
          <p:nvPr/>
        </p:nvGrpSpPr>
        <p:grpSpPr>
          <a:xfrm>
            <a:off x="5403018" y="2877506"/>
            <a:ext cx="2975172" cy="791788"/>
            <a:chOff x="5118108" y="2864732"/>
            <a:chExt cx="2975172" cy="791788"/>
          </a:xfrm>
        </p:grpSpPr>
        <p:sp>
          <p:nvSpPr>
            <p:cNvPr id="24" name="Cloud Callout 23">
              <a:extLst>
                <a:ext uri="{FF2B5EF4-FFF2-40B4-BE49-F238E27FC236}">
                  <a16:creationId xmlns:a16="http://schemas.microsoft.com/office/drawing/2014/main" id="{28FCAEBB-F275-8FFF-8EDD-CCCF2366B59B}"/>
                </a:ext>
              </a:extLst>
            </p:cNvPr>
            <p:cNvSpPr/>
            <p:nvPr/>
          </p:nvSpPr>
          <p:spPr>
            <a:xfrm flipV="1">
              <a:off x="5856614" y="2864732"/>
              <a:ext cx="2236666" cy="631906"/>
            </a:xfrm>
            <a:prstGeom prst="cloudCallout">
              <a:avLst>
                <a:gd name="adj1" fmla="val -78090"/>
                <a:gd name="adj2" fmla="val -63175"/>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solidFill>
                  <a:prstClr val="white"/>
                </a:solidFill>
              </a:endParaRPr>
            </a:p>
          </p:txBody>
        </p:sp>
        <p:sp>
          <p:nvSpPr>
            <p:cNvPr id="25" name="Oval 24">
              <a:extLst>
                <a:ext uri="{FF2B5EF4-FFF2-40B4-BE49-F238E27FC236}">
                  <a16:creationId xmlns:a16="http://schemas.microsoft.com/office/drawing/2014/main" id="{DB96B44C-1777-22EA-13EA-3D5F40037ADC}"/>
                </a:ext>
              </a:extLst>
            </p:cNvPr>
            <p:cNvSpPr/>
            <p:nvPr/>
          </p:nvSpPr>
          <p:spPr>
            <a:xfrm>
              <a:off x="5118108" y="3522775"/>
              <a:ext cx="127368" cy="133745"/>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6" name="TextBox 25">
              <a:extLst>
                <a:ext uri="{FF2B5EF4-FFF2-40B4-BE49-F238E27FC236}">
                  <a16:creationId xmlns:a16="http://schemas.microsoft.com/office/drawing/2014/main" id="{1D041DA4-AF91-8025-3DCF-45B7F9CD527B}"/>
                </a:ext>
              </a:extLst>
            </p:cNvPr>
            <p:cNvSpPr txBox="1"/>
            <p:nvPr/>
          </p:nvSpPr>
          <p:spPr>
            <a:xfrm>
              <a:off x="6216729" y="3020618"/>
              <a:ext cx="1516163" cy="338554"/>
            </a:xfrm>
            <a:prstGeom prst="rect">
              <a:avLst/>
            </a:prstGeom>
            <a:solidFill>
              <a:schemeClr val="bg1"/>
            </a:solidFill>
          </p:spPr>
          <p:txBody>
            <a:bodyPr wrap="square" rtlCol="0">
              <a:spAutoFit/>
            </a:bodyPr>
            <a:lstStyle/>
            <a:p>
              <a:r>
                <a:rPr lang="en-US" sz="1600" i="1" dirty="0">
                  <a:solidFill>
                    <a:prstClr val="black"/>
                  </a:solidFill>
                </a:rPr>
                <a:t>looping in line 7</a:t>
              </a:r>
              <a:endParaRPr lang="en-US" sz="1600" dirty="0">
                <a:solidFill>
                  <a:prstClr val="black"/>
                </a:solidFill>
              </a:endParaRPr>
            </a:p>
          </p:txBody>
        </p:sp>
      </p:grpSp>
      <p:grpSp>
        <p:nvGrpSpPr>
          <p:cNvPr id="27" name="Group 26">
            <a:extLst>
              <a:ext uri="{FF2B5EF4-FFF2-40B4-BE49-F238E27FC236}">
                <a16:creationId xmlns:a16="http://schemas.microsoft.com/office/drawing/2014/main" id="{2C802E75-5B9F-E5B7-6067-E7299E796AC3}"/>
              </a:ext>
            </a:extLst>
          </p:cNvPr>
          <p:cNvGrpSpPr/>
          <p:nvPr/>
        </p:nvGrpSpPr>
        <p:grpSpPr>
          <a:xfrm>
            <a:off x="6919630" y="1675895"/>
            <a:ext cx="1550319" cy="1105902"/>
            <a:chOff x="6208226" y="3196069"/>
            <a:chExt cx="1550319" cy="1105902"/>
          </a:xfrm>
        </p:grpSpPr>
        <p:sp>
          <p:nvSpPr>
            <p:cNvPr id="28" name="Oval 27">
              <a:extLst>
                <a:ext uri="{FF2B5EF4-FFF2-40B4-BE49-F238E27FC236}">
                  <a16:creationId xmlns:a16="http://schemas.microsoft.com/office/drawing/2014/main" id="{409984D7-C477-AF4B-25E7-A6D70A0A963D}"/>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29" name="Cloud Callout 16">
              <a:extLst>
                <a:ext uri="{FF2B5EF4-FFF2-40B4-BE49-F238E27FC236}">
                  <a16:creationId xmlns:a16="http://schemas.microsoft.com/office/drawing/2014/main" id="{25DCC78F-1CA6-2283-BA94-E0DDCAB9796B}"/>
                </a:ext>
              </a:extLst>
            </p:cNvPr>
            <p:cNvSpPr/>
            <p:nvPr/>
          </p:nvSpPr>
          <p:spPr>
            <a:xfrm>
              <a:off x="6750855" y="3196069"/>
              <a:ext cx="1007690" cy="856515"/>
            </a:xfrm>
            <a:prstGeom prst="cloudCallout">
              <a:avLst>
                <a:gd name="adj1" fmla="val -62799"/>
                <a:gd name="adj2" fmla="val 5449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0" name="TextBox 29">
              <a:extLst>
                <a:ext uri="{FF2B5EF4-FFF2-40B4-BE49-F238E27FC236}">
                  <a16:creationId xmlns:a16="http://schemas.microsoft.com/office/drawing/2014/main" id="{9C4E49CE-670F-DD58-BEED-BF97C67B26F0}"/>
                </a:ext>
              </a:extLst>
            </p:cNvPr>
            <p:cNvSpPr txBox="1"/>
            <p:nvPr/>
          </p:nvSpPr>
          <p:spPr>
            <a:xfrm>
              <a:off x="6932664" y="3373288"/>
              <a:ext cx="717219" cy="338554"/>
            </a:xfrm>
            <a:prstGeom prst="rect">
              <a:avLst/>
            </a:prstGeom>
            <a:solidFill>
              <a:schemeClr val="bg1"/>
            </a:solidFill>
          </p:spPr>
          <p:txBody>
            <a:bodyPr wrap="square" rtlCol="0">
              <a:spAutoFit/>
            </a:bodyPr>
            <a:lstStyle/>
            <a:p>
              <a:r>
                <a:rPr lang="en-US" sz="1600" i="1" dirty="0">
                  <a:solidFill>
                    <a:prstClr val="black"/>
                  </a:solidFill>
                </a:rPr>
                <a:t>line 5</a:t>
              </a:r>
              <a:endParaRPr lang="en-US" sz="1600" dirty="0">
                <a:solidFill>
                  <a:prstClr val="black"/>
                </a:solidFill>
              </a:endParaRPr>
            </a:p>
          </p:txBody>
        </p:sp>
      </p:grpSp>
      <p:grpSp>
        <p:nvGrpSpPr>
          <p:cNvPr id="31" name="Group 30">
            <a:extLst>
              <a:ext uri="{FF2B5EF4-FFF2-40B4-BE49-F238E27FC236}">
                <a16:creationId xmlns:a16="http://schemas.microsoft.com/office/drawing/2014/main" id="{A538112F-9DBC-A15E-C771-A755652A5028}"/>
              </a:ext>
            </a:extLst>
          </p:cNvPr>
          <p:cNvGrpSpPr/>
          <p:nvPr/>
        </p:nvGrpSpPr>
        <p:grpSpPr>
          <a:xfrm>
            <a:off x="6371490" y="1174508"/>
            <a:ext cx="1007690" cy="1598524"/>
            <a:chOff x="6080193" y="2703447"/>
            <a:chExt cx="1007690" cy="1598524"/>
          </a:xfrm>
        </p:grpSpPr>
        <p:sp>
          <p:nvSpPr>
            <p:cNvPr id="33" name="Cloud Callout 16">
              <a:extLst>
                <a:ext uri="{FF2B5EF4-FFF2-40B4-BE49-F238E27FC236}">
                  <a16:creationId xmlns:a16="http://schemas.microsoft.com/office/drawing/2014/main" id="{DB23C26F-6F32-5DA0-35FB-110E94CC402B}"/>
                </a:ext>
              </a:extLst>
            </p:cNvPr>
            <p:cNvSpPr/>
            <p:nvPr/>
          </p:nvSpPr>
          <p:spPr>
            <a:xfrm>
              <a:off x="6080193" y="2703447"/>
              <a:ext cx="1007690" cy="856515"/>
            </a:xfrm>
            <a:prstGeom prst="cloudCallout">
              <a:avLst>
                <a:gd name="adj1" fmla="val -28771"/>
                <a:gd name="adj2" fmla="val 12922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34" name="TextBox 33">
              <a:extLst>
                <a:ext uri="{FF2B5EF4-FFF2-40B4-BE49-F238E27FC236}">
                  <a16:creationId xmlns:a16="http://schemas.microsoft.com/office/drawing/2014/main" id="{3A1D171D-B781-B3AA-1EBF-969BC32AEDA7}"/>
                </a:ext>
              </a:extLst>
            </p:cNvPr>
            <p:cNvSpPr txBox="1"/>
            <p:nvPr/>
          </p:nvSpPr>
          <p:spPr>
            <a:xfrm>
              <a:off x="6262002" y="2880666"/>
              <a:ext cx="717219" cy="338554"/>
            </a:xfrm>
            <a:prstGeom prst="rect">
              <a:avLst/>
            </a:prstGeom>
            <a:solidFill>
              <a:schemeClr val="bg1"/>
            </a:solidFill>
          </p:spPr>
          <p:txBody>
            <a:bodyPr wrap="square" rtlCol="0">
              <a:spAutoFit/>
            </a:bodyPr>
            <a:lstStyle/>
            <a:p>
              <a:r>
                <a:rPr lang="en-US" sz="1600" i="1" dirty="0">
                  <a:solidFill>
                    <a:prstClr val="black"/>
                  </a:solidFill>
                </a:rPr>
                <a:t>line 9</a:t>
              </a:r>
              <a:endParaRPr lang="en-US" sz="1600" dirty="0">
                <a:solidFill>
                  <a:prstClr val="black"/>
                </a:solidFill>
              </a:endParaRPr>
            </a:p>
          </p:txBody>
        </p:sp>
        <p:sp>
          <p:nvSpPr>
            <p:cNvPr id="32" name="Oval 31">
              <a:extLst>
                <a:ext uri="{FF2B5EF4-FFF2-40B4-BE49-F238E27FC236}">
                  <a16:creationId xmlns:a16="http://schemas.microsoft.com/office/drawing/2014/main" id="{0BBA5937-1643-9B6B-AC3D-0CA7A13DA4F7}"/>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sp>
        <p:nvSpPr>
          <p:cNvPr id="36" name="Rectangle 35">
            <a:extLst>
              <a:ext uri="{FF2B5EF4-FFF2-40B4-BE49-F238E27FC236}">
                <a16:creationId xmlns:a16="http://schemas.microsoft.com/office/drawing/2014/main" id="{E39C2B36-758F-5217-9DF5-B69202C8A6A5}"/>
              </a:ext>
            </a:extLst>
          </p:cNvPr>
          <p:cNvSpPr/>
          <p:nvPr/>
        </p:nvSpPr>
        <p:spPr>
          <a:xfrm>
            <a:off x="9652158" y="2532994"/>
            <a:ext cx="991464"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A in CS</a:t>
            </a:r>
          </a:p>
        </p:txBody>
      </p:sp>
      <p:grpSp>
        <p:nvGrpSpPr>
          <p:cNvPr id="37" name="Group 36">
            <a:extLst>
              <a:ext uri="{FF2B5EF4-FFF2-40B4-BE49-F238E27FC236}">
                <a16:creationId xmlns:a16="http://schemas.microsoft.com/office/drawing/2014/main" id="{C161D2E4-EFFF-BD64-4058-F79F73F58EF3}"/>
              </a:ext>
            </a:extLst>
          </p:cNvPr>
          <p:cNvGrpSpPr/>
          <p:nvPr/>
        </p:nvGrpSpPr>
        <p:grpSpPr>
          <a:xfrm>
            <a:off x="8455195" y="912856"/>
            <a:ext cx="1007690" cy="1860176"/>
            <a:chOff x="6205479" y="2441795"/>
            <a:chExt cx="1007690" cy="1860176"/>
          </a:xfrm>
        </p:grpSpPr>
        <p:sp>
          <p:nvSpPr>
            <p:cNvPr id="40" name="Cloud Callout 16">
              <a:extLst>
                <a:ext uri="{FF2B5EF4-FFF2-40B4-BE49-F238E27FC236}">
                  <a16:creationId xmlns:a16="http://schemas.microsoft.com/office/drawing/2014/main" id="{06F5B0FE-ADA6-A5D8-CE11-88D1F9058A91}"/>
                </a:ext>
              </a:extLst>
            </p:cNvPr>
            <p:cNvSpPr/>
            <p:nvPr/>
          </p:nvSpPr>
          <p:spPr>
            <a:xfrm>
              <a:off x="6205479" y="2441795"/>
              <a:ext cx="1007690" cy="856515"/>
            </a:xfrm>
            <a:prstGeom prst="cloudCallout">
              <a:avLst>
                <a:gd name="adj1" fmla="val -43516"/>
                <a:gd name="adj2" fmla="val 15991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sp>
          <p:nvSpPr>
            <p:cNvPr id="41" name="TextBox 40">
              <a:extLst>
                <a:ext uri="{FF2B5EF4-FFF2-40B4-BE49-F238E27FC236}">
                  <a16:creationId xmlns:a16="http://schemas.microsoft.com/office/drawing/2014/main" id="{A782D01B-A1D0-A650-3426-EE46A9A78D25}"/>
                </a:ext>
              </a:extLst>
            </p:cNvPr>
            <p:cNvSpPr txBox="1"/>
            <p:nvPr/>
          </p:nvSpPr>
          <p:spPr>
            <a:xfrm>
              <a:off x="6387288" y="2619014"/>
              <a:ext cx="717219" cy="338554"/>
            </a:xfrm>
            <a:prstGeom prst="rect">
              <a:avLst/>
            </a:prstGeom>
            <a:solidFill>
              <a:schemeClr val="bg1"/>
            </a:solidFill>
          </p:spPr>
          <p:txBody>
            <a:bodyPr wrap="square" rtlCol="0">
              <a:spAutoFit/>
            </a:bodyPr>
            <a:lstStyle/>
            <a:p>
              <a:r>
                <a:rPr lang="en-US" sz="1600" i="1" dirty="0">
                  <a:solidFill>
                    <a:prstClr val="black"/>
                  </a:solidFill>
                </a:rPr>
                <a:t>line 6</a:t>
              </a:r>
              <a:endParaRPr lang="en-US" sz="1600" dirty="0">
                <a:solidFill>
                  <a:prstClr val="black"/>
                </a:solidFill>
              </a:endParaRPr>
            </a:p>
          </p:txBody>
        </p:sp>
        <p:sp>
          <p:nvSpPr>
            <p:cNvPr id="39" name="Oval 38">
              <a:extLst>
                <a:ext uri="{FF2B5EF4-FFF2-40B4-BE49-F238E27FC236}">
                  <a16:creationId xmlns:a16="http://schemas.microsoft.com/office/drawing/2014/main" id="{72EAF98A-67DD-7C44-C7B9-1FB720B0A1D2}"/>
                </a:ext>
              </a:extLst>
            </p:cNvPr>
            <p:cNvSpPr/>
            <p:nvPr/>
          </p:nvSpPr>
          <p:spPr>
            <a:xfrm>
              <a:off x="6208226" y="4157971"/>
              <a:ext cx="144000" cy="14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solidFill>
                  <a:prstClr val="white"/>
                </a:solidFill>
              </a:endParaRPr>
            </a:p>
          </p:txBody>
        </p:sp>
      </p:grpSp>
      <p:sp>
        <p:nvSpPr>
          <p:cNvPr id="42" name="Rectangle 41">
            <a:extLst>
              <a:ext uri="{FF2B5EF4-FFF2-40B4-BE49-F238E27FC236}">
                <a16:creationId xmlns:a16="http://schemas.microsoft.com/office/drawing/2014/main" id="{28393EAD-0925-E424-E624-ACBF2B8B6BB0}"/>
              </a:ext>
            </a:extLst>
          </p:cNvPr>
          <p:cNvSpPr/>
          <p:nvPr/>
        </p:nvSpPr>
        <p:spPr>
          <a:xfrm>
            <a:off x="10904220" y="3417391"/>
            <a:ext cx="1084090" cy="3445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solidFill>
                  <a:prstClr val="white"/>
                </a:solidFill>
              </a:rPr>
              <a:t> B in CS</a:t>
            </a:r>
          </a:p>
        </p:txBody>
      </p:sp>
      <p:pic>
        <p:nvPicPr>
          <p:cNvPr id="43" name="Picture 42" descr="A picture containing text&#10;&#10;Description automatically generated">
            <a:extLst>
              <a:ext uri="{FF2B5EF4-FFF2-40B4-BE49-F238E27FC236}">
                <a16:creationId xmlns:a16="http://schemas.microsoft.com/office/drawing/2014/main" id="{7E9CB446-825C-AA04-3F86-85E1841544C2}"/>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0055333" y="895299"/>
            <a:ext cx="1803422" cy="1014425"/>
          </a:xfrm>
          <a:prstGeom prst="rect">
            <a:avLst/>
          </a:prstGeom>
        </p:spPr>
      </p:pic>
      <p:sp>
        <p:nvSpPr>
          <p:cNvPr id="2" name="Date Placeholder 1">
            <a:extLst>
              <a:ext uri="{FF2B5EF4-FFF2-40B4-BE49-F238E27FC236}">
                <a16:creationId xmlns:a16="http://schemas.microsoft.com/office/drawing/2014/main" id="{2A80CC11-EC85-6888-7D13-E9F1A4AEC455}"/>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840594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6" grpId="0" animBg="1"/>
      <p:bldP spid="4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5596" y="156568"/>
            <a:ext cx="11596857" cy="576064"/>
          </a:xfrm>
        </p:spPr>
        <p:txBody>
          <a:bodyPr/>
          <a:lstStyle/>
          <a:p>
            <a:r>
              <a:rPr lang="en-US" sz="3200" dirty="0">
                <a:latin typeface="Calibri" panose="020F0502020204030204" pitchFamily="34" charset="0"/>
                <a:ea typeface="Calibri" panose="020F0502020204030204" pitchFamily="34" charset="0"/>
                <a:cs typeface="Times New Roman" panose="02020603050405020304" pitchFamily="18" charset="0"/>
              </a:rPr>
              <a:t>On counterexamples &amp; proofs by way of contradiction:</a:t>
            </a:r>
            <a:endParaRPr lang="sv-SE" sz="3200" dirty="0"/>
          </a:p>
        </p:txBody>
      </p:sp>
      <p:sp>
        <p:nvSpPr>
          <p:cNvPr id="3" name="Content Placeholder 2"/>
          <p:cNvSpPr>
            <a:spLocks noGrp="1"/>
          </p:cNvSpPr>
          <p:nvPr>
            <p:ph idx="1"/>
          </p:nvPr>
        </p:nvSpPr>
        <p:spPr>
          <a:xfrm>
            <a:off x="465596" y="1072625"/>
            <a:ext cx="11135854" cy="4712750"/>
          </a:xfrm>
        </p:spPr>
        <p:txBody>
          <a:bodyPr>
            <a:normAutofit/>
          </a:bodyPr>
          <a:lstStyle/>
          <a:p>
            <a:pPr marL="0" indent="0">
              <a:spcAft>
                <a:spcPts val="0"/>
              </a:spcAft>
              <a:buNone/>
            </a:pPr>
            <a:endParaRPr lang="sv-SE" sz="1800" dirty="0">
              <a:latin typeface="Calibri" panose="020F0502020204030204" pitchFamily="34" charset="0"/>
              <a:ea typeface="Calibri" panose="020F0502020204030204" pitchFamily="34" charset="0"/>
              <a:cs typeface="Calibri" panose="020F0502020204030204" pitchFamily="34" charset="0"/>
            </a:endParaRPr>
          </a:p>
          <a:p>
            <a:pPr>
              <a:spcAft>
                <a:spcPts val="0"/>
              </a:spcAft>
            </a:pPr>
            <a:r>
              <a:rPr lang="en-US" sz="1800" dirty="0">
                <a:latin typeface="Calibri" panose="020F0502020204030204" pitchFamily="34" charset="0"/>
                <a:ea typeface="Calibri" panose="020F0502020204030204" pitchFamily="34" charset="0"/>
                <a:cs typeface="Calibri" panose="020F0502020204030204" pitchFamily="34" charset="0"/>
              </a:rPr>
              <a:t>This way of thinking and arguing, when we are presented with a solution to a synchronization problem/race condition (i.e., try to “attack” it, try to determine whether it fails), is practical and useful (and thus very common)</a:t>
            </a:r>
          </a:p>
          <a:p>
            <a:pPr>
              <a:spcAft>
                <a:spcPts val="0"/>
              </a:spcAft>
            </a:pPr>
            <a:r>
              <a:rPr lang="en-US" sz="1800" dirty="0">
                <a:latin typeface="Calibri" panose="020F0502020204030204" pitchFamily="34" charset="0"/>
                <a:ea typeface="Calibri" panose="020F0502020204030204" pitchFamily="34" charset="0"/>
                <a:cs typeface="Calibri" panose="020F0502020204030204" pitchFamily="34" charset="0"/>
              </a:rPr>
              <a:t>It is very frequently used when arguing about correctness/incorrectness of proposed solutions. </a:t>
            </a:r>
            <a:r>
              <a:rPr lang="en-US" sz="1800" dirty="0">
                <a:solidFill>
                  <a:srgbClr val="C00000"/>
                </a:solidFill>
                <a:latin typeface="Calibri" panose="020F0502020204030204" pitchFamily="34" charset="0"/>
                <a:ea typeface="Calibri" panose="020F0502020204030204" pitchFamily="34" charset="0"/>
                <a:cs typeface="Calibri" panose="020F0502020204030204" pitchFamily="34" charset="0"/>
              </a:rPr>
              <a:t>This way of arguing  helps us to:</a:t>
            </a:r>
          </a:p>
          <a:p>
            <a:pPr lvl="1"/>
            <a:r>
              <a:rPr lang="en-US" sz="1800" dirty="0">
                <a:latin typeface="Calibri" panose="020F0502020204030204" pitchFamily="34" charset="0"/>
                <a:ea typeface="Calibri" panose="020F0502020204030204" pitchFamily="34" charset="0"/>
                <a:cs typeface="Calibri" panose="020F0502020204030204" pitchFamily="34" charset="0"/>
              </a:rPr>
              <a:t>give a </a:t>
            </a:r>
            <a:r>
              <a:rPr lang="en-US" sz="1800" dirty="0">
                <a:solidFill>
                  <a:srgbClr val="C00000"/>
                </a:solidFill>
                <a:latin typeface="Calibri" panose="020F0502020204030204" pitchFamily="34" charset="0"/>
                <a:ea typeface="Calibri" panose="020F0502020204030204" pitchFamily="34" charset="0"/>
                <a:cs typeface="Calibri" panose="020F0502020204030204" pitchFamily="34" charset="0"/>
              </a:rPr>
              <a:t>proof by contradiction that a proposition in focus is </a:t>
            </a:r>
            <a:r>
              <a:rPr lang="en-US" sz="1800" i="1" dirty="0">
                <a:solidFill>
                  <a:srgbClr val="C00000"/>
                </a:solidFill>
                <a:latin typeface="Calibri" panose="020F0502020204030204" pitchFamily="34" charset="0"/>
                <a:ea typeface="Calibri" panose="020F0502020204030204" pitchFamily="34" charset="0"/>
                <a:cs typeface="Calibri" panose="020F0502020204030204" pitchFamily="34" charset="0"/>
              </a:rPr>
              <a:t>correct, </a:t>
            </a:r>
            <a:r>
              <a:rPr lang="en-US" sz="1800" dirty="0">
                <a:latin typeface="Calibri" panose="020F0502020204030204" pitchFamily="34" charset="0"/>
                <a:ea typeface="Calibri" panose="020F0502020204030204" pitchFamily="34" charset="0"/>
                <a:cs typeface="Calibri" panose="020F0502020204030204" pitchFamily="34" charset="0"/>
              </a:rPr>
              <a:t>e.g., that mutual exclusion is preserved; </a:t>
            </a:r>
          </a:p>
          <a:p>
            <a:pPr lvl="2"/>
            <a:r>
              <a:rPr lang="en-US" sz="1800" dirty="0">
                <a:latin typeface="Calibri" panose="020F0502020204030204" pitchFamily="34" charset="0"/>
                <a:ea typeface="Calibri" panose="020F0502020204030204" pitchFamily="34" charset="0"/>
                <a:cs typeface="Calibri" panose="020F0502020204030204" pitchFamily="34" charset="0"/>
              </a:rPr>
              <a:t>see about </a:t>
            </a:r>
            <a:r>
              <a:rPr lang="en-US" sz="1800" dirty="0">
                <a:solidFill>
                  <a:srgbClr val="C00000"/>
                </a:solidFill>
                <a:latin typeface="Calibri" panose="020F0502020204030204" pitchFamily="34" charset="0"/>
                <a:ea typeface="Calibri" panose="020F0502020204030204" pitchFamily="34" charset="0"/>
                <a:cs typeface="Calibri" panose="020F0502020204030204" pitchFamily="34" charset="0"/>
              </a:rPr>
              <a:t>proofs by way of contradiction</a:t>
            </a:r>
            <a:r>
              <a:rPr lang="en-US" sz="1800" dirty="0">
                <a:latin typeface="Calibri" panose="020F0502020204030204" pitchFamily="34" charset="0"/>
                <a:ea typeface="Calibri" panose="020F0502020204030204" pitchFamily="34" charset="0"/>
                <a:cs typeface="Calibri" panose="020F0502020204030204" pitchFamily="34" charset="0"/>
              </a:rPr>
              <a:t> @ e.g., </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3"/>
              </a:rPr>
              <a:t>http://cgm.cs.mcgill.ca/~godfried/teaching/dm-reading-assignments/Contradiction-Proofs.pdf</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p 1-4 or </a:t>
            </a:r>
            <a:r>
              <a:rPr lang="sv-SE" sz="1800" dirty="0">
                <a:latin typeface="Calibri" panose="020F0502020204030204" pitchFamily="34" charset="0"/>
                <a:cs typeface="Calibri" panose="020F0502020204030204" pitchFamily="34" charset="0"/>
                <a:hlinkClick r:id="rId4"/>
              </a:rPr>
              <a:t>http://web.stanford.edu/class/archive/cs/cs103/cs103.1152/lectures/02/Small02.pdf</a:t>
            </a:r>
            <a:r>
              <a:rPr lang="sv-SE" sz="1800" dirty="0">
                <a:latin typeface="Calibri" panose="020F0502020204030204" pitchFamily="34" charset="0"/>
                <a:cs typeface="Calibri" panose="020F0502020204030204" pitchFamily="34" charset="0"/>
              </a:rPr>
              <a:t>  p 45-47</a:t>
            </a:r>
          </a:p>
          <a:p>
            <a:pPr lvl="1">
              <a:spcAft>
                <a:spcPts val="0"/>
              </a:spcAft>
            </a:pPr>
            <a:r>
              <a:rPr lang="en-US" sz="1800" dirty="0">
                <a:latin typeface="Calibri" panose="020F0502020204030204" pitchFamily="34" charset="0"/>
                <a:ea typeface="Calibri" panose="020F0502020204030204" pitchFamily="34" charset="0"/>
                <a:cs typeface="Calibri" panose="020F0502020204030204" pitchFamily="34" charset="0"/>
              </a:rPr>
              <a:t>OR identify a </a:t>
            </a:r>
            <a:r>
              <a:rPr lang="en-US" sz="1800" dirty="0">
                <a:solidFill>
                  <a:srgbClr val="C00000"/>
                </a:solidFill>
                <a:latin typeface="Calibri" panose="020F0502020204030204" pitchFamily="34" charset="0"/>
                <a:ea typeface="Calibri" panose="020F0502020204030204" pitchFamily="34" charset="0"/>
                <a:cs typeface="Calibri" panose="020F0502020204030204" pitchFamily="34" charset="0"/>
              </a:rPr>
              <a:t>counterexample, which implies that the proposition in focus is </a:t>
            </a:r>
            <a:r>
              <a:rPr lang="en-US" sz="1800" i="1" dirty="0">
                <a:solidFill>
                  <a:srgbClr val="C00000"/>
                </a:solidFill>
                <a:latin typeface="Calibri" panose="020F0502020204030204" pitchFamily="34" charset="0"/>
                <a:ea typeface="Calibri" panose="020F0502020204030204" pitchFamily="34" charset="0"/>
                <a:cs typeface="Calibri" panose="020F0502020204030204" pitchFamily="34" charset="0"/>
              </a:rPr>
              <a:t>incorrect</a:t>
            </a:r>
            <a:r>
              <a:rPr lang="en-US" sz="18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(i.e., it </a:t>
            </a:r>
            <a:r>
              <a:rPr lang="en-US" sz="1800" i="1" dirty="0">
                <a:latin typeface="Calibri" panose="020F0502020204030204" pitchFamily="34" charset="0"/>
                <a:ea typeface="Calibri" panose="020F0502020204030204" pitchFamily="34" charset="0"/>
                <a:cs typeface="Calibri" panose="020F0502020204030204" pitchFamily="34" charset="0"/>
              </a:rPr>
              <a:t>disproves</a:t>
            </a:r>
            <a:r>
              <a:rPr lang="en-US" sz="1800" dirty="0">
                <a:latin typeface="Calibri" panose="020F0502020204030204" pitchFamily="34" charset="0"/>
                <a:ea typeface="Calibri" panose="020F0502020204030204" pitchFamily="34" charset="0"/>
                <a:cs typeface="Calibri" panose="020F0502020204030204" pitchFamily="34" charset="0"/>
              </a:rPr>
              <a:t> the proposition)</a:t>
            </a:r>
          </a:p>
          <a:p>
            <a:pPr lvl="2"/>
            <a:r>
              <a:rPr lang="en-US" sz="1800" dirty="0">
                <a:latin typeface="Calibri" panose="020F0502020204030204" pitchFamily="34" charset="0"/>
                <a:ea typeface="Calibri" panose="020F0502020204030204" pitchFamily="34" charset="0"/>
                <a:cs typeface="Calibri" panose="020F0502020204030204" pitchFamily="34" charset="0"/>
              </a:rPr>
              <a:t>see also </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5"/>
              </a:rPr>
              <a:t>https://mathforlove.com/lesson/counterexamples/</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and/or  </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6"/>
              </a:rPr>
              <a:t>https://study.com/academy/lesson/counterexample-in-math-definition-examples.html</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and/or </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4"/>
              </a:rPr>
              <a:t>http://web.stanford.edu/class/archive/cs/cs103/cs103.1152/lectures/02/Small02.pdf</a:t>
            </a:r>
            <a:r>
              <a:rPr lang="en-US" sz="1800" u="sng" dirty="0">
                <a:solidFill>
                  <a:srgbClr val="0563C1"/>
                </a:solidFill>
                <a:latin typeface="Calibri" panose="020F0502020204030204" pitchFamily="34" charset="0"/>
                <a:ea typeface="Calibri" panose="020F0502020204030204" pitchFamily="34" charset="0"/>
                <a:cs typeface="Calibri" panose="020F0502020204030204" pitchFamily="34" charset="0"/>
              </a:rPr>
              <a:t> </a:t>
            </a:r>
            <a:endParaRPr lang="sv-SE" sz="18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pPr>
              <a:defRPr/>
            </a:pPr>
            <a:fld id="{6FDBA504-7919-41DE-B9B2-CB6A22CC38B9}" type="slidenum">
              <a:rPr lang="en-US" smtClean="0">
                <a:solidFill>
                  <a:prstClr val="black">
                    <a:tint val="75000"/>
                  </a:prstClr>
                </a:solidFill>
              </a:rPr>
              <a:pPr>
                <a:defRPr/>
              </a:pPr>
              <a:t>28</a:t>
            </a:fld>
            <a:endParaRPr lang="en-US" dirty="0">
              <a:solidFill>
                <a:prstClr val="black">
                  <a:tint val="75000"/>
                </a:prstClr>
              </a:solidFill>
            </a:endParaRPr>
          </a:p>
        </p:txBody>
      </p:sp>
      <p:sp>
        <p:nvSpPr>
          <p:cNvPr id="5" name="Date Placeholder 4">
            <a:extLst>
              <a:ext uri="{FF2B5EF4-FFF2-40B4-BE49-F238E27FC236}">
                <a16:creationId xmlns:a16="http://schemas.microsoft.com/office/drawing/2014/main" id="{AEDFC993-C53F-3474-D722-26BF2BC4DAE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199890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solidFill>
                  <a:schemeClr val="bg1">
                    <a:lumMod val="50000"/>
                  </a:schemeClr>
                </a:solidFill>
              </a:rPr>
              <a:t>The critical-section problem</a:t>
            </a:r>
          </a:p>
          <a:p>
            <a:pPr lvl="1"/>
            <a:r>
              <a:rPr lang="en-US" dirty="0">
                <a:solidFill>
                  <a:schemeClr val="bg1">
                    <a:lumMod val="50000"/>
                  </a:schemeClr>
                </a:solidFill>
              </a:rPr>
              <a:t>Check-competition approach</a:t>
            </a:r>
          </a:p>
          <a:p>
            <a:r>
              <a:rPr lang="en-US" dirty="0">
                <a:solidFill>
                  <a:schemeClr val="bg1">
                    <a:lumMod val="50000"/>
                  </a:schemeClr>
                </a:solidFill>
              </a:rPr>
              <a:t>The check-order / after-you approach</a:t>
            </a:r>
          </a:p>
          <a:p>
            <a:r>
              <a:rPr lang="en-US" dirty="0">
                <a:solidFill>
                  <a:schemeClr val="bg1">
                    <a:lumMod val="50000"/>
                  </a:schemeClr>
                </a:solidFill>
              </a:rPr>
              <a:t>Peterson’s Algorithm</a:t>
            </a:r>
          </a:p>
          <a:p>
            <a:r>
              <a:rPr lang="en-US" dirty="0"/>
              <a:t>Synchronization and hardware support</a:t>
            </a:r>
          </a:p>
          <a:p>
            <a:pPr lvl="1"/>
            <a:r>
              <a:rPr lang="en-US" dirty="0"/>
              <a:t>Read-Modify-Write instructions</a:t>
            </a:r>
          </a:p>
          <a:p>
            <a:r>
              <a:rPr lang="en-US" dirty="0">
                <a:solidFill>
                  <a:schemeClr val="bg1">
                    <a:lumMod val="50000"/>
                  </a:schemeClr>
                </a:solidFill>
              </a:rPr>
              <a:t>Semaphores</a:t>
            </a: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1D139C9-1C4A-33B2-A9A6-812D78963A85}"/>
              </a:ext>
            </a:extLst>
          </p:cNvPr>
          <p:cNvSpPr>
            <a:spLocks noGrp="1"/>
          </p:cNvSpPr>
          <p:nvPr>
            <p:ph type="sldNum" sz="quarter" idx="12"/>
          </p:nvPr>
        </p:nvSpPr>
        <p:spPr/>
        <p:txBody>
          <a:bodyPr/>
          <a:lstStyle/>
          <a:p>
            <a:fld id="{67FCC1A6-2294-BF46-A2F7-E6BDB92DF1BF}" type="slidenum">
              <a:rPr lang="en-US" smtClean="0"/>
              <a:t>29</a:t>
            </a:fld>
            <a:endParaRPr lang="en-US"/>
          </a:p>
        </p:txBody>
      </p:sp>
      <p:sp>
        <p:nvSpPr>
          <p:cNvPr id="5" name="Date Placeholder 4">
            <a:extLst>
              <a:ext uri="{FF2B5EF4-FFF2-40B4-BE49-F238E27FC236}">
                <a16:creationId xmlns:a16="http://schemas.microsoft.com/office/drawing/2014/main" id="{16BB206C-7083-4A51-41D6-584C0CF2DD57}"/>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8523488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9E77044-7466-4EF0-8B21-FED0BF57E61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Rectangle 1"/>
          <p:cNvSpPr/>
          <p:nvPr/>
        </p:nvSpPr>
        <p:spPr>
          <a:xfrm>
            <a:off x="4476455" y="1614361"/>
            <a:ext cx="7184489" cy="1588127"/>
          </a:xfrm>
          <a:prstGeom prst="rect">
            <a:avLst/>
          </a:prstGeom>
          <a:noFill/>
          <a:effectLst/>
        </p:spPr>
        <p:txBody>
          <a:bodyPr wrap="square">
            <a:spAutoFit/>
          </a:bodyPr>
          <a:lstStyle/>
          <a:p>
            <a:pPr marL="0" marR="0" lvl="0" indent="0" algn="l" defTabSz="914400" rtl="0" eaLnBrk="1" fontAlgn="auto" latinLnBrk="0" hangingPunct="1">
              <a:lnSpc>
                <a:spcPct val="100000"/>
              </a:lnSpc>
              <a:spcBef>
                <a:spcPct val="20000"/>
              </a:spcBef>
              <a:spcAft>
                <a:spcPts val="0"/>
              </a:spcAft>
              <a:buClr>
                <a:srgbClr val="FB5B5B"/>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Is there a downside?!</a:t>
            </a:r>
          </a:p>
          <a:p>
            <a:pPr marL="285750" marR="0" lvl="0" indent="-285750" algn="l" defTabSz="914400" rtl="0" eaLnBrk="1" fontAlgn="auto" latinLnBrk="0" hangingPunct="1">
              <a:lnSpc>
                <a:spcPct val="100000"/>
              </a:lnSpc>
              <a:spcBef>
                <a:spcPct val="20000"/>
              </a:spcBef>
              <a:spcAft>
                <a:spcPts val="0"/>
              </a:spcAft>
              <a:buClr>
                <a:srgbClr val="FB5B5B"/>
              </a:buClr>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If run in single-processor system:  </a:t>
            </a:r>
            <a:r>
              <a:rPr kumimoji="0" lang="en-US" sz="1800" b="0" i="0" u="none" strike="noStrike" kern="1200" cap="none" spc="0" normalizeH="0" baseline="0" noProof="0" dirty="0">
                <a:ln>
                  <a:noFill/>
                </a:ln>
                <a:solidFill>
                  <a:srgbClr val="C00000"/>
                </a:solidFill>
                <a:effectLst/>
                <a:uLnTx/>
                <a:uFillTx/>
                <a:latin typeface="Calibri"/>
                <a:ea typeface="+mn-ea"/>
                <a:cs typeface="+mn-cs"/>
              </a:rPr>
              <a:t>limited ability to interleave programs</a:t>
            </a:r>
          </a:p>
          <a:p>
            <a:pPr marL="285750" marR="0" lvl="0" indent="-285750" algn="l" defTabSz="914400" rtl="0" eaLnBrk="1" fontAlgn="auto" latinLnBrk="0" hangingPunct="1">
              <a:lnSpc>
                <a:spcPct val="100000"/>
              </a:lnSpc>
              <a:spcBef>
                <a:spcPct val="20000"/>
              </a:spcBef>
              <a:spcAft>
                <a:spcPts val="0"/>
              </a:spcAft>
              <a:buClr>
                <a:srgbClr val="FB5B5B"/>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C00000"/>
                </a:solidFill>
                <a:effectLst/>
                <a:uLnTx/>
                <a:uFillTx/>
                <a:latin typeface="Calibri"/>
                <a:ea typeface="+mn-ea"/>
                <a:cs typeface="+mn-cs"/>
              </a:rPr>
              <a:t>In multiprocessors: </a:t>
            </a:r>
            <a:r>
              <a:rPr kumimoji="0" lang="en-US" sz="1800" b="0" i="0" u="none" strike="noStrike" kern="1200" cap="none" spc="0" normalizeH="0" baseline="0" noProof="0" dirty="0">
                <a:ln>
                  <a:noFill/>
                </a:ln>
                <a:solidFill>
                  <a:prstClr val="black"/>
                </a:solidFill>
                <a:effectLst/>
                <a:uLnTx/>
                <a:uFillTx/>
                <a:latin typeface="Calibri"/>
                <a:ea typeface="+mn-ea"/>
                <a:cs typeface="+mn-cs"/>
              </a:rPr>
              <a:t>disabling interrupts on one processor/core will not guarantee absence of race conditions by threads running on other processors/cores</a:t>
            </a:r>
          </a:p>
        </p:txBody>
      </p:sp>
      <p:sp>
        <p:nvSpPr>
          <p:cNvPr id="4" name="Title 1">
            <a:extLst>
              <a:ext uri="{FF2B5EF4-FFF2-40B4-BE49-F238E27FC236}">
                <a16:creationId xmlns:a16="http://schemas.microsoft.com/office/drawing/2014/main" id="{CAF81207-66F7-53D2-5FBA-FD00D03BBFD6}"/>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Critical section and hardware support: interrupt disabling</a:t>
            </a:r>
            <a:endParaRPr lang="sv-SE" sz="3600" b="1" dirty="0">
              <a:solidFill>
                <a:schemeClr val="accent1">
                  <a:lumMod val="50000"/>
                </a:schemeClr>
              </a:solidFill>
            </a:endParaRPr>
          </a:p>
        </p:txBody>
      </p:sp>
      <p:sp>
        <p:nvSpPr>
          <p:cNvPr id="7" name="Rectangle 4">
            <a:extLst>
              <a:ext uri="{FF2B5EF4-FFF2-40B4-BE49-F238E27FC236}">
                <a16:creationId xmlns:a16="http://schemas.microsoft.com/office/drawing/2014/main" id="{FD24E375-8AB2-6843-6088-4402701F8BD3}"/>
              </a:ext>
            </a:extLst>
          </p:cNvPr>
          <p:cNvSpPr txBox="1">
            <a:spLocks noChangeArrowheads="1"/>
          </p:cNvSpPr>
          <p:nvPr/>
        </p:nvSpPr>
        <p:spPr bwMode="auto">
          <a:xfrm>
            <a:off x="817358" y="1086681"/>
            <a:ext cx="3305944" cy="2431473"/>
          </a:xfrm>
          <a:prstGeom prst="rect">
            <a:avLst/>
          </a:prstGeom>
          <a:solidFill>
            <a:schemeClr val="accent6">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90000"/>
              </a:lnSpc>
              <a:buNone/>
            </a:pPr>
            <a:r>
              <a:rPr lang="en-US" sz="2000" dirty="0">
                <a:solidFill>
                  <a:prstClr val="black"/>
                </a:solidFill>
              </a:rPr>
              <a:t>Structure of process/thread</a:t>
            </a:r>
            <a:r>
              <a:rPr lang="en-US" sz="2000" i="1" dirty="0">
                <a:solidFill>
                  <a:prstClr val="black"/>
                </a:solidFill>
              </a:rPr>
              <a:t> P</a:t>
            </a:r>
            <a:endParaRPr lang="en-US" sz="2000" i="1" baseline="-25000" dirty="0">
              <a:solidFill>
                <a:prstClr val="black"/>
              </a:solidFill>
            </a:endParaRPr>
          </a:p>
          <a:p>
            <a:pPr>
              <a:lnSpc>
                <a:spcPct val="90000"/>
              </a:lnSpc>
              <a:buFontTx/>
              <a:buNone/>
            </a:pPr>
            <a:r>
              <a:rPr lang="en-US" sz="2000" b="1" dirty="0">
                <a:solidFill>
                  <a:prstClr val="black"/>
                </a:solidFill>
              </a:rPr>
              <a:t>Repeat</a:t>
            </a:r>
            <a:r>
              <a:rPr lang="en-US" sz="2000" dirty="0">
                <a:solidFill>
                  <a:prstClr val="black"/>
                </a:solidFill>
              </a:rPr>
              <a:t> </a:t>
            </a:r>
          </a:p>
          <a:p>
            <a:pPr>
              <a:lnSpc>
                <a:spcPct val="90000"/>
              </a:lnSpc>
              <a:buFontTx/>
              <a:buNone/>
            </a:pPr>
            <a:r>
              <a:rPr lang="en-US" sz="2000" dirty="0">
                <a:solidFill>
                  <a:prstClr val="black"/>
                </a:solidFill>
              </a:rPr>
              <a:t>	</a:t>
            </a:r>
            <a:r>
              <a:rPr lang="en-US" sz="2000" i="1" dirty="0">
                <a:solidFill>
                  <a:srgbClr val="C00000"/>
                </a:solidFill>
              </a:rPr>
              <a:t>interrupt disable</a:t>
            </a:r>
          </a:p>
          <a:p>
            <a:pPr>
              <a:lnSpc>
                <a:spcPct val="90000"/>
              </a:lnSpc>
              <a:buFontTx/>
              <a:buNone/>
            </a:pPr>
            <a:r>
              <a:rPr lang="en-US" sz="2000" dirty="0">
                <a:solidFill>
                  <a:prstClr val="black"/>
                </a:solidFill>
              </a:rPr>
              <a:t>	critical section</a:t>
            </a:r>
          </a:p>
          <a:p>
            <a:pPr>
              <a:lnSpc>
                <a:spcPct val="90000"/>
              </a:lnSpc>
              <a:buFontTx/>
              <a:buNone/>
            </a:pPr>
            <a:r>
              <a:rPr lang="en-US" sz="2000" dirty="0">
                <a:solidFill>
                  <a:prstClr val="black"/>
                </a:solidFill>
              </a:rPr>
              <a:t>	</a:t>
            </a:r>
            <a:r>
              <a:rPr lang="en-US" sz="2000" i="1" dirty="0">
                <a:solidFill>
                  <a:srgbClr val="C00000"/>
                </a:solidFill>
              </a:rPr>
              <a:t>interrupt enable</a:t>
            </a:r>
            <a:endParaRPr lang="en-US" sz="2000" dirty="0">
              <a:solidFill>
                <a:srgbClr val="C00000"/>
              </a:solidFill>
            </a:endParaRPr>
          </a:p>
          <a:p>
            <a:pPr>
              <a:lnSpc>
                <a:spcPct val="90000"/>
              </a:lnSpc>
              <a:buFontTx/>
              <a:buNone/>
            </a:pPr>
            <a:r>
              <a:rPr lang="en-US" sz="2000" dirty="0">
                <a:solidFill>
                  <a:prstClr val="black"/>
                </a:solidFill>
              </a:rPr>
              <a:t>	remainder section</a:t>
            </a:r>
          </a:p>
          <a:p>
            <a:pPr>
              <a:lnSpc>
                <a:spcPct val="90000"/>
              </a:lnSpc>
              <a:buFontTx/>
              <a:buNone/>
            </a:pPr>
            <a:r>
              <a:rPr lang="en-US" sz="2000" b="1" dirty="0">
                <a:solidFill>
                  <a:prstClr val="black"/>
                </a:solidFill>
              </a:rPr>
              <a:t>Forever</a:t>
            </a:r>
            <a:endParaRPr lang="en-US" sz="2000" dirty="0">
              <a:solidFill>
                <a:prstClr val="black"/>
              </a:solidFill>
            </a:endParaRPr>
          </a:p>
          <a:p>
            <a:pPr lvl="4">
              <a:lnSpc>
                <a:spcPct val="90000"/>
              </a:lnSpc>
              <a:buFontTx/>
              <a:buNone/>
            </a:pPr>
            <a:endParaRPr lang="en-US" sz="2400" dirty="0">
              <a:solidFill>
                <a:prstClr val="black"/>
              </a:solidFill>
            </a:endParaRPr>
          </a:p>
        </p:txBody>
      </p:sp>
      <p:sp>
        <p:nvSpPr>
          <p:cNvPr id="3" name="Date Placeholder 2">
            <a:extLst>
              <a:ext uri="{FF2B5EF4-FFF2-40B4-BE49-F238E27FC236}">
                <a16:creationId xmlns:a16="http://schemas.microsoft.com/office/drawing/2014/main" id="{969F46F4-777F-8D5F-2228-F40D8E0C91E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3996934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idx="1"/>
          </p:nvPr>
        </p:nvSpPr>
        <p:spPr>
          <a:xfrm>
            <a:off x="222785" y="844687"/>
            <a:ext cx="4978896" cy="1646692"/>
          </a:xfrm>
          <a:noFill/>
          <a:effectLst/>
        </p:spPr>
        <p:style>
          <a:lnRef idx="1">
            <a:schemeClr val="dk1"/>
          </a:lnRef>
          <a:fillRef idx="2">
            <a:schemeClr val="dk1"/>
          </a:fillRef>
          <a:effectRef idx="1">
            <a:schemeClr val="dk1"/>
          </a:effectRef>
          <a:fontRef idx="minor">
            <a:schemeClr val="dk1"/>
          </a:fontRef>
        </p:style>
        <p:txBody>
          <a:bodyPr/>
          <a:lstStyle/>
          <a:p>
            <a:pPr>
              <a:lnSpc>
                <a:spcPct val="90000"/>
              </a:lnSpc>
              <a:buFontTx/>
              <a:buNone/>
            </a:pPr>
            <a:r>
              <a:rPr lang="en-US" sz="1600" dirty="0" err="1">
                <a:solidFill>
                  <a:srgbClr val="C00000"/>
                </a:solidFill>
              </a:rPr>
              <a:t>TestAndSet</a:t>
            </a:r>
            <a:r>
              <a:rPr lang="en-US" sz="1600" dirty="0"/>
              <a:t> (aka TAS) Instruction Definition: </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TestAndSet</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*target){</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rv</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 *target;</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*target := true;</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return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rv</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a:t>
            </a:r>
            <a:r>
              <a:rPr kumimoji="1" lang="en-US" altLang="sv-SE" sz="1600" kern="0" dirty="0">
                <a:solidFill>
                  <a:srgbClr val="0000FF"/>
                </a:solidFill>
                <a:latin typeface="Helvetica"/>
                <a:ea typeface="MS PGothic" pitchFamily="34" charset="-128"/>
              </a:rPr>
              <a:t> </a:t>
            </a:r>
            <a:r>
              <a:rPr kumimoji="1" lang="en-US" altLang="sv-SE" sz="1600" kern="0" dirty="0">
                <a:solidFill>
                  <a:srgbClr val="C00000"/>
                </a:solidFill>
                <a:latin typeface="Helvetica"/>
                <a:ea typeface="MS PGothic" pitchFamily="34" charset="-128"/>
              </a:rPr>
              <a:t>// Executed atomically by the HW </a:t>
            </a:r>
            <a:endParaRPr lang="en-US" sz="1600" dirty="0"/>
          </a:p>
        </p:txBody>
      </p:sp>
      <p:sp>
        <p:nvSpPr>
          <p:cNvPr id="19458"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BDFB93-F68C-4CD7-BB20-A9D5DC42E64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5" name="Rectangle 3"/>
          <p:cNvSpPr txBox="1">
            <a:spLocks noChangeArrowheads="1"/>
          </p:cNvSpPr>
          <p:nvPr/>
        </p:nvSpPr>
        <p:spPr bwMode="auto">
          <a:xfrm>
            <a:off x="222785" y="2703563"/>
            <a:ext cx="5172178" cy="2278339"/>
          </a:xfrm>
          <a:prstGeom prst="rect">
            <a:avLst/>
          </a:prstGeom>
          <a:noFill/>
          <a:ln/>
          <a:effectLst/>
        </p:spPr>
        <p:style>
          <a:lnRef idx="1">
            <a:schemeClr val="dk1"/>
          </a:lnRef>
          <a:fillRef idx="2">
            <a:schemeClr val="dk1"/>
          </a:fillRef>
          <a:effectRef idx="1">
            <a:schemeClr val="dk1"/>
          </a:effectRef>
          <a:fontRef idx="minor">
            <a:schemeClr val="dk1"/>
          </a:fontRef>
        </p:style>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marR="0" lvl="0" indent="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742278" algn="l"/>
                <a:tab pos="1023411" algn="l"/>
                <a:tab pos="1258984" algn="l"/>
              </a:tabLst>
              <a:defRPr/>
            </a:pP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Shared  Boolean </a:t>
            </a:r>
            <a:r>
              <a:rPr kumimoji="1" lang="en-US" sz="1600" b="1"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var</a:t>
            </a: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 </a:t>
            </a:r>
            <a:r>
              <a:rPr kumimoji="1" lang="en-US" sz="1600" b="0" i="1"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lock;</a:t>
            </a: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 initialized to </a:t>
            </a:r>
            <a:r>
              <a:rPr kumimoji="1" lang="en-US" sz="1600" b="0" i="1"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false</a:t>
            </a:r>
            <a:endParaRPr kumimoji="1" lang="en-US" altLang="en-US" sz="1600" b="1" i="1"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repeat</a:t>
            </a:r>
            <a:b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b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while(</a:t>
            </a:r>
            <a:r>
              <a:rPr kumimoji="1" lang="en-US" altLang="en-US" sz="1600" b="1" i="0" u="none" strike="noStrike" kern="0" cap="none" spc="0" normalizeH="0" baseline="0" noProof="0" dirty="0" err="1">
                <a:ln>
                  <a:noFill/>
                </a:ln>
                <a:solidFill>
                  <a:srgbClr val="C00000"/>
                </a:solidFill>
                <a:effectLst/>
                <a:uLnTx/>
                <a:uFillTx/>
                <a:latin typeface="Courier New" pitchFamily="49" charset="0"/>
                <a:ea typeface="MS PGothic" pitchFamily="34" charset="-128"/>
                <a:cs typeface="Courier New" pitchFamily="49" charset="0"/>
              </a:rPr>
              <a:t>TestAndSet</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(&amp;lock)) do [nothing];</a:t>
            </a: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[critical section]  </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lock := false;</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[remainder section]</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forever</a:t>
            </a:r>
          </a:p>
        </p:txBody>
      </p:sp>
      <p:sp>
        <p:nvSpPr>
          <p:cNvPr id="19" name="TextBox 18"/>
          <p:cNvSpPr txBox="1"/>
          <p:nvPr/>
        </p:nvSpPr>
        <p:spPr>
          <a:xfrm>
            <a:off x="5793897" y="4017683"/>
            <a:ext cx="5928685" cy="923330"/>
          </a:xfrm>
          <a:prstGeom prst="rect">
            <a:avLst/>
          </a:prstGeom>
          <a:noFill/>
          <a:effectLst/>
        </p:spPr>
        <p:style>
          <a:lnRef idx="1">
            <a:schemeClr val="dk1"/>
          </a:lnRef>
          <a:fillRef idx="2">
            <a:schemeClr val="dk1"/>
          </a:fillRef>
          <a:effectRef idx="1">
            <a:schemeClr val="dk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dirty="0">
                <a:ln>
                  <a:noFill/>
                </a:ln>
                <a:solidFill>
                  <a:srgbClr val="C00000"/>
                </a:solidFill>
                <a:effectLst/>
                <a:uLnTx/>
                <a:uFillTx/>
                <a:latin typeface="Calibri"/>
                <a:ea typeface="+mn-ea"/>
                <a:cs typeface="+mn-cs"/>
              </a:rPr>
              <a:t>Homework:</a:t>
            </a:r>
            <a:r>
              <a:rPr kumimoji="0" lang="en-US" sz="1800" b="0" i="0" u="none" strike="noStrike" kern="1200" cap="none" spc="0" normalizeH="0" baseline="0" dirty="0">
                <a:ln>
                  <a:noFill/>
                </a:ln>
                <a:solidFill>
                  <a:prstClr val="black"/>
                </a:solidFill>
                <a:effectLst/>
                <a:uLnTx/>
                <a:uFillTx/>
                <a:latin typeface="Calibri"/>
                <a:ea typeface="+mn-ea"/>
                <a:cs typeface="+mn-cs"/>
              </a:rPr>
              <a:t> argue as we did for Peterson’s algo regarding correctness (mutual exclusion, progress); what about fairness?</a:t>
            </a:r>
          </a:p>
        </p:txBody>
      </p:sp>
      <p:grpSp>
        <p:nvGrpSpPr>
          <p:cNvPr id="9" name="Group 8">
            <a:extLst>
              <a:ext uri="{FF2B5EF4-FFF2-40B4-BE49-F238E27FC236}">
                <a16:creationId xmlns:a16="http://schemas.microsoft.com/office/drawing/2014/main" id="{623EA32A-DAC6-21EC-2C9F-89593A8EFE3D}"/>
              </a:ext>
            </a:extLst>
          </p:cNvPr>
          <p:cNvGrpSpPr/>
          <p:nvPr/>
        </p:nvGrpSpPr>
        <p:grpSpPr>
          <a:xfrm>
            <a:off x="5574081" y="70831"/>
            <a:ext cx="6316455" cy="3943623"/>
            <a:chOff x="5727829" y="1026418"/>
            <a:chExt cx="6316455" cy="3943623"/>
          </a:xfrm>
        </p:grpSpPr>
        <p:pic>
          <p:nvPicPr>
            <p:cNvPr id="14" name="Picture 13">
              <a:extLst>
                <a:ext uri="{FF2B5EF4-FFF2-40B4-BE49-F238E27FC236}">
                  <a16:creationId xmlns:a16="http://schemas.microsoft.com/office/drawing/2014/main" id="{A7926599-2351-4D19-B554-7B42103ED6B3}"/>
                </a:ext>
              </a:extLst>
            </p:cNvPr>
            <p:cNvPicPr>
              <a:picLocks noChangeAspect="1"/>
            </p:cNvPicPr>
            <p:nvPr/>
          </p:nvPicPr>
          <p:blipFill>
            <a:blip r:embed="rId3"/>
            <a:stretch>
              <a:fillRect/>
            </a:stretch>
          </p:blipFill>
          <p:spPr>
            <a:xfrm>
              <a:off x="5727829" y="1026418"/>
              <a:ext cx="6148501" cy="3943623"/>
            </a:xfrm>
            <a:prstGeom prst="rect">
              <a:avLst/>
            </a:prstGeom>
          </p:spPr>
        </p:pic>
        <p:sp>
          <p:nvSpPr>
            <p:cNvPr id="2" name="Oval 1">
              <a:extLst>
                <a:ext uri="{FF2B5EF4-FFF2-40B4-BE49-F238E27FC236}">
                  <a16:creationId xmlns:a16="http://schemas.microsoft.com/office/drawing/2014/main" id="{169D7FC8-0E6D-4F1D-AE44-AE61A9A6D5CF}"/>
                </a:ext>
              </a:extLst>
            </p:cNvPr>
            <p:cNvSpPr/>
            <p:nvPr/>
          </p:nvSpPr>
          <p:spPr>
            <a:xfrm>
              <a:off x="8111613" y="2719079"/>
              <a:ext cx="635228" cy="86663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54F3CD57-6D2B-4326-B49F-B45AB17EF593}"/>
                </a:ext>
              </a:extLst>
            </p:cNvPr>
            <p:cNvSpPr txBox="1"/>
            <p:nvPr/>
          </p:nvSpPr>
          <p:spPr>
            <a:xfrm>
              <a:off x="8030422" y="3680330"/>
              <a:ext cx="823239" cy="738664"/>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rPr>
                <a:t>TAS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prstClr val="black"/>
                  </a:solidFill>
                  <a:latin typeface="Calibri"/>
                </a:rPr>
                <a:t>variable</a:t>
              </a:r>
              <a:r>
                <a:rPr kumimoji="0" lang="en-US" sz="1400" b="1" i="0" u="none" strike="noStrike" kern="1200" cap="none" spc="0" normalizeH="0" baseline="0" noProof="0" dirty="0">
                  <a:ln>
                    <a:noFill/>
                  </a:ln>
                  <a:solidFill>
                    <a:prstClr val="black"/>
                  </a:solidFill>
                  <a:effectLst/>
                  <a:uLnTx/>
                  <a:uFillTx/>
                  <a:latin typeface="Calibri"/>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rPr>
                <a:t>Is set</a:t>
              </a:r>
            </a:p>
          </p:txBody>
        </p:sp>
        <p:sp>
          <p:nvSpPr>
            <p:cNvPr id="5" name="TextBox 4">
              <a:extLst>
                <a:ext uri="{FF2B5EF4-FFF2-40B4-BE49-F238E27FC236}">
                  <a16:creationId xmlns:a16="http://schemas.microsoft.com/office/drawing/2014/main" id="{A743D41D-5717-4C0B-B6A2-A76A39F32C1F}"/>
                </a:ext>
              </a:extLst>
            </p:cNvPr>
            <p:cNvSpPr txBox="1"/>
            <p:nvPr/>
          </p:nvSpPr>
          <p:spPr>
            <a:xfrm>
              <a:off x="10598580" y="3627288"/>
              <a:ext cx="1445704" cy="215444"/>
            </a:xfrm>
            <a:prstGeom prst="rect">
              <a:avLst/>
            </a:prstGeom>
            <a:solidFill>
              <a:schemeClr val="bg1"/>
            </a:solidFill>
          </p:spPr>
          <p:txBody>
            <a:bodyPr wrap="square" lIns="0" t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dirty="0">
                  <a:ln>
                    <a:noFill/>
                  </a:ln>
                  <a:solidFill>
                    <a:prstClr val="black"/>
                  </a:solidFill>
                  <a:effectLst/>
                  <a:uLnTx/>
                  <a:uFillTx/>
                  <a:latin typeface="Calibri"/>
                  <a:ea typeface="+mn-ea"/>
                  <a:cs typeface="+mn-cs"/>
                </a:rPr>
                <a:t>TAS variable</a:t>
              </a:r>
            </a:p>
          </p:txBody>
        </p:sp>
      </p:grpSp>
      <p:sp>
        <p:nvSpPr>
          <p:cNvPr id="7" name="Title 1">
            <a:extLst>
              <a:ext uri="{FF2B5EF4-FFF2-40B4-BE49-F238E27FC236}">
                <a16:creationId xmlns:a16="http://schemas.microsoft.com/office/drawing/2014/main" id="{55B3D8DF-3655-D8C1-E7CD-D94D1EF28A5B}"/>
              </a:ext>
            </a:extLst>
          </p:cNvPr>
          <p:cNvSpPr txBox="1">
            <a:spLocks/>
          </p:cNvSpPr>
          <p:nvPr/>
        </p:nvSpPr>
        <p:spPr>
          <a:xfrm>
            <a:off x="223736" y="116634"/>
            <a:ext cx="1123458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Critical section and hardware support: Read-Modify-Write (RMW) instructions</a:t>
            </a:r>
            <a:endParaRPr lang="sv-SE" sz="3600" b="1" dirty="0">
              <a:solidFill>
                <a:schemeClr val="accent1">
                  <a:lumMod val="50000"/>
                </a:schemeClr>
              </a:solidFill>
            </a:endParaRPr>
          </a:p>
        </p:txBody>
      </p:sp>
      <p:sp>
        <p:nvSpPr>
          <p:cNvPr id="3" name="Date Placeholder 2">
            <a:extLst>
              <a:ext uri="{FF2B5EF4-FFF2-40B4-BE49-F238E27FC236}">
                <a16:creationId xmlns:a16="http://schemas.microsoft.com/office/drawing/2014/main" id="{4FF3762C-91DB-91F7-8CFD-594F2B5BA6CA}"/>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832586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idx="1"/>
          </p:nvPr>
        </p:nvSpPr>
        <p:spPr>
          <a:xfrm>
            <a:off x="222785" y="844687"/>
            <a:ext cx="4978896" cy="1646692"/>
          </a:xfrm>
          <a:noFill/>
          <a:effectLst/>
        </p:spPr>
        <p:style>
          <a:lnRef idx="1">
            <a:schemeClr val="dk1"/>
          </a:lnRef>
          <a:fillRef idx="2">
            <a:schemeClr val="dk1"/>
          </a:fillRef>
          <a:effectRef idx="1">
            <a:schemeClr val="dk1"/>
          </a:effectRef>
          <a:fontRef idx="minor">
            <a:schemeClr val="dk1"/>
          </a:fontRef>
        </p:style>
        <p:txBody>
          <a:bodyPr/>
          <a:lstStyle/>
          <a:p>
            <a:pPr>
              <a:lnSpc>
                <a:spcPct val="90000"/>
              </a:lnSpc>
              <a:buFontTx/>
              <a:buNone/>
            </a:pPr>
            <a:r>
              <a:rPr lang="en-US" sz="1600" dirty="0" err="1">
                <a:solidFill>
                  <a:srgbClr val="C00000"/>
                </a:solidFill>
              </a:rPr>
              <a:t>TestAndSet</a:t>
            </a:r>
            <a:r>
              <a:rPr lang="en-US" sz="1600" dirty="0"/>
              <a:t> (aka TAS) Instruction Definition: </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TestAndSet</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*target){</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boolean</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rv</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 *target;</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*target := true;</a:t>
            </a:r>
          </a:p>
          <a:p>
            <a:pPr marL="341313" indent="-341313">
              <a:lnSpc>
                <a:spcPct val="90000"/>
              </a:lnSpc>
              <a:spcBef>
                <a:spcPct val="35000"/>
              </a:spcBef>
              <a:buClr>
                <a:srgbClr val="993300"/>
              </a:buClr>
              <a:buSzPct val="90000"/>
              <a:buNone/>
              <a:tabLst>
                <a:tab pos="739775" algn="l"/>
                <a:tab pos="1020763" algn="l"/>
                <a:tab pos="1257300" algn="l"/>
              </a:tabLst>
            </a:pP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  return </a:t>
            </a:r>
            <a:r>
              <a:rPr kumimoji="1" lang="en-US" altLang="sv-SE" sz="1600" b="1" kern="0" dirty="0" err="1">
                <a:solidFill>
                  <a:srgbClr val="000000"/>
                </a:solidFill>
                <a:latin typeface="Courier New" panose="02070309020205020404" pitchFamily="49" charset="0"/>
                <a:ea typeface="MS PGothic" pitchFamily="34" charset="-128"/>
                <a:cs typeface="Courier New" panose="02070309020205020404" pitchFamily="49" charset="0"/>
              </a:rPr>
              <a:t>rv</a:t>
            </a:r>
            <a:r>
              <a:rPr kumimoji="1" lang="en-US" altLang="sv-SE" sz="1600" b="1" kern="0" dirty="0">
                <a:solidFill>
                  <a:srgbClr val="000000"/>
                </a:solidFill>
                <a:latin typeface="Courier New" panose="02070309020205020404" pitchFamily="49" charset="0"/>
                <a:ea typeface="MS PGothic" pitchFamily="34" charset="-128"/>
                <a:cs typeface="Courier New" panose="02070309020205020404" pitchFamily="49" charset="0"/>
              </a:rPr>
              <a:t>;}</a:t>
            </a:r>
            <a:r>
              <a:rPr kumimoji="1" lang="en-US" altLang="sv-SE" sz="1600" kern="0" dirty="0">
                <a:solidFill>
                  <a:srgbClr val="0000FF"/>
                </a:solidFill>
                <a:latin typeface="Helvetica"/>
                <a:ea typeface="MS PGothic" pitchFamily="34" charset="-128"/>
              </a:rPr>
              <a:t> </a:t>
            </a:r>
            <a:r>
              <a:rPr kumimoji="1" lang="en-US" altLang="sv-SE" sz="1600" kern="0" dirty="0">
                <a:solidFill>
                  <a:srgbClr val="C00000"/>
                </a:solidFill>
                <a:latin typeface="Helvetica"/>
                <a:ea typeface="MS PGothic" pitchFamily="34" charset="-128"/>
              </a:rPr>
              <a:t>// Executed atomically by the HW </a:t>
            </a:r>
            <a:endParaRPr lang="en-US" sz="1600" dirty="0"/>
          </a:p>
        </p:txBody>
      </p:sp>
      <p:sp>
        <p:nvSpPr>
          <p:cNvPr id="19458"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BDFB93-F68C-4CD7-BB20-A9D5DC42E64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9461" name="Rectangle 4"/>
          <p:cNvSpPr>
            <a:spLocks noChangeArrowheads="1"/>
          </p:cNvSpPr>
          <p:nvPr/>
        </p:nvSpPr>
        <p:spPr bwMode="auto">
          <a:xfrm>
            <a:off x="5593497" y="861415"/>
            <a:ext cx="6468957" cy="2114616"/>
          </a:xfrm>
          <a:prstGeom prst="rect">
            <a:avLst/>
          </a:prstGeom>
          <a:noFill/>
          <a:ln>
            <a:headEnd/>
            <a:tailEnd/>
          </a:ln>
          <a:effectLst/>
        </p:spPr>
        <p:style>
          <a:lnRef idx="1">
            <a:schemeClr val="dk1"/>
          </a:lnRef>
          <a:fillRef idx="2">
            <a:schemeClr val="dk1"/>
          </a:fillRef>
          <a:effectRef idx="1">
            <a:schemeClr val="dk1"/>
          </a:effectRef>
          <a:fontRef idx="minor">
            <a:schemeClr val="dk1"/>
          </a:fontRef>
        </p:style>
        <p:txBody>
          <a:bodyPr/>
          <a:lstStyle/>
          <a:p>
            <a:pPr marL="342900" marR="0" lvl="0" indent="-342900" algn="l" defTabSz="914400" rtl="0" eaLnBrk="1" fontAlgn="auto" latinLnBrk="0" hangingPunct="1">
              <a:lnSpc>
                <a:spcPct val="90000"/>
              </a:lnSpc>
              <a:spcBef>
                <a:spcPct val="20000"/>
              </a:spcBef>
              <a:spcAft>
                <a:spcPts val="0"/>
              </a:spcAft>
              <a:buClr>
                <a:srgbClr val="FB5B5B"/>
              </a:buClr>
              <a:buSzTx/>
              <a:buFontTx/>
              <a:buNone/>
              <a:tabLst/>
              <a:defRPr/>
            </a:pPr>
            <a:r>
              <a:rPr kumimoji="0" lang="en-US" sz="1600" b="0" i="0" u="none" strike="noStrike" kern="1200" cap="none" spc="0" normalizeH="0" baseline="0" noProof="0" dirty="0" err="1">
                <a:ln>
                  <a:noFill/>
                </a:ln>
                <a:solidFill>
                  <a:srgbClr val="C00000"/>
                </a:solidFill>
                <a:effectLst/>
                <a:uLnTx/>
                <a:uFillTx/>
                <a:latin typeface="Calibri"/>
                <a:ea typeface="+mn-ea"/>
                <a:cs typeface="+mn-cs"/>
              </a:rPr>
              <a:t>CompareAndSwap</a:t>
            </a:r>
            <a:r>
              <a:rPr kumimoji="0" lang="en-US" sz="1600" b="0" i="0" u="none" strike="noStrike" kern="1200" cap="none" spc="0" normalizeH="0" baseline="0" noProof="0" dirty="0">
                <a:ln>
                  <a:noFill/>
                </a:ln>
                <a:solidFill>
                  <a:srgbClr val="C00000"/>
                </a:solidFill>
                <a:effectLst/>
                <a:uLnTx/>
                <a:uFillTx/>
                <a:latin typeface="Calibri"/>
                <a:ea typeface="+mn-ea"/>
                <a:cs typeface="+mn-cs"/>
              </a:rPr>
              <a:t> (aka CAS)  </a:t>
            </a:r>
            <a:r>
              <a:rPr kumimoji="0" lang="en-US" sz="1600" b="0" i="0" u="none" strike="noStrike" kern="1200" cap="none" spc="0" normalizeH="0" baseline="0" noProof="0" dirty="0">
                <a:ln>
                  <a:noFill/>
                </a:ln>
                <a:solidFill>
                  <a:prstClr val="black"/>
                </a:solidFill>
                <a:effectLst/>
                <a:uLnTx/>
                <a:uFillTx/>
                <a:latin typeface="Calibri"/>
                <a:ea typeface="+mn-ea"/>
                <a:cs typeface="+mn-cs"/>
              </a:rPr>
              <a:t>Instruction  Definition:</a:t>
            </a:r>
          </a:p>
          <a:p>
            <a:pPr marL="341313" marR="0" lvl="0" indent="-341313" algn="l" defTabSz="914400" rtl="0" eaLnBrk="0" fontAlgn="base" latinLnBrk="0" hangingPunct="0">
              <a:lnSpc>
                <a:spcPct val="100000"/>
              </a:lnSpc>
              <a:spcBef>
                <a:spcPct val="35000"/>
              </a:spcBef>
              <a:spcAft>
                <a:spcPct val="0"/>
              </a:spcAft>
              <a:buClr>
                <a:srgbClr val="993300"/>
              </a:buClr>
              <a:buSzPct val="90000"/>
              <a:buFontTx/>
              <a:buNone/>
              <a:tabLst>
                <a:tab pos="741363" algn="l"/>
                <a:tab pos="1022350" algn="l"/>
                <a:tab pos="1258888" algn="l"/>
              </a:tabLst>
              <a:defRPr/>
            </a:pP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int</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CompareAndSwap</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int</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*V,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int</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expected,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int</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new_value</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 </a:t>
            </a:r>
          </a:p>
          <a:p>
            <a:pPr marL="341313" marR="0" lvl="0" indent="-341313" algn="l" defTabSz="914400" rtl="0" eaLnBrk="0" fontAlgn="base" latinLnBrk="0" hangingPunct="0">
              <a:lnSpc>
                <a:spcPct val="100000"/>
              </a:lnSpc>
              <a:spcBef>
                <a:spcPct val="35000"/>
              </a:spcBef>
              <a:spcAft>
                <a:spcPct val="0"/>
              </a:spcAft>
              <a:buClr>
                <a:srgbClr val="993300"/>
              </a:buClr>
              <a:buSzPct val="90000"/>
              <a:buFontTx/>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int</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temp := *V; </a:t>
            </a:r>
          </a:p>
          <a:p>
            <a:pPr marL="341313" marR="0" lvl="0" indent="-341313" algn="l" defTabSz="914400" rtl="0" eaLnBrk="0" fontAlgn="base" latinLnBrk="0" hangingPunct="0">
              <a:lnSpc>
                <a:spcPct val="100000"/>
              </a:lnSpc>
              <a:spcBef>
                <a:spcPct val="35000"/>
              </a:spcBef>
              <a:spcAft>
                <a:spcPct val="0"/>
              </a:spcAft>
              <a:buClr>
                <a:srgbClr val="993300"/>
              </a:buClr>
              <a:buSzPct val="90000"/>
              <a:buFontTx/>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if (temp == expected) then *V := </a:t>
            </a:r>
            <a:r>
              <a:rPr kumimoji="1" lang="en-US" altLang="sv-SE" sz="1600" b="1" i="0" u="none" strike="noStrike" kern="0" cap="none" spc="0" normalizeH="0" baseline="0" noProof="0" dirty="0" err="1">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new_value</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p>
          <a:p>
            <a:pPr marL="341313" marR="0" lvl="0" indent="-341313" algn="l" defTabSz="914400" rtl="0" eaLnBrk="0" fontAlgn="base" latinLnBrk="0" hangingPunct="0">
              <a:lnSpc>
                <a:spcPct val="90000"/>
              </a:lnSpc>
              <a:spcBef>
                <a:spcPct val="35000"/>
              </a:spcBef>
              <a:spcAft>
                <a:spcPct val="0"/>
              </a:spcAft>
              <a:buClr>
                <a:srgbClr val="993300"/>
              </a:buClr>
              <a:buSzPct val="90000"/>
              <a:buFontTx/>
              <a:buNone/>
              <a:tabLst>
                <a:tab pos="739775" algn="l"/>
                <a:tab pos="1020763" algn="l"/>
                <a:tab pos="1257300"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return temp;} </a:t>
            </a:r>
            <a:r>
              <a:rPr kumimoji="1" lang="en-US" altLang="sv-SE" sz="1600" b="0" i="0" u="none" strike="noStrike" kern="0" cap="none" spc="0" normalizeH="0" baseline="0" noProof="0" dirty="0">
                <a:ln>
                  <a:noFill/>
                </a:ln>
                <a:solidFill>
                  <a:srgbClr val="C00000"/>
                </a:solidFill>
                <a:effectLst/>
                <a:uLnTx/>
                <a:uFillTx/>
                <a:latin typeface="Helvetica"/>
                <a:ea typeface="MS PGothic" pitchFamily="34" charset="-128"/>
                <a:cs typeface="+mn-cs"/>
              </a:rPr>
              <a:t>// Executed atomically by the HW </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341313" marR="0" lvl="0" indent="-341313" algn="l" defTabSz="914400" rtl="0" eaLnBrk="0" fontAlgn="base" latinLnBrk="0" hangingPunct="0">
              <a:lnSpc>
                <a:spcPct val="100000"/>
              </a:lnSpc>
              <a:spcBef>
                <a:spcPct val="35000"/>
              </a:spcBef>
              <a:spcAft>
                <a:spcPct val="0"/>
              </a:spcAft>
              <a:buClr>
                <a:srgbClr val="993300"/>
              </a:buClr>
              <a:buSzPct val="90000"/>
              <a:buFontTx/>
              <a:buNone/>
              <a:tabLst>
                <a:tab pos="741363" algn="l"/>
                <a:tab pos="1022350" algn="l"/>
                <a:tab pos="1258888" algn="l"/>
              </a:tabLst>
              <a:defRPr/>
            </a:pPr>
            <a:endPar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endParaRPr>
          </a:p>
        </p:txBody>
      </p:sp>
      <p:sp>
        <p:nvSpPr>
          <p:cNvPr id="15" name="Rectangle 3"/>
          <p:cNvSpPr txBox="1">
            <a:spLocks noChangeArrowheads="1"/>
          </p:cNvSpPr>
          <p:nvPr/>
        </p:nvSpPr>
        <p:spPr bwMode="auto">
          <a:xfrm>
            <a:off x="222785" y="2703563"/>
            <a:ext cx="5172178" cy="2278339"/>
          </a:xfrm>
          <a:prstGeom prst="rect">
            <a:avLst/>
          </a:prstGeom>
          <a:noFill/>
          <a:ln/>
          <a:effectLst/>
        </p:spPr>
        <p:style>
          <a:lnRef idx="1">
            <a:schemeClr val="dk1"/>
          </a:lnRef>
          <a:fillRef idx="2">
            <a:schemeClr val="dk1"/>
          </a:fillRef>
          <a:effectRef idx="1">
            <a:schemeClr val="dk1"/>
          </a:effectRef>
          <a:fontRef idx="minor">
            <a:schemeClr val="dk1"/>
          </a:fontRef>
        </p:style>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marR="0" lvl="0" indent="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742278" algn="l"/>
                <a:tab pos="1023411" algn="l"/>
                <a:tab pos="1258984" algn="l"/>
              </a:tabLst>
              <a:defRPr/>
            </a:pP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Shared  Boolean </a:t>
            </a:r>
            <a:r>
              <a:rPr kumimoji="1" lang="en-US" sz="1600" b="1"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var</a:t>
            </a: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 </a:t>
            </a:r>
            <a:r>
              <a:rPr kumimoji="1" lang="en-US" sz="1600" b="0" i="1"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lock;</a:t>
            </a:r>
            <a:r>
              <a:rPr kumimoji="1" lang="en-US" sz="1600" b="0" i="0"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 initialized to </a:t>
            </a:r>
            <a:r>
              <a:rPr kumimoji="1" lang="en-US" sz="1600" b="0" i="1" u="none" strike="noStrike" kern="0" cap="none" spc="0" normalizeH="0" baseline="0" noProof="0" dirty="0">
                <a:ln>
                  <a:noFill/>
                </a:ln>
                <a:solidFill>
                  <a:prstClr val="black"/>
                </a:solidFill>
                <a:effectLst/>
                <a:uLnTx/>
                <a:uFillTx/>
                <a:latin typeface="Calibri"/>
                <a:ea typeface="ＭＳ Ｐゴシック" charset="0"/>
                <a:cs typeface="ＭＳ Ｐゴシック" charset="0"/>
              </a:rPr>
              <a:t>false</a:t>
            </a:r>
            <a:endParaRPr kumimoji="1" lang="en-US" altLang="en-US" sz="1600" b="1" i="1"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repeat</a:t>
            </a:r>
            <a:b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b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while(</a:t>
            </a:r>
            <a:r>
              <a:rPr kumimoji="1" lang="en-US" altLang="en-US" sz="1600" b="1" i="0" u="none" strike="noStrike" kern="0" cap="none" spc="0" normalizeH="0" baseline="0" noProof="0" dirty="0" err="1">
                <a:ln>
                  <a:noFill/>
                </a:ln>
                <a:solidFill>
                  <a:srgbClr val="C00000"/>
                </a:solidFill>
                <a:effectLst/>
                <a:uLnTx/>
                <a:uFillTx/>
                <a:latin typeface="Courier New" pitchFamily="49" charset="0"/>
                <a:ea typeface="MS PGothic" pitchFamily="34" charset="-128"/>
                <a:cs typeface="Courier New" pitchFamily="49" charset="0"/>
              </a:rPr>
              <a:t>TestAndSet</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(&amp;lock)) do [nothing];</a:t>
            </a: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[critical section]  </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a:t>
            </a:r>
            <a:r>
              <a:rPr kumimoji="1" lang="en-US" altLang="en-US" sz="1600" b="1" i="0" u="none" strike="noStrike" kern="0" cap="none" spc="0" normalizeH="0" baseline="0" noProof="0" dirty="0">
                <a:ln>
                  <a:noFill/>
                </a:ln>
                <a:solidFill>
                  <a:srgbClr val="C00000"/>
                </a:solidFill>
                <a:effectLst/>
                <a:uLnTx/>
                <a:uFillTx/>
                <a:latin typeface="Courier New" pitchFamily="49" charset="0"/>
                <a:ea typeface="MS PGothic" pitchFamily="34" charset="-128"/>
                <a:cs typeface="Courier New" pitchFamily="49" charset="0"/>
              </a:rPr>
              <a:t>lock := false;</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  [remainder section]</a:t>
            </a: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defRPr/>
            </a:pPr>
            <a:r>
              <a:rPr kumimoji="1" lang="en-US" altLang="en-US" sz="1600" b="1" i="0" u="none" strike="noStrike" kern="0" cap="none" spc="0" normalizeH="0" baseline="0" noProof="0" dirty="0">
                <a:ln>
                  <a:noFill/>
                </a:ln>
                <a:solidFill>
                  <a:srgbClr val="000000"/>
                </a:solidFill>
                <a:effectLst/>
                <a:uLnTx/>
                <a:uFillTx/>
                <a:latin typeface="Courier New" pitchFamily="49" charset="0"/>
                <a:ea typeface="MS PGothic" pitchFamily="34" charset="-128"/>
                <a:cs typeface="Courier New" pitchFamily="49" charset="0"/>
              </a:rPr>
              <a:t>forever</a:t>
            </a:r>
          </a:p>
        </p:txBody>
      </p:sp>
      <p:sp>
        <p:nvSpPr>
          <p:cNvPr id="17" name="Rectangle 3"/>
          <p:cNvSpPr txBox="1">
            <a:spLocks noChangeArrowheads="1"/>
          </p:cNvSpPr>
          <p:nvPr/>
        </p:nvSpPr>
        <p:spPr bwMode="auto">
          <a:xfrm>
            <a:off x="5590415" y="3063703"/>
            <a:ext cx="6472039" cy="2422698"/>
          </a:xfrm>
          <a:prstGeom prst="rect">
            <a:avLst/>
          </a:prstGeom>
          <a:noFill/>
          <a:ln/>
          <a:effectLst/>
        </p:spPr>
        <p:style>
          <a:lnRef idx="1">
            <a:schemeClr val="dk1"/>
          </a:lnRef>
          <a:fillRef idx="2">
            <a:schemeClr val="dk1"/>
          </a:fillRef>
          <a:effectRef idx="1">
            <a:schemeClr val="dk1"/>
          </a:effectRef>
          <a:fontRef idx="minor">
            <a:schemeClr val="dk1"/>
          </a:fontRef>
        </p:style>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marR="0" lvl="0" indent="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0" i="0" u="none" strike="noStrike" kern="0" cap="none" spc="0" normalizeH="0" baseline="0" noProof="0" dirty="0">
                <a:ln>
                  <a:noFill/>
                </a:ln>
                <a:solidFill>
                  <a:srgbClr val="000000"/>
                </a:solidFill>
                <a:effectLst/>
                <a:uLnTx/>
                <a:uFillTx/>
                <a:latin typeface="Helvetica"/>
                <a:ea typeface="MS PGothic" pitchFamily="34" charset="-128"/>
              </a:rPr>
              <a:t>Shared int </a:t>
            </a:r>
            <a:r>
              <a:rPr kumimoji="1" lang="en-US" altLang="sv-SE" sz="1600" b="1" i="0" u="none" strike="noStrike" kern="0" cap="none" spc="0" normalizeH="0" baseline="0" noProof="0" dirty="0">
                <a:ln>
                  <a:noFill/>
                </a:ln>
                <a:solidFill>
                  <a:srgbClr val="000000"/>
                </a:solidFill>
                <a:effectLst/>
                <a:uLnTx/>
                <a:uFillTx/>
                <a:latin typeface="Helvetica"/>
                <a:ea typeface="MS PGothic" pitchFamily="34" charset="-128"/>
              </a:rPr>
              <a:t>var</a:t>
            </a:r>
            <a:r>
              <a:rPr kumimoji="1" lang="en-US" altLang="sv-SE" sz="1600" b="0" i="0" u="none" strike="noStrike" kern="0" cap="none" spc="0" normalizeH="0" baseline="0" noProof="0" dirty="0">
                <a:ln>
                  <a:noFill/>
                </a:ln>
                <a:solidFill>
                  <a:srgbClr val="000000"/>
                </a:solidFill>
                <a:effectLst/>
                <a:uLnTx/>
                <a:uFillTx/>
                <a:latin typeface="Helvetica"/>
                <a:ea typeface="MS PGothic" pitchFamily="34" charset="-128"/>
              </a:rPr>
              <a:t> </a:t>
            </a:r>
            <a:r>
              <a:rPr kumimoji="1" lang="en-US" altLang="ja-JP" sz="1600" b="0" i="1" u="none" strike="noStrike" kern="0" cap="none" spc="0" normalizeH="0" baseline="0" noProof="0" dirty="0">
                <a:ln>
                  <a:noFill/>
                </a:ln>
                <a:solidFill>
                  <a:srgbClr val="000000"/>
                </a:solidFill>
                <a:effectLst/>
                <a:uLnTx/>
                <a:uFillTx/>
                <a:latin typeface="Helvetica"/>
                <a:ea typeface="MS PGothic" pitchFamily="34" charset="-128"/>
              </a:rPr>
              <a:t>lock; </a:t>
            </a:r>
            <a:r>
              <a:rPr kumimoji="1" lang="en-US" altLang="ja-JP" sz="1600" b="0" i="0" u="none" strike="noStrike" kern="0" cap="none" spc="0" normalizeH="0" baseline="0" noProof="0" dirty="0">
                <a:ln>
                  <a:noFill/>
                </a:ln>
                <a:solidFill>
                  <a:srgbClr val="000000"/>
                </a:solidFill>
                <a:effectLst/>
                <a:uLnTx/>
                <a:uFillTx/>
                <a:latin typeface="Helvetica"/>
                <a:ea typeface="MS PGothic" pitchFamily="34" charset="-128"/>
              </a:rPr>
              <a:t> initialized to 0; </a:t>
            </a:r>
            <a:endPar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endParaRP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repeat{</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r>
              <a:rPr kumimoji="1" lang="en-US" altLang="sv-SE" sz="1600" b="1" i="0" u="none" strike="noStrike" kern="0" cap="none" spc="0" normalizeH="0" baseline="0" noProof="0" dirty="0">
                <a:ln>
                  <a:noFill/>
                </a:ln>
                <a:solidFill>
                  <a:srgbClr val="C00000"/>
                </a:solidFill>
                <a:effectLst/>
                <a:uLnTx/>
                <a:uFillTx/>
                <a:latin typeface="Courier New" panose="02070309020205020404" pitchFamily="49" charset="0"/>
                <a:ea typeface="MS PGothic" pitchFamily="34" charset="-128"/>
                <a:cs typeface="Courier New" panose="02070309020205020404" pitchFamily="49" charset="0"/>
              </a:rPr>
              <a:t>while </a:t>
            </a:r>
            <a:r>
              <a:rPr kumimoji="1" lang="en-US" altLang="sv-SE" sz="1600" b="1" i="0" u="none" strike="noStrike" kern="0" cap="none" spc="0" normalizeH="0" baseline="0" noProof="0" dirty="0" err="1">
                <a:ln>
                  <a:noFill/>
                </a:ln>
                <a:solidFill>
                  <a:srgbClr val="C00000"/>
                </a:solidFill>
                <a:effectLst/>
                <a:uLnTx/>
                <a:uFillTx/>
                <a:latin typeface="Courier New" panose="02070309020205020404" pitchFamily="49" charset="0"/>
                <a:ea typeface="MS PGothic" pitchFamily="34" charset="-128"/>
                <a:cs typeface="Courier New" panose="02070309020205020404" pitchFamily="49" charset="0"/>
              </a:rPr>
              <a:t>CompareAndSwap</a:t>
            </a:r>
            <a:r>
              <a:rPr kumimoji="1" lang="en-US" altLang="sv-SE" sz="1600" b="1" i="0" u="none" strike="noStrike" kern="0" cap="none" spc="0" normalizeH="0" baseline="0" noProof="0" dirty="0">
                <a:ln>
                  <a:noFill/>
                </a:ln>
                <a:solidFill>
                  <a:srgbClr val="C00000"/>
                </a:solidFill>
                <a:effectLst/>
                <a:uLnTx/>
                <a:uFillTx/>
                <a:latin typeface="Courier New" panose="02070309020205020404" pitchFamily="49" charset="0"/>
                <a:ea typeface="MS PGothic" pitchFamily="34" charset="-128"/>
                <a:cs typeface="Courier New" panose="02070309020205020404" pitchFamily="49" charset="0"/>
              </a:rPr>
              <a:t>(&amp;lock,0,1)!=0) do nothing;</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[critical section]</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r>
              <a:rPr kumimoji="1" lang="en-US" altLang="sv-SE" sz="1600" b="1" i="0" u="none" strike="noStrike" kern="0" cap="none" spc="0" normalizeH="0" baseline="0" noProof="0" dirty="0">
                <a:ln>
                  <a:noFill/>
                </a:ln>
                <a:solidFill>
                  <a:srgbClr val="C00000"/>
                </a:solidFill>
                <a:effectLst/>
                <a:uLnTx/>
                <a:uFillTx/>
                <a:latin typeface="Courier New" panose="02070309020205020404" pitchFamily="49" charset="0"/>
                <a:ea typeface="MS PGothic" pitchFamily="34" charset="-128"/>
                <a:cs typeface="Courier New" panose="02070309020205020404" pitchFamily="49" charset="0"/>
              </a:rPr>
              <a:t>lock := 0;</a:t>
            </a: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  [remainder section] </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1" i="0" u="none" strike="noStrike" kern="0" cap="none" spc="0" normalizeH="0" baseline="0" noProof="0" dirty="0">
                <a:ln>
                  <a:noFill/>
                </a:ln>
                <a:solidFill>
                  <a:srgbClr val="000000"/>
                </a:solidFill>
                <a:effectLst/>
                <a:uLnTx/>
                <a:uFillTx/>
                <a:latin typeface="Courier New" panose="02070309020205020404" pitchFamily="49" charset="0"/>
                <a:ea typeface="MS PGothic" pitchFamily="34" charset="-128"/>
                <a:cs typeface="Courier New" panose="02070309020205020404" pitchFamily="49" charset="0"/>
              </a:rPr>
              <a:t>}forever</a:t>
            </a:r>
          </a:p>
          <a:p>
            <a:pPr marL="341313" marR="0" lvl="0" indent="-341313"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741363" algn="l"/>
                <a:tab pos="1022350" algn="l"/>
                <a:tab pos="1258888" algn="l"/>
              </a:tabLst>
              <a:defRPr/>
            </a:pPr>
            <a:r>
              <a:rPr kumimoji="1" lang="en-US" altLang="sv-SE" sz="1600" b="0" i="0" u="none" strike="noStrike" kern="0" cap="none" spc="0" normalizeH="0" baseline="0" noProof="0" dirty="0">
                <a:ln>
                  <a:noFill/>
                </a:ln>
                <a:solidFill>
                  <a:srgbClr val="000000"/>
                </a:solidFill>
                <a:effectLst/>
                <a:uLnTx/>
                <a:uFillTx/>
                <a:latin typeface="Helvetica"/>
                <a:ea typeface="MS PGothic" pitchFamily="34" charset="-128"/>
              </a:rPr>
              <a:t>               </a:t>
            </a:r>
          </a:p>
        </p:txBody>
      </p:sp>
      <p:sp>
        <p:nvSpPr>
          <p:cNvPr id="4" name="Title 1">
            <a:extLst>
              <a:ext uri="{FF2B5EF4-FFF2-40B4-BE49-F238E27FC236}">
                <a16:creationId xmlns:a16="http://schemas.microsoft.com/office/drawing/2014/main" id="{0D295634-F366-57A7-389D-18033BF1B1D9}"/>
              </a:ext>
            </a:extLst>
          </p:cNvPr>
          <p:cNvSpPr txBox="1">
            <a:spLocks/>
          </p:cNvSpPr>
          <p:nvPr/>
        </p:nvSpPr>
        <p:spPr>
          <a:xfrm>
            <a:off x="223736" y="116634"/>
            <a:ext cx="1123458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Critical section and hardware support: Read-Modify-Write (RMW) instructions</a:t>
            </a:r>
            <a:endParaRPr lang="sv-SE" sz="3600" b="1" dirty="0">
              <a:solidFill>
                <a:schemeClr val="accent1">
                  <a:lumMod val="50000"/>
                </a:schemeClr>
              </a:solidFill>
            </a:endParaRPr>
          </a:p>
        </p:txBody>
      </p:sp>
      <p:sp>
        <p:nvSpPr>
          <p:cNvPr id="2" name="Date Placeholder 1">
            <a:extLst>
              <a:ext uri="{FF2B5EF4-FFF2-40B4-BE49-F238E27FC236}">
                <a16:creationId xmlns:a16="http://schemas.microsoft.com/office/drawing/2014/main" id="{E0839D43-5589-6D24-192D-2F068CDDE360}"/>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400370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4001" y="800688"/>
            <a:ext cx="10644554" cy="3755127"/>
          </a:xfrm>
          <a:noFill/>
          <a:ln>
            <a:noFill/>
          </a:ln>
          <a:effectLst/>
        </p:spPr>
        <p:style>
          <a:lnRef idx="1">
            <a:schemeClr val="dk1"/>
          </a:lnRef>
          <a:fillRef idx="2">
            <a:schemeClr val="dk1"/>
          </a:fillRef>
          <a:effectRef idx="1">
            <a:schemeClr val="dk1"/>
          </a:effectRef>
          <a:fontRef idx="minor">
            <a:schemeClr val="dk1"/>
          </a:fontRef>
        </p:style>
        <p:txBody>
          <a:bodyPr>
            <a:noAutofit/>
          </a:bodyPr>
          <a:lstStyle/>
          <a:p>
            <a:pPr eaLnBrk="1" fontAlgn="auto" hangingPunct="1">
              <a:lnSpc>
                <a:spcPct val="90000"/>
              </a:lnSpc>
              <a:spcAft>
                <a:spcPts val="0"/>
              </a:spcAft>
              <a:buClr>
                <a:srgbClr val="FB5B5B"/>
              </a:buClr>
              <a:buFontTx/>
              <a:buChar char="–"/>
            </a:pPr>
            <a:r>
              <a:rPr lang="en-US" sz="2400" dirty="0">
                <a:solidFill>
                  <a:srgbClr val="C00000"/>
                </a:solidFill>
                <a:sym typeface="Wingdings" panose="05000000000000000000" pitchFamily="2" charset="2"/>
              </a:rPr>
              <a:t>Rather simple, convenient; BUT:</a:t>
            </a:r>
          </a:p>
          <a:p>
            <a:pPr lvl="1" eaLnBrk="1" fontAlgn="auto" hangingPunct="1">
              <a:lnSpc>
                <a:spcPct val="90000"/>
              </a:lnSpc>
              <a:spcAft>
                <a:spcPts val="0"/>
              </a:spcAft>
              <a:buClr>
                <a:srgbClr val="FB5B5B"/>
              </a:buClr>
              <a:buFontTx/>
              <a:buChar char="–"/>
            </a:pPr>
            <a:r>
              <a:rPr lang="en-US" dirty="0">
                <a:solidFill>
                  <a:srgbClr val="C00000"/>
                </a:solidFill>
              </a:rPr>
              <a:t>Busy-waiting </a:t>
            </a:r>
            <a:r>
              <a:rPr lang="en-US" dirty="0">
                <a:solidFill>
                  <a:prstClr val="black"/>
                </a:solidFill>
              </a:rPr>
              <a:t>consumes processor time unnecessarily</a:t>
            </a:r>
          </a:p>
          <a:p>
            <a:pPr lvl="1" eaLnBrk="1" fontAlgn="auto" hangingPunct="1">
              <a:lnSpc>
                <a:spcPct val="90000"/>
              </a:lnSpc>
              <a:spcAft>
                <a:spcPts val="0"/>
              </a:spcAft>
              <a:buClr>
                <a:srgbClr val="FB5B5B"/>
              </a:buClr>
              <a:buFontTx/>
              <a:buChar char="–"/>
            </a:pPr>
            <a:r>
              <a:rPr lang="en-US" dirty="0">
                <a:solidFill>
                  <a:srgbClr val="C00000"/>
                </a:solidFill>
              </a:rPr>
              <a:t>Starvation is possible </a:t>
            </a:r>
            <a:r>
              <a:rPr lang="en-US" dirty="0">
                <a:solidFill>
                  <a:prstClr val="black"/>
                </a:solidFill>
              </a:rPr>
              <a:t>when </a:t>
            </a:r>
            <a:r>
              <a:rPr lang="en-US" b="1" i="1" dirty="0">
                <a:solidFill>
                  <a:prstClr val="black"/>
                </a:solidFill>
              </a:rPr>
              <a:t>using methods as in the previous slides</a:t>
            </a:r>
          </a:p>
          <a:p>
            <a:pPr lvl="1" eaLnBrk="1" fontAlgn="auto" hangingPunct="1">
              <a:lnSpc>
                <a:spcPct val="90000"/>
              </a:lnSpc>
              <a:spcAft>
                <a:spcPts val="0"/>
              </a:spcAft>
              <a:buClr>
                <a:srgbClr val="FB5B5B"/>
              </a:buClr>
              <a:buFontTx/>
              <a:buChar char="–"/>
            </a:pPr>
            <a:r>
              <a:rPr lang="en-US" dirty="0">
                <a:solidFill>
                  <a:prstClr val="black"/>
                </a:solidFill>
              </a:rPr>
              <a:t>Even a </a:t>
            </a:r>
            <a:r>
              <a:rPr lang="en-US" b="1" dirty="0">
                <a:solidFill>
                  <a:srgbClr val="C00000"/>
                </a:solidFill>
              </a:rPr>
              <a:t>Deadlock possible </a:t>
            </a:r>
            <a:r>
              <a:rPr lang="en-US" dirty="0">
                <a:solidFill>
                  <a:srgbClr val="C00000"/>
                </a:solidFill>
              </a:rPr>
              <a:t>if spinning in </a:t>
            </a:r>
            <a:r>
              <a:rPr lang="en-US" b="1" dirty="0">
                <a:solidFill>
                  <a:srgbClr val="C00000"/>
                </a:solidFill>
              </a:rPr>
              <a:t>preemptive priority-based scheduling</a:t>
            </a:r>
            <a:r>
              <a:rPr lang="en-US" dirty="0">
                <a:solidFill>
                  <a:prstClr val="black"/>
                </a:solidFill>
              </a:rPr>
              <a:t>: example scenario: threads/processes on the same CPU and:</a:t>
            </a:r>
          </a:p>
          <a:p>
            <a:pPr lvl="2">
              <a:buClr>
                <a:srgbClr val="FB5B5B"/>
              </a:buClr>
              <a:buFontTx/>
              <a:buChar char="•"/>
            </a:pPr>
            <a:r>
              <a:rPr lang="en-US" sz="1800" dirty="0">
                <a:solidFill>
                  <a:prstClr val="black"/>
                </a:solidFill>
              </a:rPr>
              <a:t>low-priority thread LP executes in critical section </a:t>
            </a:r>
          </a:p>
          <a:p>
            <a:pPr lvl="2">
              <a:buClr>
                <a:srgbClr val="FB5B5B"/>
              </a:buClr>
              <a:buFontTx/>
              <a:buChar char="•"/>
            </a:pPr>
            <a:r>
              <a:rPr lang="en-US" sz="1800" dirty="0">
                <a:solidFill>
                  <a:prstClr val="black"/>
                </a:solidFill>
              </a:rPr>
              <a:t>high-priority thread HP needs to access its CS</a:t>
            </a:r>
          </a:p>
          <a:p>
            <a:pPr lvl="2">
              <a:buClr>
                <a:srgbClr val="FB5B5B"/>
              </a:buClr>
              <a:buFontTx/>
              <a:buChar char="•"/>
            </a:pPr>
            <a:r>
              <a:rPr lang="en-US" sz="1800" dirty="0">
                <a:solidFill>
                  <a:srgbClr val="C00000"/>
                </a:solidFill>
              </a:rPr>
              <a:t>the higher priority thread HP is dispatched (i.e., occupies the processor) and busy-waits for the LP to exit from its critical section…</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DBA504-7919-41DE-B9B2-CB6A22CC38B9}"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Title 1">
            <a:extLst>
              <a:ext uri="{FF2B5EF4-FFF2-40B4-BE49-F238E27FC236}">
                <a16:creationId xmlns:a16="http://schemas.microsoft.com/office/drawing/2014/main" id="{A02C5238-7651-A59B-A800-B2682E0A0400}"/>
              </a:ext>
            </a:extLst>
          </p:cNvPr>
          <p:cNvSpPr txBox="1">
            <a:spLocks/>
          </p:cNvSpPr>
          <p:nvPr/>
        </p:nvSpPr>
        <p:spPr>
          <a:xfrm>
            <a:off x="223736" y="116634"/>
            <a:ext cx="1123458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A reflection about busy-waiting</a:t>
            </a:r>
            <a:endParaRPr lang="sv-SE" sz="3600" b="1" dirty="0">
              <a:solidFill>
                <a:schemeClr val="accent1">
                  <a:lumMod val="50000"/>
                </a:schemeClr>
              </a:solidFill>
            </a:endParaRPr>
          </a:p>
        </p:txBody>
      </p:sp>
      <p:sp>
        <p:nvSpPr>
          <p:cNvPr id="2" name="Date Placeholder 1">
            <a:extLst>
              <a:ext uri="{FF2B5EF4-FFF2-40B4-BE49-F238E27FC236}">
                <a16:creationId xmlns:a16="http://schemas.microsoft.com/office/drawing/2014/main" id="{ED9401B8-C34A-EA0A-3712-7610BBC389B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183207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Content Placeholder 2"/>
          <p:cNvSpPr>
            <a:spLocks noGrp="1"/>
          </p:cNvSpPr>
          <p:nvPr>
            <p:ph idx="1"/>
          </p:nvPr>
        </p:nvSpPr>
        <p:spPr>
          <a:xfrm>
            <a:off x="906308" y="688230"/>
            <a:ext cx="10034961" cy="5621090"/>
          </a:xfrm>
          <a:noFill/>
        </p:spPr>
        <p:txBody>
          <a:bodyPr>
            <a:noAutofit/>
          </a:bodyPr>
          <a:lstStyle/>
          <a:p>
            <a:pPr marL="457200" lvl="0" indent="-457200">
              <a:spcBef>
                <a:spcPts val="0"/>
              </a:spcBef>
              <a:buClr>
                <a:schemeClr val="tx1"/>
              </a:buClr>
              <a:buFont typeface="+mj-lt"/>
              <a:buAutoNum type="arabicPeriod"/>
              <a:tabLst>
                <a:tab pos="742278" algn="l"/>
                <a:tab pos="1023411" algn="l"/>
                <a:tab pos="1258984" algn="l"/>
              </a:tabLst>
              <a:defRPr/>
            </a:pPr>
            <a:r>
              <a:rPr lang="en-US" sz="2000" kern="0" dirty="0">
                <a:solidFill>
                  <a:prstClr val="black"/>
                </a:solidFill>
                <a:ea typeface="ＭＳ Ｐゴシック" charset="0"/>
                <a:cs typeface="ＭＳ Ｐゴシック" charset="0"/>
              </a:rPr>
              <a:t> </a:t>
            </a:r>
            <a:r>
              <a:rPr lang="en-US" sz="2000" b="1" kern="0" dirty="0">
                <a:solidFill>
                  <a:prstClr val="black"/>
                </a:solidFill>
                <a:ea typeface="ＭＳ Ｐゴシック" charset="0"/>
                <a:cs typeface="ＭＳ Ｐゴシック" charset="0"/>
              </a:rPr>
              <a:t>Shared var </a:t>
            </a:r>
            <a:r>
              <a:rPr lang="en-US" sz="2000" i="1" kern="0" dirty="0">
                <a:solidFill>
                  <a:prstClr val="black"/>
                </a:solidFill>
                <a:ea typeface="ＭＳ Ｐゴシック" charset="0"/>
                <a:cs typeface="ＭＳ Ｐゴシック" charset="0"/>
              </a:rPr>
              <a:t>lock</a:t>
            </a:r>
            <a:r>
              <a:rPr lang="en-US" sz="2000" kern="0" dirty="0">
                <a:solidFill>
                  <a:prstClr val="black"/>
                </a:solidFill>
                <a:ea typeface="ＭＳ Ｐゴシック" charset="0"/>
                <a:cs typeface="ＭＳ Ｐゴシック" charset="0"/>
              </a:rPr>
              <a:t>: </a:t>
            </a:r>
            <a:r>
              <a:rPr lang="en-US" sz="2000" kern="0" dirty="0" err="1">
                <a:solidFill>
                  <a:prstClr val="black"/>
                </a:solidFill>
                <a:ea typeface="ＭＳ Ｐゴシック" charset="0"/>
                <a:cs typeface="ＭＳ Ｐゴシック" charset="0"/>
              </a:rPr>
              <a:t>boolean</a:t>
            </a:r>
            <a:r>
              <a:rPr lang="en-US" sz="2000" kern="0" dirty="0">
                <a:solidFill>
                  <a:prstClr val="black"/>
                </a:solidFill>
                <a:ea typeface="ＭＳ Ｐゴシック" charset="0"/>
                <a:cs typeface="ＭＳ Ｐゴシック" charset="0"/>
              </a:rPr>
              <a:t> // </a:t>
            </a:r>
            <a:r>
              <a:rPr lang="en-US" sz="2000" kern="0" dirty="0" err="1">
                <a:solidFill>
                  <a:prstClr val="black"/>
                </a:solidFill>
                <a:ea typeface="ＭＳ Ｐゴシック" charset="0"/>
                <a:cs typeface="ＭＳ Ｐゴシック" charset="0"/>
              </a:rPr>
              <a:t>init</a:t>
            </a:r>
            <a:r>
              <a:rPr lang="en-US" sz="2000" kern="0" dirty="0">
                <a:solidFill>
                  <a:prstClr val="black"/>
                </a:solidFill>
                <a:ea typeface="ＭＳ Ｐゴシック" charset="0"/>
                <a:cs typeface="ＭＳ Ｐゴシック" charset="0"/>
              </a:rPr>
              <a:t> false; </a:t>
            </a:r>
          </a:p>
          <a:p>
            <a:pPr marL="457200" lvl="0" indent="-457200">
              <a:spcBef>
                <a:spcPts val="0"/>
              </a:spcBef>
              <a:buClr>
                <a:schemeClr val="tx1"/>
              </a:buClr>
              <a:buFont typeface="+mj-lt"/>
              <a:buAutoNum type="arabicPeriod"/>
              <a:tabLst>
                <a:tab pos="742278" algn="l"/>
                <a:tab pos="1023411" algn="l"/>
                <a:tab pos="1258984" algn="l"/>
              </a:tabLst>
              <a:defRPr/>
            </a:pPr>
            <a:r>
              <a:rPr lang="en-US" sz="2000" kern="0" dirty="0">
                <a:solidFill>
                  <a:prstClr val="black"/>
                </a:solidFill>
                <a:ea typeface="ＭＳ Ｐゴシック" charset="0"/>
                <a:cs typeface="ＭＳ Ｐゴシック" charset="0"/>
              </a:rPr>
              <a:t> </a:t>
            </a:r>
            <a:r>
              <a:rPr lang="en-US" sz="2000" b="1" kern="0" dirty="0">
                <a:solidFill>
                  <a:prstClr val="black"/>
                </a:solidFill>
                <a:ea typeface="ＭＳ Ｐゴシック" charset="0"/>
                <a:cs typeface="ＭＳ Ｐゴシック" charset="0"/>
              </a:rPr>
              <a:t>Shared var</a:t>
            </a:r>
            <a:r>
              <a:rPr lang="en-US" sz="2000" kern="0" dirty="0">
                <a:solidFill>
                  <a:prstClr val="black"/>
                </a:solidFill>
                <a:ea typeface="ＭＳ Ｐゴシック" charset="0"/>
                <a:cs typeface="ＭＳ Ｐゴシック" charset="0"/>
              </a:rPr>
              <a:t> </a:t>
            </a:r>
            <a:r>
              <a:rPr lang="en-US" sz="2000" i="1" kern="0" dirty="0">
                <a:solidFill>
                  <a:prstClr val="black"/>
                </a:solidFill>
                <a:ea typeface="ＭＳ Ｐゴシック" charset="0"/>
                <a:cs typeface="ＭＳ Ｐゴシック" charset="0"/>
              </a:rPr>
              <a:t>waiting[0..n-1]: </a:t>
            </a:r>
            <a:r>
              <a:rPr lang="en-US" sz="2000" kern="0" dirty="0">
                <a:solidFill>
                  <a:prstClr val="black"/>
                </a:solidFill>
                <a:ea typeface="ＭＳ Ｐゴシック" charset="0"/>
                <a:cs typeface="ＭＳ Ｐゴシック" charset="0"/>
              </a:rPr>
              <a:t>array of </a:t>
            </a:r>
            <a:r>
              <a:rPr lang="en-US" sz="2000" kern="0" dirty="0" err="1">
                <a:solidFill>
                  <a:prstClr val="black"/>
                </a:solidFill>
                <a:ea typeface="ＭＳ Ｐゴシック" charset="0"/>
                <a:cs typeface="ＭＳ Ｐゴシック" charset="0"/>
              </a:rPr>
              <a:t>boolean</a:t>
            </a:r>
            <a:r>
              <a:rPr lang="en-US" sz="2000" kern="0" dirty="0">
                <a:solidFill>
                  <a:prstClr val="black"/>
                </a:solidFill>
                <a:ea typeface="ＭＳ Ｐゴシック" charset="0"/>
                <a:cs typeface="ＭＳ Ｐゴシック" charset="0"/>
              </a:rPr>
              <a:t> // </a:t>
            </a:r>
            <a:r>
              <a:rPr lang="en-US" sz="2000" kern="0" dirty="0" err="1">
                <a:solidFill>
                  <a:prstClr val="black"/>
                </a:solidFill>
                <a:ea typeface="ＭＳ Ｐゴシック" charset="0"/>
                <a:cs typeface="ＭＳ Ｐゴシック" charset="0"/>
              </a:rPr>
              <a:t>init</a:t>
            </a:r>
            <a:r>
              <a:rPr lang="en-US" sz="2000" kern="0" dirty="0">
                <a:solidFill>
                  <a:prstClr val="black"/>
                </a:solidFill>
                <a:ea typeface="ＭＳ Ｐゴシック" charset="0"/>
                <a:cs typeface="ＭＳ Ｐゴシック" charset="0"/>
              </a:rPr>
              <a:t> all false;</a:t>
            </a:r>
            <a:endParaRPr lang="en-US" sz="2000" b="1" kern="0" dirty="0">
              <a:solidFill>
                <a:prstClr val="black"/>
              </a:solidFill>
              <a:ea typeface="ＭＳ Ｐゴシック" charset="0"/>
              <a:cs typeface="ＭＳ Ｐゴシック" charset="0"/>
            </a:endParaRPr>
          </a:p>
          <a:p>
            <a:pPr marL="457200" lvl="0" indent="-457200">
              <a:spcBef>
                <a:spcPts val="0"/>
              </a:spcBef>
              <a:buClr>
                <a:schemeClr val="tx1"/>
              </a:buClr>
              <a:buFont typeface="+mj-lt"/>
              <a:buAutoNum type="arabicPeriod"/>
              <a:tabLst>
                <a:tab pos="742278" algn="l"/>
                <a:tab pos="1023411" algn="l"/>
                <a:tab pos="1258984" algn="l"/>
              </a:tabLst>
              <a:defRPr/>
            </a:pPr>
            <a:r>
              <a:rPr lang="en-US" sz="2000" dirty="0"/>
              <a:t> </a:t>
            </a:r>
            <a:r>
              <a:rPr lang="en-US" sz="2000" b="1" dirty="0"/>
              <a:t>do</a:t>
            </a:r>
            <a:r>
              <a:rPr lang="en-US" sz="2000" dirty="0"/>
              <a:t>  </a:t>
            </a:r>
          </a:p>
          <a:p>
            <a:pPr marL="457200" lvl="0" indent="-457200">
              <a:spcBef>
                <a:spcPts val="0"/>
              </a:spcBef>
              <a:buClr>
                <a:schemeClr val="tx1"/>
              </a:buClr>
              <a:buFont typeface="+mj-lt"/>
              <a:buAutoNum type="arabicPeriod"/>
              <a:tabLst>
                <a:tab pos="169863" algn="l"/>
                <a:tab pos="347663" algn="l"/>
                <a:tab pos="525463" algn="l"/>
              </a:tabLst>
              <a:defRPr/>
            </a:pPr>
            <a:r>
              <a:rPr lang="en-US" sz="2000" i="1" dirty="0"/>
              <a:t>	waiting[</a:t>
            </a:r>
            <a:r>
              <a:rPr lang="en-US" sz="2000" i="1" dirty="0" err="1"/>
              <a:t>i</a:t>
            </a:r>
            <a:r>
              <a:rPr lang="en-US" sz="2000" i="1" dirty="0"/>
              <a:t>] := TRUE</a:t>
            </a:r>
            <a:r>
              <a:rPr lang="en-US" sz="2000" dirty="0"/>
              <a:t>; </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t>	</a:t>
            </a:r>
            <a:r>
              <a:rPr lang="en-US" sz="2000" b="1" dirty="0"/>
              <a:t>while</a:t>
            </a:r>
            <a:r>
              <a:rPr lang="en-US" sz="2000" dirty="0"/>
              <a:t> </a:t>
            </a:r>
            <a:r>
              <a:rPr lang="en-US" sz="2000" i="1" dirty="0"/>
              <a:t>(waiting[</a:t>
            </a:r>
            <a:r>
              <a:rPr lang="en-US" sz="2000" i="1" dirty="0" err="1"/>
              <a:t>i</a:t>
            </a:r>
            <a:r>
              <a:rPr lang="en-US" sz="2000" i="1" dirty="0"/>
              <a:t>] &amp;&amp;</a:t>
            </a:r>
            <a:r>
              <a:rPr lang="en-US" sz="2000" i="1" dirty="0">
                <a:solidFill>
                  <a:srgbClr val="0000FF"/>
                </a:solidFill>
              </a:rPr>
              <a:t> </a:t>
            </a:r>
            <a:r>
              <a:rPr lang="en-US" sz="2000" b="1" i="1" dirty="0" err="1">
                <a:solidFill>
                  <a:srgbClr val="C00000"/>
                </a:solidFill>
              </a:rPr>
              <a:t>TestAndSet</a:t>
            </a:r>
            <a:r>
              <a:rPr lang="en-US" sz="2000" b="1" i="1" dirty="0">
                <a:solidFill>
                  <a:srgbClr val="C00000"/>
                </a:solidFill>
              </a:rPr>
              <a:t>(&amp;lock) </a:t>
            </a:r>
            <a:r>
              <a:rPr lang="en-US" sz="2000" i="1" dirty="0"/>
              <a:t>) </a:t>
            </a:r>
            <a:r>
              <a:rPr lang="en-US" sz="2000" dirty="0"/>
              <a:t>do [nothing]; </a:t>
            </a:r>
            <a:r>
              <a:rPr lang="en-US" sz="2000" dirty="0">
                <a:solidFill>
                  <a:schemeClr val="bg1">
                    <a:lumMod val="50000"/>
                  </a:schemeClr>
                </a:solidFill>
              </a:rPr>
              <a:t>//busy-wait</a:t>
            </a:r>
          </a:p>
          <a:p>
            <a:pPr marL="457200" lvl="0" indent="-457200">
              <a:spcBef>
                <a:spcPts val="0"/>
              </a:spcBef>
              <a:buClr>
                <a:schemeClr val="tx1"/>
              </a:buClr>
              <a:buFont typeface="+mj-lt"/>
              <a:buAutoNum type="arabicPeriod"/>
              <a:tabLst>
                <a:tab pos="169863" algn="l"/>
                <a:tab pos="347663" algn="l"/>
                <a:tab pos="525463" algn="l"/>
              </a:tabLst>
              <a:defRPr/>
            </a:pPr>
            <a:r>
              <a:rPr lang="en-US" sz="2000" i="1" dirty="0">
                <a:solidFill>
                  <a:schemeClr val="bg1">
                    <a:lumMod val="50000"/>
                  </a:schemeClr>
                </a:solidFill>
              </a:rPr>
              <a:t>	</a:t>
            </a:r>
            <a:r>
              <a:rPr lang="en-US" sz="2000" i="1" dirty="0"/>
              <a:t>waiting[</a:t>
            </a:r>
            <a:r>
              <a:rPr lang="en-US" sz="2000" i="1" dirty="0" err="1"/>
              <a:t>i</a:t>
            </a:r>
            <a:r>
              <a:rPr lang="en-US" sz="2000" i="1" dirty="0"/>
              <a:t>] := FALSE</a:t>
            </a:r>
            <a:r>
              <a:rPr lang="en-US" sz="2000" dirty="0"/>
              <a:t>; </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t>	[critical section ]</a:t>
            </a:r>
          </a:p>
          <a:p>
            <a:pPr marL="457200" lvl="0" indent="-457200">
              <a:spcBef>
                <a:spcPts val="0"/>
              </a:spcBef>
              <a:buClr>
                <a:schemeClr val="tx1"/>
              </a:buClr>
              <a:buFont typeface="+mj-lt"/>
              <a:buAutoNum type="arabicPeriod"/>
              <a:tabLst>
                <a:tab pos="169863" algn="l"/>
                <a:tab pos="347663" algn="l"/>
                <a:tab pos="525463" algn="l"/>
              </a:tabLst>
              <a:defRPr/>
            </a:pPr>
            <a:r>
              <a:rPr lang="en-US" sz="2000" i="1" dirty="0"/>
              <a:t>	j := (</a:t>
            </a:r>
            <a:r>
              <a:rPr lang="en-US" sz="2000" i="1" dirty="0" err="1"/>
              <a:t>i</a:t>
            </a:r>
            <a:r>
              <a:rPr lang="en-US" sz="2000" i="1" dirty="0"/>
              <a:t> + 1) % n</a:t>
            </a:r>
            <a:r>
              <a:rPr lang="en-US" sz="2000" dirty="0"/>
              <a:t>; </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t>	</a:t>
            </a:r>
            <a:r>
              <a:rPr lang="en-US" sz="2000" b="1" dirty="0"/>
              <a:t>while</a:t>
            </a:r>
            <a:r>
              <a:rPr lang="en-US" sz="2000" dirty="0"/>
              <a:t> </a:t>
            </a:r>
            <a:r>
              <a:rPr lang="en-US" sz="2000" i="1" dirty="0"/>
              <a:t>((j != </a:t>
            </a:r>
            <a:r>
              <a:rPr lang="en-US" sz="2000" i="1" dirty="0" err="1"/>
              <a:t>i</a:t>
            </a:r>
            <a:r>
              <a:rPr lang="en-US" sz="2000" i="1" dirty="0"/>
              <a:t>) &amp;&amp; !waiting[j])</a:t>
            </a:r>
            <a:r>
              <a:rPr lang="en-US" sz="2000" dirty="0"/>
              <a:t>  do</a:t>
            </a:r>
            <a:r>
              <a:rPr lang="en-US" sz="2000" dirty="0">
                <a:solidFill>
                  <a:srgbClr val="0000FF"/>
                </a:solidFill>
              </a:rPr>
              <a:t> </a:t>
            </a:r>
            <a:r>
              <a:rPr lang="en-US" sz="2000" dirty="0">
                <a:solidFill>
                  <a:schemeClr val="bg1">
                    <a:lumMod val="50000"/>
                  </a:schemeClr>
                </a:solidFill>
              </a:rPr>
              <a:t>// find next one waiting, </a:t>
            </a:r>
            <a:r>
              <a:rPr lang="en-US" sz="2000" b="1" dirty="0">
                <a:solidFill>
                  <a:srgbClr val="00B050"/>
                </a:solidFill>
              </a:rPr>
              <a:t>to help it </a:t>
            </a:r>
            <a:r>
              <a:rPr lang="en-US" sz="2000" dirty="0">
                <a:solidFill>
                  <a:schemeClr val="bg1">
                    <a:lumMod val="50000"/>
                  </a:schemeClr>
                </a:solidFill>
              </a:rPr>
              <a:t>(hand over the “lock” )</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solidFill>
                  <a:schemeClr val="bg1">
                    <a:lumMod val="50000"/>
                  </a:schemeClr>
                </a:solidFill>
              </a:rPr>
              <a:t>		</a:t>
            </a:r>
            <a:r>
              <a:rPr lang="en-US" sz="2000" dirty="0"/>
              <a:t> </a:t>
            </a:r>
            <a:r>
              <a:rPr lang="en-US" sz="2000" i="1" dirty="0"/>
              <a:t>j := (j + 1) % n</a:t>
            </a:r>
            <a:r>
              <a:rPr lang="en-US" sz="2000" dirty="0"/>
              <a:t>; </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t>	</a:t>
            </a:r>
            <a:r>
              <a:rPr lang="en-US" sz="2000" b="1" dirty="0"/>
              <a:t>if </a:t>
            </a:r>
            <a:r>
              <a:rPr lang="en-US" sz="2000" i="1" dirty="0"/>
              <a:t>(j == </a:t>
            </a:r>
            <a:r>
              <a:rPr lang="en-US" sz="2000" i="1" dirty="0" err="1"/>
              <a:t>i</a:t>
            </a:r>
            <a:r>
              <a:rPr lang="en-US" sz="2000" i="1" dirty="0"/>
              <a:t>)  </a:t>
            </a:r>
            <a:r>
              <a:rPr lang="en-US" sz="2000" b="1" dirty="0"/>
              <a:t>then</a:t>
            </a:r>
          </a:p>
          <a:p>
            <a:pPr marL="457200" lvl="0" indent="-457200">
              <a:spcBef>
                <a:spcPts val="0"/>
              </a:spcBef>
              <a:buClr>
                <a:schemeClr val="tx1"/>
              </a:buClr>
              <a:buFont typeface="+mj-lt"/>
              <a:buAutoNum type="arabicPeriod"/>
              <a:tabLst>
                <a:tab pos="169863" algn="l"/>
                <a:tab pos="347663" algn="l"/>
                <a:tab pos="525463" algn="l"/>
              </a:tabLst>
              <a:defRPr/>
            </a:pPr>
            <a:r>
              <a:rPr lang="en-US" sz="2000" i="1" dirty="0">
                <a:solidFill>
                  <a:srgbClr val="C00000"/>
                </a:solidFill>
              </a:rPr>
              <a:t>	</a:t>
            </a:r>
            <a:r>
              <a:rPr lang="en-US" sz="2000" b="1" i="1" dirty="0">
                <a:solidFill>
                  <a:srgbClr val="C00000"/>
                </a:solidFill>
              </a:rPr>
              <a:t>	lock := false</a:t>
            </a:r>
            <a:r>
              <a:rPr lang="en-US" sz="2000" dirty="0">
                <a:solidFill>
                  <a:srgbClr val="0000FF"/>
                </a:solidFill>
              </a:rPr>
              <a:t>;  </a:t>
            </a:r>
            <a:r>
              <a:rPr lang="en-US" sz="2000" dirty="0">
                <a:solidFill>
                  <a:schemeClr val="bg1">
                    <a:lumMod val="50000"/>
                  </a:schemeClr>
                </a:solidFill>
              </a:rPr>
              <a:t>// completed one round without handing over; release “lock”</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solidFill>
                  <a:schemeClr val="bg1">
                    <a:lumMod val="50000"/>
                  </a:schemeClr>
                </a:solidFill>
              </a:rPr>
              <a:t>	</a:t>
            </a:r>
            <a:r>
              <a:rPr lang="en-US" sz="2000" b="1" dirty="0"/>
              <a:t>else</a:t>
            </a:r>
          </a:p>
          <a:p>
            <a:pPr marL="457200" lvl="0" indent="-457200">
              <a:spcBef>
                <a:spcPts val="0"/>
              </a:spcBef>
              <a:buClr>
                <a:schemeClr val="tx1"/>
              </a:buClr>
              <a:buFont typeface="+mj-lt"/>
              <a:buAutoNum type="arabicPeriod"/>
              <a:tabLst>
                <a:tab pos="169863" algn="l"/>
                <a:tab pos="347663" algn="l"/>
                <a:tab pos="525463" algn="l"/>
              </a:tabLst>
              <a:defRPr/>
            </a:pPr>
            <a:r>
              <a:rPr lang="en-US" sz="2000" i="1" dirty="0">
                <a:solidFill>
                  <a:srgbClr val="00B050"/>
                </a:solidFill>
              </a:rPr>
              <a:t>	</a:t>
            </a:r>
            <a:r>
              <a:rPr lang="en-US" sz="2000" b="1" i="1" dirty="0">
                <a:solidFill>
                  <a:srgbClr val="00B050"/>
                </a:solidFill>
              </a:rPr>
              <a:t>	waiting[j] := false</a:t>
            </a:r>
            <a:r>
              <a:rPr lang="en-US" sz="2000" b="1" dirty="0">
                <a:solidFill>
                  <a:srgbClr val="00B050"/>
                </a:solidFill>
              </a:rPr>
              <a:t>; </a:t>
            </a:r>
            <a:r>
              <a:rPr lang="en-US" sz="2000" dirty="0">
                <a:solidFill>
                  <a:schemeClr val="bg1">
                    <a:lumMod val="50000"/>
                  </a:schemeClr>
                </a:solidFill>
              </a:rPr>
              <a:t>// hand over “lock”</a:t>
            </a:r>
          </a:p>
          <a:p>
            <a:pPr marL="457200" lvl="0" indent="-457200">
              <a:spcBef>
                <a:spcPts val="0"/>
              </a:spcBef>
              <a:buClr>
                <a:schemeClr val="tx1"/>
              </a:buClr>
              <a:buFont typeface="+mj-lt"/>
              <a:buAutoNum type="arabicPeriod"/>
              <a:tabLst>
                <a:tab pos="169863" algn="l"/>
                <a:tab pos="347663" algn="l"/>
                <a:tab pos="525463" algn="l"/>
              </a:tabLst>
              <a:defRPr/>
            </a:pPr>
            <a:r>
              <a:rPr lang="en-US" sz="2000" dirty="0">
                <a:solidFill>
                  <a:schemeClr val="bg1">
                    <a:lumMod val="50000"/>
                  </a:schemeClr>
                </a:solidFill>
              </a:rPr>
              <a:t>	</a:t>
            </a:r>
            <a:r>
              <a:rPr lang="en-US" sz="2000" dirty="0"/>
              <a:t>[remainder section ]</a:t>
            </a:r>
            <a:endParaRPr lang="en-US" sz="2000" b="1" dirty="0"/>
          </a:p>
          <a:p>
            <a:pPr marL="457200" lvl="0" indent="-457200">
              <a:spcBef>
                <a:spcPts val="0"/>
              </a:spcBef>
              <a:buClr>
                <a:schemeClr val="tx1"/>
              </a:buClr>
              <a:buFont typeface="+mj-lt"/>
              <a:buAutoNum type="arabicPeriod"/>
              <a:tabLst>
                <a:tab pos="169863" algn="l"/>
                <a:tab pos="347663" algn="l"/>
                <a:tab pos="525463" algn="l"/>
              </a:tabLst>
              <a:defRPr/>
            </a:pPr>
            <a:r>
              <a:rPr lang="en-US" sz="2000" dirty="0"/>
              <a:t> </a:t>
            </a:r>
            <a:r>
              <a:rPr lang="en-US" sz="2000" b="1" dirty="0"/>
              <a:t>forever</a:t>
            </a:r>
            <a:r>
              <a:rPr lang="en-US" sz="2000" dirty="0"/>
              <a:t>;</a:t>
            </a: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19581E-C58F-4F83-8FA8-2E7A8A7C33A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Rectangle 6"/>
          <p:cNvSpPr>
            <a:spLocks noChangeArrowheads="1"/>
          </p:cNvSpPr>
          <p:nvPr/>
        </p:nvSpPr>
        <p:spPr bwMode="auto">
          <a:xfrm>
            <a:off x="1474173" y="1571337"/>
            <a:ext cx="9336786" cy="804175"/>
          </a:xfrm>
          <a:prstGeom prst="rect">
            <a:avLst/>
          </a:prstGeom>
          <a:noFill/>
          <a:ln w="28575">
            <a:solidFill>
              <a:schemeClr val="accent2"/>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Rectangle 6"/>
          <p:cNvSpPr>
            <a:spLocks noChangeArrowheads="1"/>
          </p:cNvSpPr>
          <p:nvPr/>
        </p:nvSpPr>
        <p:spPr bwMode="auto">
          <a:xfrm>
            <a:off x="1474173" y="2651931"/>
            <a:ext cx="9336786" cy="1920069"/>
          </a:xfrm>
          <a:prstGeom prst="rect">
            <a:avLst/>
          </a:prstGeom>
          <a:noFill/>
          <a:ln w="28575">
            <a:solidFill>
              <a:schemeClr val="accent2"/>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itle 1">
            <a:extLst>
              <a:ext uri="{FF2B5EF4-FFF2-40B4-BE49-F238E27FC236}">
                <a16:creationId xmlns:a16="http://schemas.microsoft.com/office/drawing/2014/main" id="{A62F34B8-86C5-EF8A-0C6C-5666F290B476}"/>
              </a:ext>
            </a:extLst>
          </p:cNvPr>
          <p:cNvSpPr txBox="1">
            <a:spLocks/>
          </p:cNvSpPr>
          <p:nvPr/>
        </p:nvSpPr>
        <p:spPr>
          <a:xfrm>
            <a:off x="228594" y="88056"/>
            <a:ext cx="1123458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Critical section + bounded waiting with  TAS + busy-waiting for n threads</a:t>
            </a:r>
            <a:endParaRPr lang="sv-SE" sz="3600" b="1" dirty="0">
              <a:solidFill>
                <a:schemeClr val="accent1">
                  <a:lumMod val="50000"/>
                </a:schemeClr>
              </a:solidFill>
            </a:endParaRPr>
          </a:p>
        </p:txBody>
      </p:sp>
      <p:sp>
        <p:nvSpPr>
          <p:cNvPr id="3" name="Date Placeholder 2">
            <a:extLst>
              <a:ext uri="{FF2B5EF4-FFF2-40B4-BE49-F238E27FC236}">
                <a16:creationId xmlns:a16="http://schemas.microsoft.com/office/drawing/2014/main" id="{F8C66E5E-CDAB-0D12-038B-8AB3AEF7C160}"/>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41683965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solidFill>
                  <a:schemeClr val="bg1">
                    <a:lumMod val="50000"/>
                  </a:schemeClr>
                </a:solidFill>
              </a:rPr>
              <a:t>The critical-section problem</a:t>
            </a:r>
          </a:p>
          <a:p>
            <a:pPr lvl="1"/>
            <a:r>
              <a:rPr lang="en-US" dirty="0">
                <a:solidFill>
                  <a:schemeClr val="bg1">
                    <a:lumMod val="50000"/>
                  </a:schemeClr>
                </a:solidFill>
              </a:rPr>
              <a:t>Check-competition approach</a:t>
            </a:r>
          </a:p>
          <a:p>
            <a:r>
              <a:rPr lang="en-US" dirty="0">
                <a:solidFill>
                  <a:schemeClr val="bg1">
                    <a:lumMod val="50000"/>
                  </a:schemeClr>
                </a:solidFill>
              </a:rPr>
              <a:t>The check-order / after-you approach</a:t>
            </a:r>
          </a:p>
          <a:p>
            <a:r>
              <a:rPr lang="en-US" dirty="0">
                <a:solidFill>
                  <a:schemeClr val="bg1">
                    <a:lumMod val="50000"/>
                  </a:schemeClr>
                </a:solidFill>
              </a:rPr>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t>Semaphores</a:t>
            </a:r>
            <a:endParaRPr lang="en-US" dirty="0">
              <a:solidFill>
                <a:schemeClr val="bg1">
                  <a:lumMod val="50000"/>
                </a:schemeClr>
              </a:solidFill>
            </a:endParaRPr>
          </a:p>
          <a:p>
            <a:r>
              <a:rPr lang="en-US" dirty="0">
                <a:solidFill>
                  <a:schemeClr val="bg1">
                    <a:lumMod val="50000"/>
                  </a:schemeClr>
                </a:solidFill>
              </a:rPr>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F85122B-0B3A-FCED-4317-032D3F42F293}"/>
              </a:ext>
            </a:extLst>
          </p:cNvPr>
          <p:cNvSpPr>
            <a:spLocks noGrp="1"/>
          </p:cNvSpPr>
          <p:nvPr>
            <p:ph type="sldNum" sz="quarter" idx="12"/>
          </p:nvPr>
        </p:nvSpPr>
        <p:spPr/>
        <p:txBody>
          <a:bodyPr/>
          <a:lstStyle/>
          <a:p>
            <a:fld id="{67FCC1A6-2294-BF46-A2F7-E6BDB92DF1BF}" type="slidenum">
              <a:rPr lang="en-US" smtClean="0"/>
              <a:t>35</a:t>
            </a:fld>
            <a:endParaRPr lang="en-US"/>
          </a:p>
        </p:txBody>
      </p:sp>
      <p:sp>
        <p:nvSpPr>
          <p:cNvPr id="5" name="Date Placeholder 4">
            <a:extLst>
              <a:ext uri="{FF2B5EF4-FFF2-40B4-BE49-F238E27FC236}">
                <a16:creationId xmlns:a16="http://schemas.microsoft.com/office/drawing/2014/main" id="{E2080648-2C6A-43ED-3C78-8CBFFBBBEBE9}"/>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5661072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7766D04-DBB7-4C51-A896-ED17DB13D4A4}"/>
              </a:ext>
            </a:extLst>
          </p:cNvPr>
          <p:cNvSpPr/>
          <p:nvPr/>
        </p:nvSpPr>
        <p:spPr>
          <a:xfrm>
            <a:off x="200343" y="2705229"/>
            <a:ext cx="6096000" cy="1380378"/>
          </a:xfrm>
          <a:prstGeom prst="rect">
            <a:avLst/>
          </a:prstGeom>
        </p:spPr>
        <p:txBody>
          <a:bodyPr>
            <a:spAutoFit/>
          </a:bodyPr>
          <a:lstStyle/>
          <a:p>
            <a:pPr marL="0" marR="0" lvl="0" indent="0" algn="l" defTabSz="914400" rtl="0" eaLnBrk="1" fontAlgn="auto" latinLnBrk="0" hangingPunct="1">
              <a:lnSpc>
                <a:spcPct val="90000"/>
              </a:lnSpc>
              <a:spcBef>
                <a:spcPct val="35000"/>
              </a:spcBef>
              <a:spcAft>
                <a:spcPts val="0"/>
              </a:spcAft>
              <a:buClr>
                <a:srgbClr val="993300"/>
              </a:buClr>
              <a:buSzPct val="90000"/>
              <a:buFontTx/>
              <a:buNone/>
              <a:tabLst/>
              <a:defRPr/>
            </a:pPr>
            <a:r>
              <a:rPr kumimoji="1" lang="en-US" altLang="sv-SE" sz="1800" b="0" i="0" u="none" strike="noStrike" kern="0" cap="none" spc="0" normalizeH="0" baseline="0" noProof="0" dirty="0">
                <a:ln>
                  <a:noFill/>
                </a:ln>
                <a:solidFill>
                  <a:srgbClr val="000000"/>
                </a:solidFill>
                <a:effectLst/>
                <a:uLnTx/>
                <a:uFillTx/>
                <a:latin typeface="Calibri"/>
                <a:ea typeface="MS PGothic" pitchFamily="34" charset="-128"/>
                <a:cs typeface="+mn-cs"/>
              </a:rPr>
              <a:t>Definition of  the </a:t>
            </a: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Courier New" panose="02070309020205020404" pitchFamily="49" charset="0"/>
              </a:rPr>
              <a:t>signal() operation</a:t>
            </a:r>
            <a:endPar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Courier New" panose="02070309020205020404" pitchFamily="49" charset="0"/>
              <a:sym typeface="Symbol" panose="05050102010706020507" pitchFamily="18" charset="2"/>
            </a:endParaRPr>
          </a:p>
          <a:p>
            <a:pPr marL="284163" marR="0" lvl="0"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signal(S) {  </a:t>
            </a:r>
          </a:p>
          <a:p>
            <a:pPr marL="284163" marR="0" lvl="0"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    S++; //  and unblock from queue if applicable</a:t>
            </a:r>
          </a:p>
          <a:p>
            <a:pPr marL="284163" marR="0" lvl="0"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 </a:t>
            </a:r>
            <a:r>
              <a:rPr kumimoji="1" lang="en-US" altLang="sv-SE" sz="1800" b="1" i="0" u="none" strike="noStrike" kern="0" cap="none" spc="0" normalizeH="0" baseline="0" noProof="0" dirty="0">
                <a:ln>
                  <a:noFill/>
                </a:ln>
                <a:solidFill>
                  <a:srgbClr val="C00000"/>
                </a:solidFill>
                <a:effectLst/>
                <a:uLnTx/>
                <a:uFillTx/>
                <a:latin typeface="Calibri"/>
                <a:ea typeface="MS PGothic" pitchFamily="34" charset="-128"/>
                <a:cs typeface="+mn-cs"/>
                <a:sym typeface="Symbol" panose="05050102010706020507" pitchFamily="18" charset="2"/>
              </a:rPr>
              <a:t>// Executed atomically</a:t>
            </a:r>
          </a:p>
        </p:txBody>
      </p:sp>
      <p:sp>
        <p:nvSpPr>
          <p:cNvPr id="2" name="Rectangle 1"/>
          <p:cNvSpPr/>
          <p:nvPr/>
        </p:nvSpPr>
        <p:spPr>
          <a:xfrm>
            <a:off x="6096000" y="2321138"/>
            <a:ext cx="5784195" cy="2623548"/>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90000"/>
              </a:lnSpc>
              <a:spcBef>
                <a:spcPct val="35000"/>
              </a:spcBef>
              <a:spcAft>
                <a:spcPts val="0"/>
              </a:spcAft>
              <a:buClr>
                <a:srgbClr val="993300"/>
              </a:buClr>
              <a:buSzPct val="90000"/>
              <a:buFontTx/>
              <a:buNone/>
              <a:tabLst/>
              <a:defRPr/>
            </a:pPr>
            <a:r>
              <a:rPr kumimoji="1" lang="en-US" altLang="sv-SE" sz="1800" b="0" i="0" u="none" strike="noStrike" kern="0" cap="none" spc="0" normalizeH="0" baseline="0" noProof="0" dirty="0">
                <a:ln>
                  <a:noFill/>
                </a:ln>
                <a:solidFill>
                  <a:srgbClr val="000000"/>
                </a:solidFill>
                <a:effectLst/>
                <a:uLnTx/>
                <a:uFillTx/>
                <a:latin typeface="Calibri"/>
                <a:ea typeface="MS PGothic" pitchFamily="34" charset="-128"/>
                <a:cs typeface="+mn-cs"/>
              </a:rPr>
              <a:t>Definition of  the </a:t>
            </a: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Courier New" panose="02070309020205020404" pitchFamily="49" charset="0"/>
              </a:rPr>
              <a:t>wait() operation </a:t>
            </a:r>
            <a:endParaRPr kumimoji="1" lang="en-US" altLang="sv-SE" sz="1800" b="0" i="0" u="none" strike="noStrike" kern="0" cap="none" spc="0" normalizeH="0" baseline="0" noProof="0" dirty="0">
              <a:ln>
                <a:noFill/>
              </a:ln>
              <a:solidFill>
                <a:srgbClr val="000000"/>
              </a:solidFill>
              <a:effectLst/>
              <a:uLnTx/>
              <a:uFillTx/>
              <a:latin typeface="Calibri"/>
              <a:ea typeface="MS PGothic" pitchFamily="34" charset="-128"/>
              <a:cs typeface="Courier New" panose="02070309020205020404" pitchFamily="49" charset="0"/>
            </a:endParaRPr>
          </a:p>
          <a:p>
            <a:pPr marL="741363" marR="0" lvl="1"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wait(S) { </a:t>
            </a:r>
          </a:p>
          <a:p>
            <a:pPr marL="741363" marR="0" lvl="1"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  while (S == 0) do;</a:t>
            </a:r>
          </a:p>
          <a:p>
            <a:pPr marL="741363" marR="0" lvl="1"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  S--;</a:t>
            </a:r>
          </a:p>
          <a:p>
            <a:pPr marL="741363" marR="0" lvl="1" indent="-284163" algn="l" defTabSz="914400" rtl="0" eaLnBrk="1" fontAlgn="auto" latinLnBrk="0" hangingPunct="1">
              <a:lnSpc>
                <a:spcPct val="90000"/>
              </a:lnSpc>
              <a:spcBef>
                <a:spcPct val="35000"/>
              </a:spcBef>
              <a:spcAft>
                <a:spcPts val="0"/>
              </a:spcAft>
              <a:buClr>
                <a:srgbClr val="CC6600"/>
              </a:buClr>
              <a:buSzPct val="80000"/>
              <a:buFontTx/>
              <a:buNone/>
              <a:tabLst/>
              <a:defRPr/>
            </a:pPr>
            <a:r>
              <a:rPr kumimoji="1" lang="en-US" altLang="sv-SE" sz="1800" b="1" i="0" u="none" strike="noStrike" kern="0" cap="none" spc="0" normalizeH="0" baseline="0" noProof="0" dirty="0">
                <a:ln>
                  <a:noFill/>
                </a:ln>
                <a:solidFill>
                  <a:srgbClr val="000000"/>
                </a:solidFill>
                <a:effectLst/>
                <a:uLnTx/>
                <a:uFillTx/>
                <a:latin typeface="Calibri"/>
                <a:ea typeface="MS PGothic" pitchFamily="34" charset="-128"/>
                <a:cs typeface="+mn-cs"/>
                <a:sym typeface="Symbol" panose="05050102010706020507" pitchFamily="18" charset="2"/>
              </a:rPr>
              <a:t>} </a:t>
            </a:r>
            <a:r>
              <a:rPr kumimoji="1" lang="en-US" altLang="sv-SE" sz="1800" b="1" i="0" u="none" strike="noStrike" kern="0" cap="none" spc="0" normalizeH="0" baseline="0" noProof="0" dirty="0">
                <a:ln>
                  <a:noFill/>
                </a:ln>
                <a:solidFill>
                  <a:srgbClr val="C00000"/>
                </a:solidFill>
                <a:effectLst/>
                <a:uLnTx/>
                <a:uFillTx/>
                <a:latin typeface="Calibri"/>
                <a:ea typeface="MS PGothic" pitchFamily="34" charset="-128"/>
                <a:cs typeface="+mn-cs"/>
                <a:sym typeface="Symbol" panose="05050102010706020507" pitchFamily="18" charset="2"/>
              </a:rPr>
              <a:t>// Executed atomically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532" name="Rectangle 3"/>
          <p:cNvSpPr>
            <a:spLocks noGrp="1" noChangeArrowheads="1"/>
          </p:cNvSpPr>
          <p:nvPr>
            <p:ph idx="1"/>
          </p:nvPr>
        </p:nvSpPr>
        <p:spPr>
          <a:xfrm>
            <a:off x="311805" y="980728"/>
            <a:ext cx="9699704" cy="1422503"/>
          </a:xfrm>
          <a:noFill/>
          <a:effectLst/>
        </p:spPr>
        <p:style>
          <a:lnRef idx="1">
            <a:schemeClr val="dk1"/>
          </a:lnRef>
          <a:fillRef idx="2">
            <a:schemeClr val="dk1"/>
          </a:fillRef>
          <a:effectRef idx="1">
            <a:schemeClr val="dk1"/>
          </a:effectRef>
          <a:fontRef idx="minor">
            <a:schemeClr val="dk1"/>
          </a:fontRef>
        </p:style>
        <p:txBody>
          <a:bodyPr/>
          <a:lstStyle/>
          <a:p>
            <a:pPr marL="0" indent="0">
              <a:buNone/>
            </a:pPr>
            <a:r>
              <a:rPr lang="en-US" dirty="0"/>
              <a:t>Special </a:t>
            </a:r>
            <a:r>
              <a:rPr lang="en-US" dirty="0">
                <a:solidFill>
                  <a:srgbClr val="C00000"/>
                </a:solidFill>
              </a:rPr>
              <a:t>variables/data-objects</a:t>
            </a:r>
            <a:r>
              <a:rPr lang="en-US" dirty="0"/>
              <a:t> used for </a:t>
            </a:r>
            <a:r>
              <a:rPr lang="en-US" dirty="0">
                <a:solidFill>
                  <a:srgbClr val="C00000"/>
                </a:solidFill>
              </a:rPr>
              <a:t>signaling</a:t>
            </a:r>
          </a:p>
          <a:p>
            <a:pPr lvl="1"/>
            <a:r>
              <a:rPr lang="en-US" dirty="0"/>
              <a:t>Accessible via (i.e., API) </a:t>
            </a:r>
            <a:r>
              <a:rPr lang="en-US" i="1" dirty="0"/>
              <a:t> </a:t>
            </a:r>
            <a:r>
              <a:rPr lang="en-US" b="1" i="1" dirty="0">
                <a:solidFill>
                  <a:srgbClr val="C00000"/>
                </a:solidFill>
              </a:rPr>
              <a:t>atomic Wait</a:t>
            </a:r>
            <a:r>
              <a:rPr lang="en-US" b="1" dirty="0">
                <a:solidFill>
                  <a:srgbClr val="C00000"/>
                </a:solidFill>
              </a:rPr>
              <a:t> and </a:t>
            </a:r>
            <a:r>
              <a:rPr lang="en-US" b="1" i="1" dirty="0">
                <a:solidFill>
                  <a:srgbClr val="C00000"/>
                </a:solidFill>
              </a:rPr>
              <a:t>Signal</a:t>
            </a:r>
            <a:r>
              <a:rPr lang="en-US" b="1" dirty="0">
                <a:solidFill>
                  <a:srgbClr val="C00000"/>
                </a:solidFill>
              </a:rPr>
              <a:t> operations</a:t>
            </a:r>
          </a:p>
          <a:p>
            <a:pPr lvl="1"/>
            <a:r>
              <a:rPr lang="en-US" dirty="0"/>
              <a:t>If a process is </a:t>
            </a:r>
            <a:r>
              <a:rPr lang="en-US" dirty="0">
                <a:solidFill>
                  <a:srgbClr val="C00000"/>
                </a:solidFill>
              </a:rPr>
              <a:t>waiting</a:t>
            </a:r>
            <a:r>
              <a:rPr lang="en-US" dirty="0"/>
              <a:t> for a signal, it is blocked until that </a:t>
            </a:r>
            <a:r>
              <a:rPr lang="en-US" dirty="0">
                <a:solidFill>
                  <a:srgbClr val="C00000"/>
                </a:solidFill>
              </a:rPr>
              <a:t>signal</a:t>
            </a:r>
            <a:r>
              <a:rPr lang="en-US" dirty="0"/>
              <a:t> is “sent”</a:t>
            </a:r>
          </a:p>
          <a:p>
            <a:pPr marL="741363" lvl="1" indent="-284163">
              <a:lnSpc>
                <a:spcPct val="90000"/>
              </a:lnSpc>
              <a:spcBef>
                <a:spcPct val="35000"/>
              </a:spcBef>
              <a:buClr>
                <a:srgbClr val="CC6600"/>
              </a:buClr>
              <a:buSzPct val="80000"/>
              <a:buNone/>
            </a:pPr>
            <a:endParaRPr kumimoji="1" lang="en-US" altLang="sv-SE" sz="1800" b="1" kern="0" dirty="0">
              <a:solidFill>
                <a:srgbClr val="C00000"/>
              </a:solidFill>
              <a:ea typeface="MS PGothic" pitchFamily="34" charset="-128"/>
              <a:sym typeface="Symbol" panose="05050102010706020507" pitchFamily="18" charset="2"/>
            </a:endParaRPr>
          </a:p>
          <a:p>
            <a:pPr marL="0" indent="0">
              <a:buNone/>
            </a:pPr>
            <a:endParaRPr lang="en-US" dirty="0"/>
          </a:p>
        </p:txBody>
      </p:sp>
      <p:sp>
        <p:nvSpPr>
          <p:cNvPr id="22530"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F9FB27-9E1F-4EC8-BF21-747DAE5AED4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Rectangle 2"/>
          <p:cNvSpPr/>
          <p:nvPr/>
        </p:nvSpPr>
        <p:spPr>
          <a:xfrm>
            <a:off x="6603921" y="4477522"/>
            <a:ext cx="4973399" cy="670953"/>
          </a:xfrm>
          <a:prstGeom prst="rect">
            <a:avLst/>
          </a:prstGeom>
          <a:noFill/>
          <a:effectLst/>
        </p:spPr>
        <p:style>
          <a:lnRef idx="1">
            <a:schemeClr val="dk1"/>
          </a:lnRef>
          <a:fillRef idx="2">
            <a:schemeClr val="dk1"/>
          </a:fillRef>
          <a:effectRef idx="1">
            <a:schemeClr val="dk1"/>
          </a:effectRef>
          <a:fontRef idx="minor">
            <a:schemeClr val="dk1"/>
          </a:fontRef>
        </p:style>
        <p:txBody>
          <a:bodyPr wrap="square">
            <a:spAutoFit/>
          </a:bodyPr>
          <a:lstStyle/>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Char char="n"/>
              <a:tabLst>
                <a:tab pos="2001838" algn="ctr"/>
                <a:tab pos="4513263" algn="ctr"/>
              </a:tabLst>
              <a:defRPr/>
            </a:pPr>
            <a:r>
              <a:rPr kumimoji="1" lang="en-US" altLang="sv-SE" sz="1600" b="1" i="0" u="none" strike="noStrike" kern="0" cap="none" spc="0" normalizeH="0" baseline="0" noProof="0" dirty="0">
                <a:ln>
                  <a:noFill/>
                </a:ln>
                <a:solidFill>
                  <a:srgbClr val="3366FF"/>
                </a:solidFill>
                <a:effectLst/>
                <a:uLnTx/>
                <a:uFillTx/>
                <a:latin typeface="Helvetica"/>
                <a:ea typeface="MS PGothic" pitchFamily="34" charset="-128"/>
                <a:cs typeface="+mn-cs"/>
              </a:rPr>
              <a:t>Binary semaphore </a:t>
            </a:r>
            <a:r>
              <a:rPr kumimoji="1" lang="en-US" altLang="sv-SE" sz="1600" b="0" i="0" u="none" strike="noStrike" kern="0" cap="none" spc="0" normalizeH="0" baseline="0" noProof="0" dirty="0">
                <a:ln>
                  <a:noFill/>
                </a:ln>
                <a:solidFill>
                  <a:srgbClr val="000000"/>
                </a:solidFill>
                <a:effectLst/>
                <a:uLnTx/>
                <a:uFillTx/>
                <a:latin typeface="Helvetica"/>
                <a:ea typeface="MS PGothic" pitchFamily="34" charset="-128"/>
                <a:cs typeface="+mn-cs"/>
              </a:rPr>
              <a:t>– value can be only  0 or 1</a:t>
            </a:r>
          </a:p>
          <a:p>
            <a:pPr marL="341313" marR="0" lvl="0" indent="-341313" algn="l" defTabSz="914400" rtl="0" eaLnBrk="0" fontAlgn="base" latinLnBrk="0" hangingPunct="0">
              <a:lnSpc>
                <a:spcPct val="100000"/>
              </a:lnSpc>
              <a:spcBef>
                <a:spcPct val="35000"/>
              </a:spcBef>
              <a:spcAft>
                <a:spcPct val="0"/>
              </a:spcAft>
              <a:buClr>
                <a:srgbClr val="993300"/>
              </a:buClr>
              <a:buSzPct val="90000"/>
              <a:buFont typeface="Monotype Sorts" pitchFamily="-84" charset="2"/>
              <a:buChar char="n"/>
              <a:tabLst>
                <a:tab pos="2001838" algn="ctr"/>
                <a:tab pos="4513263" algn="ctr"/>
              </a:tabLst>
              <a:defRPr/>
            </a:pPr>
            <a:r>
              <a:rPr kumimoji="1" lang="en-US" altLang="sv-SE" sz="1600" b="1" i="0" u="none" strike="noStrike" kern="0" cap="none" spc="0" normalizeH="0" baseline="0" noProof="0" dirty="0">
                <a:ln>
                  <a:noFill/>
                </a:ln>
                <a:solidFill>
                  <a:srgbClr val="3366FF"/>
                </a:solidFill>
                <a:effectLst/>
                <a:uLnTx/>
                <a:uFillTx/>
                <a:latin typeface="Helvetica"/>
                <a:ea typeface="MS PGothic" pitchFamily="34" charset="-128"/>
                <a:cs typeface="+mn-cs"/>
              </a:rPr>
              <a:t>Counting semaphore </a:t>
            </a:r>
            <a:r>
              <a:rPr kumimoji="1" lang="en-US" altLang="sv-SE" sz="1600" b="0" i="0" u="none" strike="noStrike" kern="0" cap="none" spc="0" normalizeH="0" baseline="0" noProof="0" dirty="0">
                <a:ln>
                  <a:noFill/>
                </a:ln>
                <a:solidFill>
                  <a:srgbClr val="000000"/>
                </a:solidFill>
                <a:effectLst/>
                <a:uLnTx/>
                <a:uFillTx/>
                <a:latin typeface="Helvetica"/>
                <a:ea typeface="MS PGothic" pitchFamily="34" charset="-128"/>
                <a:cs typeface="+mn-cs"/>
              </a:rPr>
              <a:t>– value can vary</a:t>
            </a:r>
          </a:p>
        </p:txBody>
      </p:sp>
      <p:sp>
        <p:nvSpPr>
          <p:cNvPr id="4" name="Rectangle 3">
            <a:extLst>
              <a:ext uri="{FF2B5EF4-FFF2-40B4-BE49-F238E27FC236}">
                <a16:creationId xmlns:a16="http://schemas.microsoft.com/office/drawing/2014/main" id="{56573ED3-D302-4FFD-B725-0CF9A97F7CB0}"/>
              </a:ext>
            </a:extLst>
          </p:cNvPr>
          <p:cNvSpPr/>
          <p:nvPr/>
        </p:nvSpPr>
        <p:spPr>
          <a:xfrm>
            <a:off x="5076099" y="2965433"/>
            <a:ext cx="714396" cy="73096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 name="Straight Arrow Connector 5">
            <a:extLst>
              <a:ext uri="{FF2B5EF4-FFF2-40B4-BE49-F238E27FC236}">
                <a16:creationId xmlns:a16="http://schemas.microsoft.com/office/drawing/2014/main" id="{FDC99223-3E07-49C6-8C14-304C1F3696AD}"/>
              </a:ext>
            </a:extLst>
          </p:cNvPr>
          <p:cNvCxnSpPr>
            <a:cxnSpLocks/>
            <a:stCxn id="4" idx="3"/>
          </p:cNvCxnSpPr>
          <p:nvPr/>
        </p:nvCxnSpPr>
        <p:spPr>
          <a:xfrm flipV="1">
            <a:off x="5790495" y="3188525"/>
            <a:ext cx="710902" cy="14238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FFBA2EE-BFF5-477E-AC13-795B83E2F2D4}"/>
              </a:ext>
            </a:extLst>
          </p:cNvPr>
          <p:cNvCxnSpPr>
            <a:cxnSpLocks/>
            <a:endCxn id="4" idx="1"/>
          </p:cNvCxnSpPr>
          <p:nvPr/>
        </p:nvCxnSpPr>
        <p:spPr>
          <a:xfrm>
            <a:off x="1408014" y="3188525"/>
            <a:ext cx="3668085" cy="14238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3" name="Graphic 12" descr="Send">
            <a:extLst>
              <a:ext uri="{FF2B5EF4-FFF2-40B4-BE49-F238E27FC236}">
                <a16:creationId xmlns:a16="http://schemas.microsoft.com/office/drawing/2014/main" id="{E6DB0AEE-811A-4641-91C5-E281E83905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3454640">
            <a:off x="4115434" y="2691197"/>
            <a:ext cx="619931" cy="619931"/>
          </a:xfrm>
          <a:prstGeom prst="rect">
            <a:avLst/>
          </a:prstGeom>
        </p:spPr>
      </p:pic>
      <p:pic>
        <p:nvPicPr>
          <p:cNvPr id="19" name="Graphic 18" descr="Send">
            <a:extLst>
              <a:ext uri="{FF2B5EF4-FFF2-40B4-BE49-F238E27FC236}">
                <a16:creationId xmlns:a16="http://schemas.microsoft.com/office/drawing/2014/main" id="{03A76E61-53BA-4310-B8A0-F26EFBC8A7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974372">
            <a:off x="5779565" y="3222648"/>
            <a:ext cx="632870" cy="467664"/>
          </a:xfrm>
          <a:prstGeom prst="rect">
            <a:avLst/>
          </a:prstGeom>
        </p:spPr>
      </p:pic>
      <p:sp>
        <p:nvSpPr>
          <p:cNvPr id="9" name="Title 1">
            <a:extLst>
              <a:ext uri="{FF2B5EF4-FFF2-40B4-BE49-F238E27FC236}">
                <a16:creationId xmlns:a16="http://schemas.microsoft.com/office/drawing/2014/main" id="{23FB8558-C7FB-9A47-FA23-8C7C54A768C4}"/>
              </a:ext>
            </a:extLst>
          </p:cNvPr>
          <p:cNvSpPr txBox="1">
            <a:spLocks/>
          </p:cNvSpPr>
          <p:nvPr/>
        </p:nvSpPr>
        <p:spPr>
          <a:xfrm>
            <a:off x="223736" y="116634"/>
            <a:ext cx="9912236" cy="600174"/>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0" fontAlgn="base" hangingPunct="0">
              <a:spcAft>
                <a:spcPct val="0"/>
              </a:spcAft>
            </a:pPr>
            <a:r>
              <a:rPr lang="en-US" sz="3600" b="1" dirty="0">
                <a:solidFill>
                  <a:schemeClr val="accent1">
                    <a:lumMod val="50000"/>
                  </a:schemeClr>
                </a:solidFill>
              </a:rPr>
              <a:t>Synchronization with semaphores</a:t>
            </a:r>
            <a:endParaRPr lang="sv-SE" sz="3600" b="1" dirty="0">
              <a:solidFill>
                <a:schemeClr val="accent1">
                  <a:lumMod val="50000"/>
                </a:schemeClr>
              </a:solidFill>
            </a:endParaRPr>
          </a:p>
        </p:txBody>
      </p:sp>
      <p:sp>
        <p:nvSpPr>
          <p:cNvPr id="7" name="Date Placeholder 6">
            <a:extLst>
              <a:ext uri="{FF2B5EF4-FFF2-40B4-BE49-F238E27FC236}">
                <a16:creationId xmlns:a16="http://schemas.microsoft.com/office/drawing/2014/main" id="{9814F6B1-FDC1-0EC4-A659-2E55F1B3AE6C}"/>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359031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P spid="3" grpId="0" animBg="1"/>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title"/>
          </p:nvPr>
        </p:nvSpPr>
        <p:spPr>
          <a:xfrm>
            <a:off x="2063751" y="116632"/>
            <a:ext cx="8208963" cy="648072"/>
          </a:xfrm>
        </p:spPr>
        <p:txBody>
          <a:bodyPr/>
          <a:lstStyle/>
          <a:p>
            <a:r>
              <a:rPr lang="en-US" sz="2800" dirty="0"/>
              <a:t>Critical section of </a:t>
            </a:r>
            <a:r>
              <a:rPr lang="en-US" sz="2800" i="1" dirty="0"/>
              <a:t>n</a:t>
            </a:r>
            <a:r>
              <a:rPr lang="en-US" sz="2800" dirty="0"/>
              <a:t> threads </a:t>
            </a:r>
            <a:r>
              <a:rPr lang="en-US" sz="2800" dirty="0">
                <a:solidFill>
                  <a:srgbClr val="C00000"/>
                </a:solidFill>
              </a:rPr>
              <a:t>using</a:t>
            </a:r>
            <a:r>
              <a:rPr lang="en-US" sz="2800" dirty="0"/>
              <a:t> semaphores</a:t>
            </a:r>
            <a:endParaRPr lang="en-US" dirty="0"/>
          </a:p>
        </p:txBody>
      </p:sp>
      <p:sp>
        <p:nvSpPr>
          <p:cNvPr id="24580" name="Rectangle 4"/>
          <p:cNvSpPr>
            <a:spLocks noGrp="1" noChangeArrowheads="1"/>
          </p:cNvSpPr>
          <p:nvPr>
            <p:ph idx="1"/>
          </p:nvPr>
        </p:nvSpPr>
        <p:spPr>
          <a:xfrm>
            <a:off x="3107668" y="1020368"/>
            <a:ext cx="5976664" cy="4032448"/>
          </a:xfrm>
          <a:noFill/>
          <a:effectLst/>
        </p:spPr>
        <p:style>
          <a:lnRef idx="1">
            <a:schemeClr val="dk1"/>
          </a:lnRef>
          <a:fillRef idx="2">
            <a:schemeClr val="dk1"/>
          </a:fillRef>
          <a:effectRef idx="1">
            <a:schemeClr val="dk1"/>
          </a:effectRef>
          <a:fontRef idx="minor">
            <a:schemeClr val="dk1"/>
          </a:fontRef>
        </p:style>
        <p:txBody>
          <a:bodyPr/>
          <a:lstStyle/>
          <a:p>
            <a:pPr>
              <a:buNone/>
              <a:tabLst>
                <a:tab pos="436563" algn="l"/>
                <a:tab pos="614363" algn="l"/>
                <a:tab pos="792163" algn="l"/>
              </a:tabLst>
            </a:pPr>
            <a:r>
              <a:rPr lang="en-US" sz="2000" dirty="0"/>
              <a:t>Shared </a:t>
            </a:r>
            <a:r>
              <a:rPr lang="en-US" sz="2000" b="1" dirty="0"/>
              <a:t>var</a:t>
            </a:r>
            <a:r>
              <a:rPr lang="en-US" sz="2000" dirty="0"/>
              <a:t> </a:t>
            </a:r>
            <a:r>
              <a:rPr lang="en-US" sz="2000" i="1" dirty="0" err="1"/>
              <a:t>mutex_sem</a:t>
            </a:r>
            <a:r>
              <a:rPr lang="en-US" sz="2000" dirty="0"/>
              <a:t> : binary </a:t>
            </a:r>
            <a:r>
              <a:rPr lang="en-US" sz="2000" i="1" dirty="0"/>
              <a:t>semaphore // </a:t>
            </a:r>
            <a:r>
              <a:rPr lang="en-US" sz="2000" i="1" dirty="0" err="1"/>
              <a:t>init</a:t>
            </a:r>
            <a:r>
              <a:rPr lang="en-US" sz="2000" dirty="0"/>
              <a:t> = 1</a:t>
            </a:r>
          </a:p>
          <a:p>
            <a:pPr>
              <a:buNone/>
              <a:tabLst>
                <a:tab pos="436563" algn="l"/>
                <a:tab pos="614363" algn="l"/>
                <a:tab pos="792163" algn="l"/>
              </a:tabLst>
            </a:pPr>
            <a:endParaRPr lang="en-US" sz="2000" dirty="0"/>
          </a:p>
          <a:p>
            <a:pPr>
              <a:buNone/>
              <a:tabLst>
                <a:tab pos="436563" algn="l"/>
                <a:tab pos="614363" algn="l"/>
                <a:tab pos="792163" algn="l"/>
              </a:tabLst>
            </a:pPr>
            <a:r>
              <a:rPr lang="en-US" sz="2000" dirty="0"/>
              <a:t>Thread </a:t>
            </a:r>
            <a:r>
              <a:rPr lang="en-US" sz="2000" dirty="0" err="1"/>
              <a:t>i</a:t>
            </a:r>
            <a:endParaRPr lang="en-US" sz="2000" baseline="-25000" dirty="0"/>
          </a:p>
          <a:p>
            <a:pPr>
              <a:buNone/>
              <a:tabLst>
                <a:tab pos="436563" algn="l"/>
                <a:tab pos="614363" algn="l"/>
                <a:tab pos="792163" algn="l"/>
              </a:tabLst>
            </a:pPr>
            <a:r>
              <a:rPr lang="en-US" sz="2000" b="1" baseline="-25000" dirty="0"/>
              <a:t>	</a:t>
            </a:r>
            <a:r>
              <a:rPr lang="en-US" sz="2000" b="1" dirty="0"/>
              <a:t>repeat</a:t>
            </a:r>
          </a:p>
          <a:p>
            <a:pPr>
              <a:buNone/>
              <a:tabLst>
                <a:tab pos="436563" algn="l"/>
                <a:tab pos="614363" algn="l"/>
                <a:tab pos="792163" algn="l"/>
              </a:tabLst>
            </a:pPr>
            <a:r>
              <a:rPr lang="en-US" sz="2000" b="1" i="1" dirty="0">
                <a:solidFill>
                  <a:srgbClr val="C00000"/>
                </a:solidFill>
              </a:rPr>
              <a:t>		</a:t>
            </a:r>
            <a:r>
              <a:rPr lang="en-US" sz="2000" i="1" dirty="0">
                <a:solidFill>
                  <a:srgbClr val="C00000"/>
                </a:solidFill>
              </a:rPr>
              <a:t>wait</a:t>
            </a:r>
            <a:r>
              <a:rPr lang="en-US" sz="2000" dirty="0">
                <a:solidFill>
                  <a:srgbClr val="C00000"/>
                </a:solidFill>
              </a:rPr>
              <a:t>(</a:t>
            </a:r>
            <a:r>
              <a:rPr lang="en-US" sz="2000" i="1" dirty="0" err="1">
                <a:solidFill>
                  <a:srgbClr val="C00000"/>
                </a:solidFill>
              </a:rPr>
              <a:t>mutex_sem</a:t>
            </a:r>
            <a:r>
              <a:rPr lang="en-US" sz="2000" dirty="0">
                <a:solidFill>
                  <a:srgbClr val="C00000"/>
                </a:solidFill>
              </a:rPr>
              <a:t>);</a:t>
            </a:r>
          </a:p>
          <a:p>
            <a:pPr>
              <a:buNone/>
              <a:tabLst>
                <a:tab pos="436563" algn="l"/>
                <a:tab pos="614363" algn="l"/>
                <a:tab pos="792163" algn="l"/>
              </a:tabLst>
            </a:pPr>
            <a:r>
              <a:rPr lang="en-US" sz="2000" dirty="0">
                <a:solidFill>
                  <a:srgbClr val="C00000"/>
                </a:solidFill>
              </a:rPr>
              <a:t>		</a:t>
            </a:r>
            <a:r>
              <a:rPr lang="en-US" sz="2000" dirty="0"/>
              <a:t>[critical section]</a:t>
            </a:r>
          </a:p>
          <a:p>
            <a:pPr>
              <a:buNone/>
              <a:tabLst>
                <a:tab pos="436563" algn="l"/>
                <a:tab pos="614363" algn="l"/>
                <a:tab pos="792163" algn="l"/>
              </a:tabLst>
            </a:pPr>
            <a:r>
              <a:rPr lang="en-US" sz="2000" i="1" dirty="0">
                <a:solidFill>
                  <a:srgbClr val="C00000"/>
                </a:solidFill>
              </a:rPr>
              <a:t>		signal</a:t>
            </a:r>
            <a:r>
              <a:rPr lang="en-US" sz="2000" dirty="0">
                <a:solidFill>
                  <a:srgbClr val="C00000"/>
                </a:solidFill>
              </a:rPr>
              <a:t>(</a:t>
            </a:r>
            <a:r>
              <a:rPr lang="en-US" sz="2000" i="1" dirty="0" err="1">
                <a:solidFill>
                  <a:srgbClr val="C00000"/>
                </a:solidFill>
              </a:rPr>
              <a:t>mutex_sem</a:t>
            </a:r>
            <a:r>
              <a:rPr lang="en-US" sz="2000" dirty="0">
                <a:solidFill>
                  <a:srgbClr val="C00000"/>
                </a:solidFill>
              </a:rPr>
              <a:t>); </a:t>
            </a:r>
          </a:p>
          <a:p>
            <a:pPr>
              <a:buNone/>
              <a:tabLst>
                <a:tab pos="436563" algn="l"/>
                <a:tab pos="614363" algn="l"/>
                <a:tab pos="792163" algn="l"/>
              </a:tabLst>
            </a:pPr>
            <a:r>
              <a:rPr lang="en-US" sz="2000" dirty="0">
                <a:solidFill>
                  <a:srgbClr val="C00000"/>
                </a:solidFill>
              </a:rPr>
              <a:t>		</a:t>
            </a:r>
            <a:r>
              <a:rPr lang="en-US" sz="2000" dirty="0"/>
              <a:t>[remainder section]</a:t>
            </a:r>
          </a:p>
          <a:p>
            <a:pPr>
              <a:buNone/>
              <a:tabLst>
                <a:tab pos="436563" algn="l"/>
                <a:tab pos="614363" algn="l"/>
                <a:tab pos="792163" algn="l"/>
              </a:tabLst>
            </a:pPr>
            <a:r>
              <a:rPr lang="en-US" sz="2000" b="1" dirty="0"/>
              <a:t>	forever</a:t>
            </a:r>
            <a:endParaRPr lang="en-US" sz="2000" dirty="0"/>
          </a:p>
        </p:txBody>
      </p:sp>
      <p:sp>
        <p:nvSpPr>
          <p:cNvPr id="24578"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A714D-55C0-4834-B470-855C916F7BC9}"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a:extLst>
              <a:ext uri="{FF2B5EF4-FFF2-40B4-BE49-F238E27FC236}">
                <a16:creationId xmlns:a16="http://schemas.microsoft.com/office/drawing/2014/main" id="{7E844D0A-D191-734A-DA31-271D06471E24}"/>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045177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title"/>
          </p:nvPr>
        </p:nvSpPr>
        <p:spPr>
          <a:xfrm>
            <a:off x="1775521" y="116633"/>
            <a:ext cx="8588375" cy="763587"/>
          </a:xfrm>
        </p:spPr>
        <p:txBody>
          <a:bodyPr/>
          <a:lstStyle/>
          <a:p>
            <a:r>
              <a:rPr lang="en-US" sz="2800" dirty="0"/>
              <a:t>Semaphores as General Synchronization Tools </a:t>
            </a:r>
            <a:endParaRPr lang="en-US" dirty="0"/>
          </a:p>
        </p:txBody>
      </p:sp>
      <p:sp>
        <p:nvSpPr>
          <p:cNvPr id="25604" name="Rectangle 4"/>
          <p:cNvSpPr>
            <a:spLocks noGrp="1" noChangeArrowheads="1"/>
          </p:cNvSpPr>
          <p:nvPr>
            <p:ph idx="1"/>
          </p:nvPr>
        </p:nvSpPr>
        <p:spPr>
          <a:xfrm>
            <a:off x="1030013" y="1916832"/>
            <a:ext cx="10142483" cy="3168352"/>
          </a:xfrm>
          <a:noFill/>
          <a:ln>
            <a:noFill/>
          </a:ln>
          <a:effectLst/>
        </p:spPr>
        <p:style>
          <a:lnRef idx="1">
            <a:schemeClr val="dk1"/>
          </a:lnRef>
          <a:fillRef idx="2">
            <a:schemeClr val="dk1"/>
          </a:fillRef>
          <a:effectRef idx="1">
            <a:schemeClr val="dk1"/>
          </a:effectRef>
          <a:fontRef idx="minor">
            <a:schemeClr val="dk1"/>
          </a:fontRef>
        </p:style>
        <p:txBody>
          <a:bodyPr>
            <a:normAutofit fontScale="92500" lnSpcReduction="20000"/>
          </a:bodyPr>
          <a:lstStyle/>
          <a:p>
            <a:pPr marL="0" indent="0">
              <a:buNone/>
              <a:tabLst>
                <a:tab pos="2005013" algn="ctr"/>
                <a:tab pos="4518025" algn="ctr"/>
              </a:tabLst>
            </a:pPr>
            <a:r>
              <a:rPr lang="en-US" sz="2000" dirty="0"/>
              <a:t>Q: how to </a:t>
            </a:r>
            <a:r>
              <a:rPr lang="en-US" sz="2000" dirty="0">
                <a:solidFill>
                  <a:srgbClr val="C00000"/>
                </a:solidFill>
              </a:rPr>
              <a:t>execute code segment </a:t>
            </a:r>
            <a:r>
              <a:rPr lang="en-US" sz="2000" i="1" dirty="0">
                <a:solidFill>
                  <a:srgbClr val="C00000"/>
                </a:solidFill>
              </a:rPr>
              <a:t>B</a:t>
            </a:r>
            <a:r>
              <a:rPr lang="en-US" sz="2000" dirty="0">
                <a:solidFill>
                  <a:srgbClr val="C00000"/>
                </a:solidFill>
              </a:rPr>
              <a:t> in </a:t>
            </a:r>
            <a:r>
              <a:rPr lang="en-US" sz="2000" i="1" dirty="0">
                <a:solidFill>
                  <a:srgbClr val="C00000"/>
                </a:solidFill>
              </a:rPr>
              <a:t>T</a:t>
            </a:r>
            <a:r>
              <a:rPr lang="en-US" sz="2000" baseline="-25000" dirty="0">
                <a:solidFill>
                  <a:srgbClr val="C00000"/>
                </a:solidFill>
              </a:rPr>
              <a:t>B</a:t>
            </a:r>
            <a:r>
              <a:rPr lang="en-US" sz="2000" dirty="0">
                <a:solidFill>
                  <a:srgbClr val="C00000"/>
                </a:solidFill>
              </a:rPr>
              <a:t> only after code segment </a:t>
            </a:r>
            <a:r>
              <a:rPr lang="en-US" sz="2000" i="1" dirty="0">
                <a:solidFill>
                  <a:srgbClr val="C00000"/>
                </a:solidFill>
              </a:rPr>
              <a:t>A</a:t>
            </a:r>
            <a:r>
              <a:rPr lang="en-US" sz="2000" dirty="0">
                <a:solidFill>
                  <a:srgbClr val="C00000"/>
                </a:solidFill>
              </a:rPr>
              <a:t> has been executed in </a:t>
            </a:r>
            <a:r>
              <a:rPr lang="en-US" sz="2000" i="1" dirty="0">
                <a:solidFill>
                  <a:srgbClr val="C00000"/>
                </a:solidFill>
              </a:rPr>
              <a:t>T</a:t>
            </a:r>
            <a:r>
              <a:rPr lang="en-US" sz="2000" i="1" baseline="-25000" dirty="0">
                <a:solidFill>
                  <a:srgbClr val="C00000"/>
                </a:solidFill>
              </a:rPr>
              <a:t>A</a:t>
            </a:r>
            <a:r>
              <a:rPr lang="en-US" sz="2000" dirty="0">
                <a:solidFill>
                  <a:srgbClr val="C00000"/>
                </a:solidFill>
              </a:rPr>
              <a:t>: </a:t>
            </a:r>
          </a:p>
          <a:p>
            <a:pPr marL="0" indent="0">
              <a:buNone/>
              <a:tabLst>
                <a:tab pos="2005013" algn="ctr"/>
                <a:tab pos="4518025" algn="ctr"/>
              </a:tabLst>
            </a:pPr>
            <a:endParaRPr lang="en-US" sz="2000" dirty="0">
              <a:solidFill>
                <a:srgbClr val="C00000"/>
              </a:solidFill>
            </a:endParaRPr>
          </a:p>
          <a:p>
            <a:pPr marL="0" indent="0">
              <a:buNone/>
              <a:tabLst>
                <a:tab pos="2005013" algn="ctr"/>
                <a:tab pos="4518025" algn="ctr"/>
              </a:tabLst>
            </a:pPr>
            <a:r>
              <a:rPr lang="en-US" sz="2000" dirty="0"/>
              <a:t>A: use semaphore </a:t>
            </a:r>
            <a:r>
              <a:rPr lang="en-US" sz="2000" i="1" dirty="0"/>
              <a:t>flag,</a:t>
            </a:r>
            <a:r>
              <a:rPr lang="en-US" sz="2000" dirty="0"/>
              <a:t> initialized to 0</a:t>
            </a:r>
          </a:p>
          <a:p>
            <a:pPr marL="228600" indent="-228600">
              <a:buNone/>
              <a:tabLst>
                <a:tab pos="2005013" algn="ctr"/>
                <a:tab pos="4518025" algn="ctr"/>
              </a:tabLst>
            </a:pPr>
            <a:r>
              <a:rPr lang="en-US" sz="2000" i="1" dirty="0"/>
              <a:t>		T</a:t>
            </a:r>
            <a:r>
              <a:rPr lang="en-US" sz="2000" i="1" baseline="-25000" dirty="0"/>
              <a:t>A</a:t>
            </a:r>
            <a:r>
              <a:rPr lang="en-US" sz="2000" i="1" dirty="0"/>
              <a:t>	T</a:t>
            </a:r>
            <a:r>
              <a:rPr lang="en-US" sz="2000" i="1" baseline="-25000" dirty="0"/>
              <a:t>B</a:t>
            </a:r>
            <a:endParaRPr lang="en-US" sz="2000" i="1" dirty="0"/>
          </a:p>
          <a:p>
            <a:pPr marL="228600" indent="-228600">
              <a:buNone/>
              <a:tabLst>
                <a:tab pos="2005013" algn="ctr"/>
                <a:tab pos="4518025" algn="ctr"/>
              </a:tabLst>
            </a:pPr>
            <a:r>
              <a:rPr lang="en-US" sz="2000" dirty="0"/>
              <a:t>		 </a:t>
            </a:r>
            <a:r>
              <a:rPr lang="en-US" sz="2000" dirty="0">
                <a:sym typeface="MT Extra" pitchFamily="18" charset="2"/>
              </a:rPr>
              <a:t></a:t>
            </a:r>
            <a:r>
              <a:rPr lang="en-US" sz="2000" dirty="0"/>
              <a:t> </a:t>
            </a:r>
            <a:r>
              <a:rPr lang="en-US" sz="2000" dirty="0">
                <a:sym typeface="MT Extra" pitchFamily="18" charset="2"/>
              </a:rPr>
              <a:t>	 </a:t>
            </a:r>
          </a:p>
          <a:p>
            <a:pPr marL="228600" indent="-228600">
              <a:buNone/>
              <a:tabLst>
                <a:tab pos="2005013" algn="ctr"/>
                <a:tab pos="4518025" algn="ctr"/>
              </a:tabLst>
            </a:pPr>
            <a:r>
              <a:rPr lang="en-US" sz="2000" dirty="0">
                <a:sym typeface="MT Extra" pitchFamily="18" charset="2"/>
              </a:rPr>
              <a:t>		</a:t>
            </a:r>
            <a:r>
              <a:rPr lang="en-US" sz="2000" dirty="0" err="1">
                <a:sym typeface="MT Extra" pitchFamily="18" charset="2"/>
              </a:rPr>
              <a:t>op</a:t>
            </a:r>
            <a:r>
              <a:rPr lang="en-US" sz="2000" i="1" dirty="0" err="1">
                <a:sym typeface="MT Extra" pitchFamily="18" charset="2"/>
              </a:rPr>
              <a:t>A</a:t>
            </a:r>
            <a:r>
              <a:rPr lang="en-US" sz="2000" dirty="0">
                <a:sym typeface="MT Extra" pitchFamily="18" charset="2"/>
              </a:rPr>
              <a:t>	</a:t>
            </a:r>
            <a:r>
              <a:rPr lang="en-US" sz="2000" i="1" dirty="0">
                <a:sym typeface="MT Extra" pitchFamily="18" charset="2"/>
              </a:rPr>
              <a:t>wait</a:t>
            </a:r>
            <a:r>
              <a:rPr lang="en-US" sz="2000" dirty="0">
                <a:sym typeface="MT Extra" pitchFamily="18" charset="2"/>
              </a:rPr>
              <a:t>(</a:t>
            </a:r>
            <a:r>
              <a:rPr lang="en-US" sz="2000" i="1" dirty="0">
                <a:sym typeface="MT Extra" pitchFamily="18" charset="2"/>
              </a:rPr>
              <a:t>flag</a:t>
            </a:r>
            <a:r>
              <a:rPr lang="en-US" sz="2000" dirty="0">
                <a:sym typeface="MT Extra" pitchFamily="18" charset="2"/>
              </a:rPr>
              <a:t>)</a:t>
            </a:r>
          </a:p>
          <a:p>
            <a:pPr marL="228600" indent="-228600">
              <a:buNone/>
              <a:tabLst>
                <a:tab pos="2005013" algn="ctr"/>
                <a:tab pos="4518025" algn="ctr"/>
              </a:tabLst>
            </a:pPr>
            <a:r>
              <a:rPr lang="en-US" sz="2000" dirty="0">
                <a:sym typeface="MT Extra" pitchFamily="18" charset="2"/>
              </a:rPr>
              <a:t>		</a:t>
            </a:r>
            <a:r>
              <a:rPr lang="en-US" sz="2000" i="1" dirty="0">
                <a:sym typeface="MT Extra" pitchFamily="18" charset="2"/>
              </a:rPr>
              <a:t>signal</a:t>
            </a:r>
            <a:r>
              <a:rPr lang="en-US" sz="2000" dirty="0">
                <a:sym typeface="MT Extra" pitchFamily="18" charset="2"/>
              </a:rPr>
              <a:t>(</a:t>
            </a:r>
            <a:r>
              <a:rPr lang="en-US" sz="2000" i="1" dirty="0">
                <a:sym typeface="MT Extra" pitchFamily="18" charset="2"/>
              </a:rPr>
              <a:t>flag</a:t>
            </a:r>
            <a:r>
              <a:rPr lang="en-US" sz="2000" dirty="0">
                <a:sym typeface="MT Extra" pitchFamily="18" charset="2"/>
              </a:rPr>
              <a:t>)	</a:t>
            </a:r>
            <a:r>
              <a:rPr lang="en-US" sz="2000" dirty="0" err="1">
                <a:sym typeface="MT Extra" pitchFamily="18" charset="2"/>
              </a:rPr>
              <a:t>op</a:t>
            </a:r>
            <a:r>
              <a:rPr lang="en-US" sz="2000" i="1" dirty="0" err="1">
                <a:sym typeface="MT Extra" pitchFamily="18" charset="2"/>
              </a:rPr>
              <a:t>B</a:t>
            </a:r>
            <a:endParaRPr lang="en-US" sz="2000" i="1" dirty="0">
              <a:sym typeface="MT Extra" pitchFamily="18" charset="2"/>
            </a:endParaRPr>
          </a:p>
          <a:p>
            <a:pPr marL="228600" indent="-228600">
              <a:buNone/>
              <a:tabLst>
                <a:tab pos="2005013" algn="ctr"/>
                <a:tab pos="4518025" algn="ctr"/>
              </a:tabLst>
            </a:pPr>
            <a:endParaRPr lang="en-US" sz="2000" i="1" dirty="0">
              <a:sym typeface="MT Extra" pitchFamily="18" charset="2"/>
            </a:endParaRPr>
          </a:p>
          <a:p>
            <a:pPr marL="228600" indent="-228600">
              <a:buNone/>
              <a:tabLst>
                <a:tab pos="2005013" algn="ctr"/>
                <a:tab pos="4518025" algn="ctr"/>
              </a:tabLst>
            </a:pPr>
            <a:r>
              <a:rPr lang="en-US" sz="2000" i="1" dirty="0">
                <a:sym typeface="MT Extra" pitchFamily="18" charset="2"/>
              </a:rPr>
              <a:t>T</a:t>
            </a:r>
            <a:r>
              <a:rPr lang="en-US" sz="2000" i="1" baseline="-25000" dirty="0">
                <a:sym typeface="MT Extra" pitchFamily="18" charset="2"/>
              </a:rPr>
              <a:t>B</a:t>
            </a:r>
            <a:r>
              <a:rPr lang="en-US" sz="2000" i="1" dirty="0">
                <a:sym typeface="MT Extra" pitchFamily="18" charset="2"/>
              </a:rPr>
              <a:t> will be able to proceed from wait(flag) only after signal(flag) is executed by T</a:t>
            </a:r>
            <a:r>
              <a:rPr lang="en-US" sz="2000" i="1" baseline="-25000" dirty="0">
                <a:sym typeface="MT Extra" pitchFamily="18" charset="2"/>
              </a:rPr>
              <a:t>A</a:t>
            </a:r>
          </a:p>
          <a:p>
            <a:pPr marL="228600" indent="-228600">
              <a:buNone/>
              <a:tabLst>
                <a:tab pos="2005013" algn="ctr"/>
                <a:tab pos="4518025" algn="ctr"/>
              </a:tabLst>
            </a:pPr>
            <a:endParaRPr lang="en-US" sz="2000" i="1" dirty="0">
              <a:sym typeface="MT Extra" pitchFamily="18" charset="2"/>
            </a:endParaRPr>
          </a:p>
        </p:txBody>
      </p:sp>
      <p:sp>
        <p:nvSpPr>
          <p:cNvPr id="25602" name="Slide Number Placeholder 5"/>
          <p:cNvSpPr>
            <a:spLocks noGrp="1"/>
          </p:cNvSpPr>
          <p:nvPr>
            <p:ph type="sldNum" sz="quarter" idx="12"/>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1E2255-2CC9-4488-8877-FBE46C7AE6D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a:extLst>
              <a:ext uri="{FF2B5EF4-FFF2-40B4-BE49-F238E27FC236}">
                <a16:creationId xmlns:a16="http://schemas.microsoft.com/office/drawing/2014/main" id="{DAB68789-C7D3-99D3-CD87-00DB00139FB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4712031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EFEE-458E-925D-5F06-5A04C4F8917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61CE96F-0172-DEE5-57F1-08778EDB055A}"/>
              </a:ext>
            </a:extLst>
          </p:cNvPr>
          <p:cNvSpPr>
            <a:spLocks noGrp="1"/>
          </p:cNvSpPr>
          <p:nvPr>
            <p:ph idx="1"/>
          </p:nvPr>
        </p:nvSpPr>
        <p:spPr/>
        <p:txBody>
          <a:bodyPr/>
          <a:lstStyle/>
          <a:p>
            <a:r>
              <a:rPr lang="en-US" dirty="0">
                <a:solidFill>
                  <a:schemeClr val="bg1">
                    <a:lumMod val="50000"/>
                  </a:schemeClr>
                </a:solidFill>
              </a:rPr>
              <a:t>Motivation</a:t>
            </a:r>
          </a:p>
          <a:p>
            <a:r>
              <a:rPr lang="en-US" dirty="0">
                <a:solidFill>
                  <a:schemeClr val="bg1">
                    <a:lumMod val="50000"/>
                  </a:schemeClr>
                </a:solidFill>
              </a:rPr>
              <a:t>The critical-section problem</a:t>
            </a:r>
          </a:p>
          <a:p>
            <a:pPr lvl="1"/>
            <a:r>
              <a:rPr lang="en-US" dirty="0">
                <a:solidFill>
                  <a:schemeClr val="bg1">
                    <a:lumMod val="50000"/>
                  </a:schemeClr>
                </a:solidFill>
              </a:rPr>
              <a:t>Check-competition approach</a:t>
            </a:r>
          </a:p>
          <a:p>
            <a:r>
              <a:rPr lang="en-US" dirty="0">
                <a:solidFill>
                  <a:schemeClr val="bg1">
                    <a:lumMod val="50000"/>
                  </a:schemeClr>
                </a:solidFill>
              </a:rPr>
              <a:t>The check-order / after-you approach</a:t>
            </a:r>
          </a:p>
          <a:p>
            <a:r>
              <a:rPr lang="en-US" dirty="0">
                <a:solidFill>
                  <a:schemeClr val="bg1">
                    <a:lumMod val="50000"/>
                  </a:schemeClr>
                </a:solidFill>
              </a:rPr>
              <a:t>Peterson’s Algorithm</a:t>
            </a:r>
          </a:p>
          <a:p>
            <a:r>
              <a:rPr lang="en-US" dirty="0">
                <a:solidFill>
                  <a:schemeClr val="bg1">
                    <a:lumMod val="50000"/>
                  </a:schemeClr>
                </a:solidFill>
              </a:rPr>
              <a:t>Synchronization and hardware support</a:t>
            </a:r>
          </a:p>
          <a:p>
            <a:pPr lvl="1"/>
            <a:r>
              <a:rPr lang="en-US" dirty="0">
                <a:solidFill>
                  <a:schemeClr val="bg1">
                    <a:lumMod val="50000"/>
                  </a:schemeClr>
                </a:solidFill>
              </a:rPr>
              <a:t>Read-Modify-Write instructions</a:t>
            </a:r>
          </a:p>
          <a:p>
            <a:r>
              <a:rPr lang="en-US" dirty="0">
                <a:solidFill>
                  <a:schemeClr val="bg1">
                    <a:lumMod val="50000"/>
                  </a:schemeClr>
                </a:solidFill>
              </a:rPr>
              <a:t>Semaphores</a:t>
            </a:r>
          </a:p>
          <a:p>
            <a:r>
              <a:rPr lang="en-US" dirty="0"/>
              <a:t>Other techniques</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5453510-5B16-5214-21EA-2710E27F17B3}"/>
              </a:ext>
            </a:extLst>
          </p:cNvPr>
          <p:cNvSpPr>
            <a:spLocks noGrp="1"/>
          </p:cNvSpPr>
          <p:nvPr>
            <p:ph type="sldNum" sz="quarter" idx="12"/>
          </p:nvPr>
        </p:nvSpPr>
        <p:spPr/>
        <p:txBody>
          <a:bodyPr/>
          <a:lstStyle/>
          <a:p>
            <a:fld id="{67FCC1A6-2294-BF46-A2F7-E6BDB92DF1BF}" type="slidenum">
              <a:rPr lang="en-US" smtClean="0"/>
              <a:t>39</a:t>
            </a:fld>
            <a:endParaRPr lang="en-US"/>
          </a:p>
        </p:txBody>
      </p:sp>
      <p:sp>
        <p:nvSpPr>
          <p:cNvPr id="5" name="Date Placeholder 4">
            <a:extLst>
              <a:ext uri="{FF2B5EF4-FFF2-40B4-BE49-F238E27FC236}">
                <a16:creationId xmlns:a16="http://schemas.microsoft.com/office/drawing/2014/main" id="{FDED5A16-2593-A024-3581-4950965F1A9E}"/>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1891565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C3EE8B9-A37C-4048-938B-EB8197C9E4C2}"/>
              </a:ext>
            </a:extLst>
          </p:cNvPr>
          <p:cNvPicPr>
            <a:picLocks noChangeAspect="1"/>
          </p:cNvPicPr>
          <p:nvPr/>
        </p:nvPicPr>
        <p:blipFill rotWithShape="1">
          <a:blip r:embed="rId3"/>
          <a:srcRect l="-3247" r="2034"/>
          <a:stretch/>
        </p:blipFill>
        <p:spPr>
          <a:xfrm>
            <a:off x="8271955" y="1602223"/>
            <a:ext cx="3873119" cy="2673363"/>
          </a:xfrm>
          <a:prstGeom prst="rect">
            <a:avLst/>
          </a:prstGeom>
        </p:spPr>
      </p:pic>
      <p:sp>
        <p:nvSpPr>
          <p:cNvPr id="3" name="Rectangle 2"/>
          <p:cNvSpPr/>
          <p:nvPr/>
        </p:nvSpPr>
        <p:spPr>
          <a:xfrm>
            <a:off x="198055" y="686583"/>
            <a:ext cx="11624408" cy="64807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white"/>
              </a:solidFill>
              <a:effectLst/>
              <a:uLnTx/>
              <a:uFillTx/>
              <a:latin typeface="Calibri"/>
              <a:ea typeface="+mn-ea"/>
              <a:cs typeface="+mn-cs"/>
            </a:endParaRPr>
          </a:p>
        </p:txBody>
      </p:sp>
      <p:sp>
        <p:nvSpPr>
          <p:cNvPr id="84994" name="Rectangle 4"/>
          <p:cNvSpPr>
            <a:spLocks noGrp="1" noChangeArrowheads="1"/>
          </p:cNvSpPr>
          <p:nvPr>
            <p:ph type="title"/>
          </p:nvPr>
        </p:nvSpPr>
        <p:spPr>
          <a:xfrm>
            <a:off x="396244" y="28706"/>
            <a:ext cx="7875711" cy="648072"/>
          </a:xfrm>
        </p:spPr>
        <p:txBody>
          <a:bodyPr/>
          <a:lstStyle/>
          <a:p>
            <a:pPr eaLnBrk="1" hangingPunct="1"/>
            <a:r>
              <a:rPr lang="en-US" sz="2800" dirty="0"/>
              <a:t>Other synchronization operations/constructs:</a:t>
            </a:r>
          </a:p>
        </p:txBody>
      </p:sp>
      <p:sp>
        <p:nvSpPr>
          <p:cNvPr id="84995" name="Rectangle 5"/>
          <p:cNvSpPr>
            <a:spLocks noGrp="1" noChangeArrowheads="1"/>
          </p:cNvSpPr>
          <p:nvPr>
            <p:ph idx="1"/>
          </p:nvPr>
        </p:nvSpPr>
        <p:spPr>
          <a:xfrm>
            <a:off x="198055" y="728397"/>
            <a:ext cx="11624408" cy="5627953"/>
          </a:xfrm>
          <a:ln>
            <a:noFill/>
          </a:ln>
        </p:spPr>
        <p:txBody>
          <a:bodyPr/>
          <a:lstStyle/>
          <a:p>
            <a:pPr marL="0" indent="0">
              <a:lnSpc>
                <a:spcPct val="90000"/>
              </a:lnSpc>
              <a:spcBef>
                <a:spcPct val="35000"/>
              </a:spcBef>
              <a:buClr>
                <a:srgbClr val="993300"/>
              </a:buClr>
              <a:buSzPct val="90000"/>
              <a:buNone/>
              <a:defRPr/>
            </a:pPr>
            <a:r>
              <a:rPr kumimoji="1" lang="en-US" sz="1800" kern="0" dirty="0">
                <a:solidFill>
                  <a:srgbClr val="000000"/>
                </a:solidFill>
                <a:ea typeface="ＭＳ Ｐゴシック" charset="0"/>
                <a:cs typeface="ＭＳ Ｐゴシック" charset="0"/>
              </a:rPr>
              <a:t>Tools for programmers to solve critical section and synchronization problems (can be implemented using hardware atomic instructions or algorithms such as Peterson’s or other such tools)</a:t>
            </a:r>
          </a:p>
          <a:p>
            <a:pPr marL="0" indent="0">
              <a:lnSpc>
                <a:spcPct val="90000"/>
              </a:lnSpc>
              <a:spcBef>
                <a:spcPct val="35000"/>
              </a:spcBef>
              <a:buClr>
                <a:srgbClr val="993300"/>
              </a:buClr>
              <a:buSzPct val="90000"/>
              <a:buNone/>
              <a:defRPr/>
            </a:pPr>
            <a:r>
              <a:rPr kumimoji="1" lang="en-US" sz="1800" kern="0" dirty="0" err="1">
                <a:solidFill>
                  <a:srgbClr val="C00000"/>
                </a:solidFill>
                <a:ea typeface="ＭＳ Ｐゴシック" charset="0"/>
                <a:cs typeface="ＭＳ Ｐゴシック" charset="0"/>
              </a:rPr>
              <a:t>mutex</a:t>
            </a:r>
            <a:r>
              <a:rPr kumimoji="1" lang="en-US" sz="1800" kern="0" dirty="0">
                <a:solidFill>
                  <a:srgbClr val="C00000"/>
                </a:solidFill>
                <a:ea typeface="ＭＳ Ｐゴシック" charset="0"/>
                <a:cs typeface="ＭＳ Ｐゴシック" charset="0"/>
              </a:rPr>
              <a:t> lock </a:t>
            </a:r>
            <a:r>
              <a:rPr kumimoji="1" lang="en-US" sz="1800" kern="0" dirty="0">
                <a:solidFill>
                  <a:srgbClr val="0070C0"/>
                </a:solidFill>
                <a:ea typeface="ＭＳ Ｐゴシック" charset="0"/>
                <a:cs typeface="ＭＳ Ｐゴシック" charset="0"/>
              </a:rPr>
              <a:t>x;</a:t>
            </a:r>
            <a:r>
              <a:rPr kumimoji="1" lang="en-US" sz="1800" kern="0" dirty="0">
                <a:solidFill>
                  <a:srgbClr val="3A50F0"/>
                </a:solidFill>
                <a:ea typeface="ＭＳ Ｐゴシック" charset="0"/>
                <a:cs typeface="ＭＳ Ｐゴシック" charset="0"/>
              </a:rPr>
              <a:t>  </a:t>
            </a:r>
            <a:r>
              <a:rPr kumimoji="1" lang="en-US" sz="1800" u="sng" kern="0" dirty="0">
                <a:solidFill>
                  <a:srgbClr val="000000"/>
                </a:solidFill>
                <a:ea typeface="ＭＳ Ｐゴシック" charset="0"/>
                <a:cs typeface="ＭＳ Ｐゴシック" charset="0"/>
              </a:rPr>
              <a:t> API </a:t>
            </a:r>
            <a:r>
              <a:rPr kumimoji="1" lang="en-US" sz="1800" kern="0" dirty="0">
                <a:solidFill>
                  <a:srgbClr val="000000"/>
                </a:solidFill>
                <a:ea typeface="ＭＳ Ｐゴシック" charset="0"/>
                <a:cs typeface="ＭＳ Ｐゴシック" charset="0"/>
              </a:rPr>
              <a:t>: </a:t>
            </a:r>
          </a:p>
          <a:p>
            <a:pPr lvl="1">
              <a:lnSpc>
                <a:spcPct val="90000"/>
              </a:lnSpc>
              <a:spcBef>
                <a:spcPct val="35000"/>
              </a:spcBef>
              <a:buClr>
                <a:srgbClr val="993300"/>
              </a:buClr>
              <a:buSzPct val="90000"/>
              <a:defRPr/>
            </a:pPr>
            <a:r>
              <a:rPr kumimoji="1" lang="en-US" sz="1800" kern="0" dirty="0" err="1">
                <a:solidFill>
                  <a:srgbClr val="0070C0"/>
                </a:solidFill>
                <a:ea typeface="ＭＳ Ｐゴシック" charset="0"/>
                <a:cs typeface="Courier New"/>
              </a:rPr>
              <a:t>x.acquire</a:t>
            </a:r>
            <a:r>
              <a:rPr kumimoji="1" lang="en-US" sz="1800" kern="0" dirty="0">
                <a:solidFill>
                  <a:srgbClr val="0070C0"/>
                </a:solidFill>
                <a:ea typeface="ＭＳ Ｐゴシック" charset="0"/>
                <a:cs typeface="Courier New"/>
              </a:rPr>
              <a:t>()</a:t>
            </a:r>
            <a:r>
              <a:rPr kumimoji="1" lang="en-US" sz="1800" kern="0" dirty="0">
                <a:solidFill>
                  <a:srgbClr val="0070C0"/>
                </a:solidFill>
                <a:ea typeface="ＭＳ Ｐゴシック" charset="0"/>
                <a:cs typeface="ＭＳ Ｐゴシック" charset="0"/>
              </a:rPr>
              <a:t>  </a:t>
            </a:r>
            <a:r>
              <a:rPr kumimoji="1" lang="en-US" sz="1800" kern="0" dirty="0">
                <a:ea typeface="ＭＳ Ｐゴシック" charset="0"/>
                <a:cs typeface="ＭＳ Ｐゴシック" charset="0"/>
              </a:rPr>
              <a:t>wait/block if x is not available; else make x not available</a:t>
            </a:r>
          </a:p>
          <a:p>
            <a:pPr lvl="1"/>
            <a:r>
              <a:rPr kumimoji="1" lang="en-US" sz="1800" kern="0" dirty="0" err="1">
                <a:solidFill>
                  <a:srgbClr val="0070C0"/>
                </a:solidFill>
                <a:ea typeface="ＭＳ Ｐゴシック" charset="0"/>
                <a:cs typeface="Courier New"/>
              </a:rPr>
              <a:t>x.release</a:t>
            </a:r>
            <a:r>
              <a:rPr kumimoji="1" lang="en-US" sz="1800" kern="0" dirty="0">
                <a:solidFill>
                  <a:srgbClr val="0070C0"/>
                </a:solidFill>
                <a:ea typeface="ＭＳ Ｐゴシック" charset="0"/>
                <a:cs typeface="Courier New"/>
              </a:rPr>
              <a:t>()</a:t>
            </a:r>
            <a:r>
              <a:rPr kumimoji="1" lang="en-US" sz="1800" kern="0" dirty="0">
                <a:solidFill>
                  <a:srgbClr val="0070C0"/>
                </a:solidFill>
                <a:ea typeface="ＭＳ Ｐゴシック" charset="0"/>
                <a:cs typeface="ＭＳ Ｐゴシック" charset="0"/>
              </a:rPr>
              <a:t>  </a:t>
            </a:r>
            <a:r>
              <a:rPr kumimoji="1" lang="en-US" sz="1800" kern="0" dirty="0">
                <a:ea typeface="ＭＳ Ｐゴシック" charset="0"/>
                <a:cs typeface="ＭＳ Ｐゴシック" charset="0"/>
              </a:rPr>
              <a:t>unblock a waiting/blocked process; else make x available</a:t>
            </a:r>
            <a:r>
              <a:rPr kumimoji="1" lang="en-US" sz="1800" kern="0" dirty="0">
                <a:solidFill>
                  <a:srgbClr val="3A50F0"/>
                </a:solidFill>
                <a:ea typeface="ＭＳ Ｐゴシック" charset="0"/>
                <a:cs typeface="ＭＳ Ｐゴシック" charset="0"/>
              </a:rPr>
              <a:t> </a:t>
            </a:r>
          </a:p>
          <a:p>
            <a:pPr>
              <a:lnSpc>
                <a:spcPct val="90000"/>
              </a:lnSpc>
              <a:spcBef>
                <a:spcPct val="35000"/>
              </a:spcBef>
              <a:buClr>
                <a:srgbClr val="993300"/>
              </a:buClr>
              <a:buSzPct val="90000"/>
              <a:defRPr/>
            </a:pPr>
            <a:r>
              <a:rPr kumimoji="1" lang="en-US" sz="1800" kern="0" dirty="0">
                <a:solidFill>
                  <a:srgbClr val="000000"/>
                </a:solidFill>
                <a:ea typeface="ＭＳ Ｐゴシック" charset="0"/>
                <a:cs typeface="ＭＳ Ｐゴシック" charset="-128"/>
              </a:rPr>
              <a:t>If implemented with </a:t>
            </a:r>
            <a:r>
              <a:rPr kumimoji="1" lang="en-US" sz="1800" kern="0" dirty="0">
                <a:solidFill>
                  <a:srgbClr val="C00000"/>
                </a:solidFill>
                <a:ea typeface="ＭＳ Ｐゴシック" charset="0"/>
                <a:cs typeface="ＭＳ Ｐゴシック" charset="-128"/>
              </a:rPr>
              <a:t>busy-waiting, </a:t>
            </a:r>
            <a:r>
              <a:rPr kumimoji="1" lang="en-US" sz="1800" kern="0" dirty="0">
                <a:ea typeface="ＭＳ Ｐゴシック" charset="0"/>
                <a:cs typeface="ＭＳ Ｐゴシック" charset="-128"/>
              </a:rPr>
              <a:t>it is a</a:t>
            </a:r>
            <a:r>
              <a:rPr kumimoji="1" lang="en-US" sz="1800" kern="0" dirty="0">
                <a:solidFill>
                  <a:srgbClr val="C00000"/>
                </a:solidFill>
                <a:ea typeface="ＭＳ Ｐゴシック" charset="0"/>
                <a:cs typeface="ＭＳ Ｐゴシック" charset="-128"/>
              </a:rPr>
              <a:t> spinlock</a:t>
            </a:r>
          </a:p>
          <a:p>
            <a:pPr marL="0" indent="0">
              <a:buNone/>
            </a:pPr>
            <a:r>
              <a:rPr lang="en-US" sz="1800" dirty="0">
                <a:solidFill>
                  <a:srgbClr val="C00000"/>
                </a:solidFill>
              </a:rPr>
              <a:t>Condition Variables: </a:t>
            </a:r>
            <a:r>
              <a:rPr lang="en-US" sz="1800" dirty="0">
                <a:solidFill>
                  <a:srgbClr val="0070C0"/>
                </a:solidFill>
              </a:rPr>
              <a:t>condition x; </a:t>
            </a:r>
            <a:r>
              <a:rPr lang="en-US" sz="1800" u="sng" dirty="0"/>
              <a:t>API:</a:t>
            </a:r>
          </a:p>
          <a:p>
            <a:r>
              <a:rPr lang="en-US" sz="1800" dirty="0" err="1">
                <a:solidFill>
                  <a:srgbClr val="0070C0"/>
                </a:solidFill>
              </a:rPr>
              <a:t>x.wait</a:t>
            </a:r>
            <a:r>
              <a:rPr lang="en-US" sz="1800" dirty="0">
                <a:solidFill>
                  <a:srgbClr val="0070C0"/>
                </a:solidFill>
              </a:rPr>
              <a:t>()  </a:t>
            </a:r>
            <a:r>
              <a:rPr lang="en-US" sz="1800" dirty="0"/>
              <a:t>– a process that invokes the operation is blocked.</a:t>
            </a:r>
          </a:p>
          <a:p>
            <a:r>
              <a:rPr lang="en-US" sz="1800" dirty="0" err="1">
                <a:solidFill>
                  <a:srgbClr val="0070C0"/>
                </a:solidFill>
              </a:rPr>
              <a:t>x.signal</a:t>
            </a:r>
            <a:r>
              <a:rPr lang="en-US" sz="1800" dirty="0">
                <a:solidFill>
                  <a:srgbClr val="0070C0"/>
                </a:solidFill>
              </a:rPr>
              <a:t>() </a:t>
            </a:r>
            <a:r>
              <a:rPr lang="en-US" sz="1800" dirty="0"/>
              <a:t>–</a:t>
            </a:r>
            <a:r>
              <a:rPr lang="en-US" sz="1800" dirty="0">
                <a:solidFill>
                  <a:srgbClr val="0000FF"/>
                </a:solidFill>
              </a:rPr>
              <a:t> </a:t>
            </a:r>
            <a:r>
              <a:rPr lang="en-US" sz="1800" dirty="0"/>
              <a:t>unblocks one of the processes</a:t>
            </a:r>
            <a:r>
              <a:rPr lang="en-US" sz="1800" dirty="0">
                <a:solidFill>
                  <a:srgbClr val="0000FF"/>
                </a:solidFill>
              </a:rPr>
              <a:t> </a:t>
            </a:r>
            <a:r>
              <a:rPr lang="en-US" sz="1800" dirty="0"/>
              <a:t>that invoked</a:t>
            </a:r>
            <a:r>
              <a:rPr lang="en-US" sz="1800" dirty="0">
                <a:solidFill>
                  <a:srgbClr val="0000FF"/>
                </a:solidFill>
              </a:rPr>
              <a:t> </a:t>
            </a:r>
            <a:r>
              <a:rPr lang="en-US" sz="1800" dirty="0" err="1">
                <a:solidFill>
                  <a:srgbClr val="0070C0"/>
                </a:solidFill>
              </a:rPr>
              <a:t>x.wait</a:t>
            </a:r>
            <a:r>
              <a:rPr lang="en-US" sz="1800" dirty="0">
                <a:solidFill>
                  <a:srgbClr val="0070C0"/>
                </a:solidFill>
              </a:rPr>
              <a:t>() </a:t>
            </a:r>
            <a:r>
              <a:rPr lang="en-US" sz="1800" dirty="0"/>
              <a:t>(if any; else, does nothing)</a:t>
            </a:r>
            <a:endParaRPr lang="en-US" sz="1800" dirty="0">
              <a:solidFill>
                <a:srgbClr val="0000FF"/>
              </a:solidFill>
            </a:endParaRPr>
          </a:p>
          <a:p>
            <a:pPr marL="0" indent="0">
              <a:buNone/>
            </a:pPr>
            <a:r>
              <a:rPr lang="en-US" sz="1800" dirty="0"/>
              <a:t>Other high-level synchronization constructs</a:t>
            </a:r>
          </a:p>
          <a:p>
            <a:pPr lvl="1"/>
            <a:r>
              <a:rPr lang="en-US" sz="1800" dirty="0">
                <a:solidFill>
                  <a:srgbClr val="C00000"/>
                </a:solidFill>
              </a:rPr>
              <a:t>Monitors</a:t>
            </a:r>
            <a:r>
              <a:rPr lang="en-US" sz="1800" dirty="0"/>
              <a:t> (combination of mutex locks and condition variables)</a:t>
            </a:r>
          </a:p>
          <a:p>
            <a:pPr lvl="1"/>
            <a:r>
              <a:rPr lang="en-US" sz="1800" dirty="0">
                <a:solidFill>
                  <a:srgbClr val="C00000"/>
                </a:solidFill>
              </a:rPr>
              <a:t>Barriers</a:t>
            </a:r>
          </a:p>
          <a:p>
            <a:pPr lvl="1"/>
            <a:endParaRPr lang="en-US" sz="1800" dirty="0">
              <a:solidFill>
                <a:srgbClr val="C00000"/>
              </a:solidFill>
            </a:endParaRP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19581E-C58F-4F83-8FA8-2E7A8A7C33A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Date Placeholder 4">
            <a:extLst>
              <a:ext uri="{FF2B5EF4-FFF2-40B4-BE49-F238E27FC236}">
                <a16:creationId xmlns:a16="http://schemas.microsoft.com/office/drawing/2014/main" id="{50E8729E-EC4B-E010-CAB3-BF2D876DD7FE}"/>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6875243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a:bodyPr>
          <a:lstStyle/>
          <a:p>
            <a:pPr eaLnBrk="1" hangingPunct="1"/>
            <a:r>
              <a:rPr lang="en-US" sz="4000" dirty="0"/>
              <a:t>Linux Synchronization provides support for:</a:t>
            </a:r>
          </a:p>
        </p:txBody>
      </p:sp>
      <p:sp>
        <p:nvSpPr>
          <p:cNvPr id="32771" name="Rectangle 3"/>
          <p:cNvSpPr>
            <a:spLocks noGrp="1" noChangeArrowheads="1"/>
          </p:cNvSpPr>
          <p:nvPr>
            <p:ph idx="1"/>
          </p:nvPr>
        </p:nvSpPr>
        <p:spPr>
          <a:xfrm>
            <a:off x="702957" y="1616951"/>
            <a:ext cx="11201842" cy="4392487"/>
          </a:xfrm>
          <a:noFill/>
          <a:ln>
            <a:noFill/>
          </a:ln>
          <a:effectLst/>
        </p:spPr>
        <p:style>
          <a:lnRef idx="1">
            <a:schemeClr val="dk1"/>
          </a:lnRef>
          <a:fillRef idx="2">
            <a:schemeClr val="dk1"/>
          </a:fillRef>
          <a:effectRef idx="1">
            <a:schemeClr val="dk1"/>
          </a:effectRef>
          <a:fontRef idx="minor">
            <a:schemeClr val="dk1"/>
          </a:fontRef>
        </p:style>
        <p:txBody>
          <a:bodyPr/>
          <a:lstStyle/>
          <a:p>
            <a:r>
              <a:rPr lang="en-US" dirty="0"/>
              <a:t>semaphores</a:t>
            </a:r>
          </a:p>
          <a:p>
            <a:r>
              <a:rPr lang="en-US" dirty="0"/>
              <a:t>spinlocks for </a:t>
            </a:r>
            <a:r>
              <a:rPr lang="en-US" dirty="0">
                <a:solidFill>
                  <a:srgbClr val="C00000"/>
                </a:solidFill>
              </a:rPr>
              <a:t>multiprocessors</a:t>
            </a:r>
            <a:r>
              <a:rPr lang="en-US" dirty="0"/>
              <a:t> (for </a:t>
            </a:r>
            <a:r>
              <a:rPr lang="en-US" dirty="0">
                <a:solidFill>
                  <a:srgbClr val="C00000"/>
                </a:solidFill>
              </a:rPr>
              <a:t>short critical sections)</a:t>
            </a:r>
            <a:r>
              <a:rPr lang="en-US" dirty="0"/>
              <a:t>: why?</a:t>
            </a:r>
          </a:p>
          <a:p>
            <a:pPr lvl="1"/>
            <a:r>
              <a:rPr lang="en-US" dirty="0"/>
              <a:t>[hint: wastes CPU time and can cause deadlocks if used with strict priority scheduling on uniprocessor]</a:t>
            </a:r>
          </a:p>
          <a:p>
            <a:r>
              <a:rPr lang="en-US" dirty="0" err="1">
                <a:solidFill>
                  <a:srgbClr val="C00000"/>
                </a:solidFill>
              </a:rPr>
              <a:t>futex</a:t>
            </a:r>
            <a:r>
              <a:rPr lang="en-US" dirty="0">
                <a:solidFill>
                  <a:srgbClr val="C00000"/>
                </a:solidFill>
              </a:rPr>
              <a:t> </a:t>
            </a:r>
          </a:p>
          <a:p>
            <a:pPr lvl="1"/>
            <a:r>
              <a:rPr lang="en-US" i="1" dirty="0" err="1"/>
              <a:t>try_lock</a:t>
            </a:r>
            <a:r>
              <a:rPr lang="en-US" i="1" dirty="0"/>
              <a:t> </a:t>
            </a:r>
            <a:r>
              <a:rPr lang="en-US" dirty="0"/>
              <a:t>through 1 invocation of RMW instruction</a:t>
            </a:r>
            <a:r>
              <a:rPr lang="en-US" i="1" dirty="0"/>
              <a:t>; if already locked, then the calling thread enters blocked queue</a:t>
            </a:r>
            <a:r>
              <a:rPr lang="en-US" sz="2800" i="1" dirty="0"/>
              <a:t>; why?</a:t>
            </a:r>
          </a:p>
          <a:p>
            <a:pPr lvl="2">
              <a:buFont typeface="Wingdings" panose="05000000000000000000" pitchFamily="2" charset="2"/>
              <a:buChar char="§"/>
            </a:pPr>
            <a:r>
              <a:rPr lang="en-US" sz="2400" i="1" dirty="0"/>
              <a:t>[Balance the cost of entering a queue directly with the cost of spinning on the RMW instruction]</a:t>
            </a:r>
          </a:p>
          <a:p>
            <a:pPr lvl="1"/>
            <a:r>
              <a:rPr lang="en-US" dirty="0">
                <a:hlinkClick r:id="rId3"/>
              </a:rPr>
              <a:t>https://man7.org/linux/man-pages/man2/futex.2.html</a:t>
            </a:r>
            <a:r>
              <a:rPr lang="en-US" dirty="0"/>
              <a:t> </a:t>
            </a: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19581E-C58F-4F83-8FA8-2E7A8A7C33A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a:extLst>
              <a:ext uri="{FF2B5EF4-FFF2-40B4-BE49-F238E27FC236}">
                <a16:creationId xmlns:a16="http://schemas.microsoft.com/office/drawing/2014/main" id="{1CF7641F-D3D9-0CC7-938D-A4C3C774749B}"/>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1798974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5879978" y="790750"/>
            <a:ext cx="5397806" cy="2114287"/>
          </a:xfrm>
          <a:prstGeom prst="rect">
            <a:avLst/>
          </a:prstGeom>
        </p:spPr>
      </p:pic>
      <p:sp>
        <p:nvSpPr>
          <p:cNvPr id="33794" name="Rectangle 2"/>
          <p:cNvSpPr>
            <a:spLocks noGrp="1" noChangeArrowheads="1"/>
          </p:cNvSpPr>
          <p:nvPr>
            <p:ph type="title"/>
          </p:nvPr>
        </p:nvSpPr>
        <p:spPr>
          <a:xfrm>
            <a:off x="499862" y="116533"/>
            <a:ext cx="10972800" cy="576262"/>
          </a:xfrm>
        </p:spPr>
        <p:txBody>
          <a:bodyPr>
            <a:normAutofit fontScale="90000"/>
          </a:bodyPr>
          <a:lstStyle/>
          <a:p>
            <a:pPr eaLnBrk="1" hangingPunct="1"/>
            <a:r>
              <a:rPr lang="en-US" dirty="0" err="1"/>
              <a:t>Pthreads</a:t>
            </a:r>
            <a:r>
              <a:rPr lang="en-US" dirty="0"/>
              <a:t> Synchronization</a:t>
            </a:r>
          </a:p>
        </p:txBody>
      </p:sp>
      <p:sp>
        <p:nvSpPr>
          <p:cNvPr id="33795" name="Rectangle 3"/>
          <p:cNvSpPr>
            <a:spLocks noGrp="1" noChangeArrowheads="1"/>
          </p:cNvSpPr>
          <p:nvPr>
            <p:ph type="body" sz="half" idx="1"/>
          </p:nvPr>
        </p:nvSpPr>
        <p:spPr>
          <a:xfrm>
            <a:off x="492370" y="991362"/>
            <a:ext cx="5387608" cy="3598336"/>
          </a:xfrm>
          <a:noFill/>
          <a:effectLst/>
        </p:spPr>
        <p:style>
          <a:lnRef idx="1">
            <a:schemeClr val="dk1"/>
          </a:lnRef>
          <a:fillRef idx="2">
            <a:schemeClr val="dk1"/>
          </a:fillRef>
          <a:effectRef idx="1">
            <a:schemeClr val="dk1"/>
          </a:effectRef>
          <a:fontRef idx="minor">
            <a:schemeClr val="dk1"/>
          </a:fontRef>
        </p:style>
        <p:txBody>
          <a:bodyPr>
            <a:normAutofit/>
          </a:bodyPr>
          <a:lstStyle/>
          <a:p>
            <a:pPr marL="0" indent="0">
              <a:buNone/>
            </a:pPr>
            <a:r>
              <a:rPr lang="en-US" dirty="0">
                <a:solidFill>
                  <a:srgbClr val="C00000"/>
                </a:solidFill>
              </a:rPr>
              <a:t>A specification, not an implementation; </a:t>
            </a:r>
            <a:r>
              <a:rPr lang="en-US" dirty="0"/>
              <a:t>provides:</a:t>
            </a:r>
          </a:p>
          <a:p>
            <a:r>
              <a:rPr lang="en-US" dirty="0"/>
              <a:t>mutex </a:t>
            </a:r>
            <a:r>
              <a:rPr lang="en-US" dirty="0">
                <a:solidFill>
                  <a:srgbClr val="C00000"/>
                </a:solidFill>
              </a:rPr>
              <a:t>locks with blocking queues</a:t>
            </a:r>
            <a:endParaRPr lang="en-US" dirty="0"/>
          </a:p>
          <a:p>
            <a:r>
              <a:rPr lang="en-US" dirty="0"/>
              <a:t>condition variables</a:t>
            </a:r>
          </a:p>
          <a:p>
            <a:r>
              <a:rPr lang="en-US" dirty="0"/>
              <a:t>Non-portable extensions include:</a:t>
            </a:r>
          </a:p>
          <a:p>
            <a:pPr lvl="1"/>
            <a:r>
              <a:rPr lang="en-US" dirty="0">
                <a:solidFill>
                  <a:srgbClr val="C00000"/>
                </a:solidFill>
              </a:rPr>
              <a:t>read-write locks </a:t>
            </a:r>
            <a:r>
              <a:rPr lang="en-US" dirty="0"/>
              <a:t>(we will discuss these in upcoming lectures)</a:t>
            </a:r>
          </a:p>
          <a:p>
            <a:pPr lvl="1"/>
            <a:r>
              <a:rPr lang="en-US" dirty="0">
                <a:solidFill>
                  <a:srgbClr val="C00000"/>
                </a:solidFill>
              </a:rPr>
              <a:t>spin locks</a:t>
            </a:r>
          </a:p>
        </p:txBody>
      </p:sp>
      <p:pic>
        <p:nvPicPr>
          <p:cNvPr id="3" name="Picture 2"/>
          <p:cNvPicPr>
            <a:picLocks noChangeAspect="1"/>
          </p:cNvPicPr>
          <p:nvPr/>
        </p:nvPicPr>
        <p:blipFill>
          <a:blip r:embed="rId4"/>
          <a:stretch>
            <a:fillRect/>
          </a:stretch>
        </p:blipFill>
        <p:spPr>
          <a:xfrm>
            <a:off x="6033221" y="2787723"/>
            <a:ext cx="5315154" cy="1745331"/>
          </a:xfrm>
          <a:prstGeom prst="rect">
            <a:avLst/>
          </a:prstGeom>
        </p:spPr>
      </p:pic>
    </p:spTree>
    <p:extLst>
      <p:ext uri="{BB962C8B-B14F-4D97-AF65-F5344CB8AC3E}">
        <p14:creationId xmlns:p14="http://schemas.microsoft.com/office/powerpoint/2010/main" val="11472353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prstClr val="white"/>
              </a:solidFill>
              <a:latin typeface="Garamond" panose="02020404030301010803"/>
            </a:endParaRPr>
          </a:p>
        </p:txBody>
      </p:sp>
      <p:sp>
        <p:nvSpPr>
          <p:cNvPr id="9"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56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dirty="0">
              <a:solidFill>
                <a:prstClr val="white"/>
              </a:solidFill>
              <a:latin typeface="Garamond" panose="02020404030301010803"/>
            </a:endParaRPr>
          </a:p>
        </p:txBody>
      </p:sp>
      <p:sp>
        <p:nvSpPr>
          <p:cNvPr id="11"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05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prstClr val="white"/>
              </a:solidFill>
              <a:latin typeface="Garamond" panose="02020404030301010803"/>
            </a:endParaRPr>
          </a:p>
        </p:txBody>
      </p:sp>
      <p:sp>
        <p:nvSpPr>
          <p:cNvPr id="2" name="Title 1">
            <a:extLst>
              <a:ext uri="{FF2B5EF4-FFF2-40B4-BE49-F238E27FC236}">
                <a16:creationId xmlns:a16="http://schemas.microsoft.com/office/drawing/2014/main" id="{9DE59AC3-12A8-FDCB-9131-00A43318B574}"/>
              </a:ext>
            </a:extLst>
          </p:cNvPr>
          <p:cNvSpPr>
            <a:spLocks noGrp="1"/>
          </p:cNvSpPr>
          <p:nvPr>
            <p:ph type="title"/>
          </p:nvPr>
        </p:nvSpPr>
        <p:spPr>
          <a:xfrm>
            <a:off x="2487930" y="1008994"/>
            <a:ext cx="6923558" cy="3542045"/>
          </a:xfrm>
        </p:spPr>
        <p:txBody>
          <a:bodyPr vert="horz" lIns="91440" tIns="45720" rIns="91440" bIns="45720" rtlCol="0" anchor="b">
            <a:normAutofit/>
          </a:bodyPr>
          <a:lstStyle/>
          <a:p>
            <a:pPr defTabSz="914400"/>
            <a:r>
              <a:rPr lang="en-US" sz="10000"/>
              <a:t>Questions</a:t>
            </a:r>
          </a:p>
        </p:txBody>
      </p:sp>
      <p:sp>
        <p:nvSpPr>
          <p:cNvPr id="3" name="Date Placeholder 2">
            <a:extLst>
              <a:ext uri="{FF2B5EF4-FFF2-40B4-BE49-F238E27FC236}">
                <a16:creationId xmlns:a16="http://schemas.microsoft.com/office/drawing/2014/main" id="{CBEB3DD1-3C6D-EC88-D98D-B9996992F81A}"/>
              </a:ext>
            </a:extLst>
          </p:cNvPr>
          <p:cNvSpPr>
            <a:spLocks noGrp="1"/>
          </p:cNvSpPr>
          <p:nvPr>
            <p:ph type="dt" sz="half" idx="10"/>
          </p:nvPr>
        </p:nvSpPr>
        <p:spPr/>
        <p:txBody>
          <a:bodyPr/>
          <a:lstStyle/>
          <a:p>
            <a:pPr eaLnBrk="0" fontAlgn="base" hangingPunct="0">
              <a:spcBef>
                <a:spcPct val="0"/>
              </a:spcBef>
              <a:spcAft>
                <a:spcPct val="0"/>
              </a:spcAft>
            </a:pPr>
            <a:r>
              <a:rPr lang="en-US">
                <a:solidFill>
                  <a:prstClr val="black">
                    <a:tint val="75000"/>
                  </a:prstClr>
                </a:solidFill>
                <a:latin typeface="Verdana" panose="020B0604030504040204" pitchFamily="34" charset="0"/>
                <a:ea typeface="MS PGothic" panose="020B0600070205080204" pitchFamily="34" charset="-128"/>
              </a:rPr>
              <a:t>Vincenzo Gulisano</a:t>
            </a:r>
          </a:p>
        </p:txBody>
      </p:sp>
      <p:sp>
        <p:nvSpPr>
          <p:cNvPr id="5" name="Slide Number Placeholder 4">
            <a:extLst>
              <a:ext uri="{FF2B5EF4-FFF2-40B4-BE49-F238E27FC236}">
                <a16:creationId xmlns:a16="http://schemas.microsoft.com/office/drawing/2014/main" id="{6A6197B8-E5A9-12D1-240C-0B03B2DD07E2}"/>
              </a:ext>
            </a:extLst>
          </p:cNvPr>
          <p:cNvSpPr>
            <a:spLocks noGrp="1"/>
          </p:cNvSpPr>
          <p:nvPr>
            <p:ph type="sldNum" sz="quarter" idx="12"/>
          </p:nvPr>
        </p:nvSpPr>
        <p:spPr/>
        <p:txBody>
          <a:bodyPr/>
          <a:lstStyle/>
          <a:p>
            <a:pPr eaLnBrk="0" fontAlgn="base" hangingPunct="0">
              <a:spcBef>
                <a:spcPct val="0"/>
              </a:spcBef>
              <a:spcAft>
                <a:spcPct val="0"/>
              </a:spcAft>
            </a:pPr>
            <a:fld id="{95AAEEEC-DCEC-4178-AB14-E7254A15A296}" type="slidenum">
              <a:rPr lang="en-US">
                <a:solidFill>
                  <a:prstClr val="black">
                    <a:tint val="75000"/>
                  </a:prstClr>
                </a:solidFill>
                <a:latin typeface="Verdana" panose="020B0604030504040204" pitchFamily="34" charset="0"/>
                <a:ea typeface="MS PGothic" panose="020B0600070205080204" pitchFamily="34" charset="-128"/>
              </a:rPr>
              <a:pPr eaLnBrk="0" fontAlgn="base" hangingPunct="0">
                <a:spcBef>
                  <a:spcPct val="0"/>
                </a:spcBef>
                <a:spcAft>
                  <a:spcPct val="0"/>
                </a:spcAft>
              </a:pPr>
              <a:t>43</a:t>
            </a:fld>
            <a:endParaRPr lang="en-US">
              <a:solidFill>
                <a:prstClr val="black">
                  <a:tint val="75000"/>
                </a:prstClr>
              </a:solidFill>
              <a:latin typeface="Verdan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40459964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2D54B-AB4D-2C1E-408B-79024E6D4BCF}"/>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92BBEEEA-0D66-BC0A-7051-F11FD6ECDBDB}"/>
              </a:ext>
            </a:extLst>
          </p:cNvPr>
          <p:cNvSpPr>
            <a:spLocks noGrp="1"/>
          </p:cNvSpPr>
          <p:nvPr>
            <p:ph idx="1"/>
          </p:nvPr>
        </p:nvSpPr>
        <p:spPr/>
        <p:txBody>
          <a:bodyPr/>
          <a:lstStyle/>
          <a:p>
            <a:r>
              <a:rPr lang="en-US" dirty="0"/>
              <a:t>Consider the following semaphore setup:</a:t>
            </a:r>
          </a:p>
          <a:p>
            <a:pPr lvl="1"/>
            <a:r>
              <a:rPr lang="en-US" dirty="0" err="1"/>
              <a:t>semA</a:t>
            </a:r>
            <a:r>
              <a:rPr lang="en-US" dirty="0"/>
              <a:t> = 1;</a:t>
            </a:r>
          </a:p>
          <a:p>
            <a:pPr lvl="1"/>
            <a:r>
              <a:rPr lang="en-US" dirty="0" err="1"/>
              <a:t>semB</a:t>
            </a:r>
            <a:r>
              <a:rPr lang="en-US" dirty="0"/>
              <a:t> = 0;</a:t>
            </a:r>
          </a:p>
          <a:p>
            <a:pPr lvl="1"/>
            <a:r>
              <a:rPr lang="en-US" dirty="0" err="1"/>
              <a:t>semC</a:t>
            </a:r>
            <a:r>
              <a:rPr lang="en-US" dirty="0"/>
              <a:t> = 0;</a:t>
            </a:r>
          </a:p>
          <a:p>
            <a:pPr lvl="1"/>
            <a:endParaRPr lang="en-US" dirty="0"/>
          </a:p>
          <a:p>
            <a:pPr lvl="1"/>
            <a:endParaRPr lang="en-US" dirty="0"/>
          </a:p>
          <a:p>
            <a:pPr lvl="1"/>
            <a:endParaRPr lang="en-US" dirty="0"/>
          </a:p>
          <a:p>
            <a:pPr lvl="1"/>
            <a:endParaRPr lang="en-US" dirty="0"/>
          </a:p>
          <a:p>
            <a:r>
              <a:rPr lang="en-US" dirty="0"/>
              <a:t>Is </a:t>
            </a:r>
            <a:r>
              <a:rPr lang="en-US" dirty="0" err="1"/>
              <a:t>opY</a:t>
            </a:r>
            <a:r>
              <a:rPr lang="en-US" dirty="0"/>
              <a:t> → </a:t>
            </a:r>
            <a:r>
              <a:rPr lang="en-US" dirty="0" err="1"/>
              <a:t>opX</a:t>
            </a:r>
            <a:r>
              <a:rPr lang="en-US" dirty="0"/>
              <a:t> → </a:t>
            </a:r>
            <a:r>
              <a:rPr lang="en-US" dirty="0" err="1"/>
              <a:t>opZ</a:t>
            </a:r>
            <a:r>
              <a:rPr lang="en-US" dirty="0"/>
              <a:t> valid?</a:t>
            </a:r>
          </a:p>
          <a:p>
            <a:pPr lvl="1"/>
            <a:endParaRPr lang="en-US" dirty="0"/>
          </a:p>
        </p:txBody>
      </p:sp>
      <p:sp>
        <p:nvSpPr>
          <p:cNvPr id="4" name="Slide Number Placeholder 3">
            <a:extLst>
              <a:ext uri="{FF2B5EF4-FFF2-40B4-BE49-F238E27FC236}">
                <a16:creationId xmlns:a16="http://schemas.microsoft.com/office/drawing/2014/main" id="{79814C5F-C448-80CD-ACA2-DC4CD3D121F3}"/>
              </a:ext>
            </a:extLst>
          </p:cNvPr>
          <p:cNvSpPr>
            <a:spLocks noGrp="1"/>
          </p:cNvSpPr>
          <p:nvPr>
            <p:ph type="sldNum" sz="quarter" idx="12"/>
          </p:nvPr>
        </p:nvSpPr>
        <p:spPr/>
        <p:txBody>
          <a:bodyPr/>
          <a:lstStyle/>
          <a:p>
            <a:fld id="{67FCC1A6-2294-BF46-A2F7-E6BDB92DF1BF}" type="slidenum">
              <a:rPr lang="en-US" smtClean="0"/>
              <a:t>44</a:t>
            </a:fld>
            <a:endParaRPr lang="en-US"/>
          </a:p>
        </p:txBody>
      </p:sp>
      <p:sp>
        <p:nvSpPr>
          <p:cNvPr id="6" name="TextBox 5">
            <a:extLst>
              <a:ext uri="{FF2B5EF4-FFF2-40B4-BE49-F238E27FC236}">
                <a16:creationId xmlns:a16="http://schemas.microsoft.com/office/drawing/2014/main" id="{C9CDFBBC-A9FC-9E9E-BB32-5C02D267E20D}"/>
              </a:ext>
            </a:extLst>
          </p:cNvPr>
          <p:cNvSpPr txBox="1"/>
          <p:nvPr/>
        </p:nvSpPr>
        <p:spPr>
          <a:xfrm>
            <a:off x="4366647" y="3064199"/>
            <a:ext cx="1584702" cy="1477328"/>
          </a:xfrm>
          <a:prstGeom prst="rect">
            <a:avLst/>
          </a:prstGeom>
          <a:noFill/>
        </p:spPr>
        <p:txBody>
          <a:bodyPr wrap="square">
            <a:spAutoFit/>
          </a:bodyPr>
          <a:lstStyle/>
          <a:p>
            <a:r>
              <a:rPr lang="en-US" dirty="0"/>
              <a:t>THREAD X</a:t>
            </a:r>
            <a:br>
              <a:rPr lang="en-US" dirty="0"/>
            </a:br>
            <a:endParaRPr lang="en-US" dirty="0"/>
          </a:p>
          <a:p>
            <a:r>
              <a:rPr lang="en-US" dirty="0"/>
              <a:t>wait(</a:t>
            </a:r>
            <a:r>
              <a:rPr lang="en-US" dirty="0" err="1"/>
              <a:t>semA</a:t>
            </a:r>
            <a:r>
              <a:rPr lang="en-US" dirty="0"/>
              <a:t>);</a:t>
            </a:r>
          </a:p>
          <a:p>
            <a:r>
              <a:rPr lang="en-US" dirty="0" err="1"/>
              <a:t>opX</a:t>
            </a:r>
            <a:r>
              <a:rPr lang="en-US" dirty="0"/>
              <a:t>;</a:t>
            </a:r>
          </a:p>
          <a:p>
            <a:r>
              <a:rPr lang="en-US" dirty="0"/>
              <a:t>signal(</a:t>
            </a:r>
            <a:r>
              <a:rPr lang="en-US" dirty="0" err="1"/>
              <a:t>semB</a:t>
            </a:r>
            <a:r>
              <a:rPr lang="en-US" dirty="0"/>
              <a:t>);</a:t>
            </a:r>
          </a:p>
        </p:txBody>
      </p:sp>
      <p:sp>
        <p:nvSpPr>
          <p:cNvPr id="8" name="TextBox 7">
            <a:extLst>
              <a:ext uri="{FF2B5EF4-FFF2-40B4-BE49-F238E27FC236}">
                <a16:creationId xmlns:a16="http://schemas.microsoft.com/office/drawing/2014/main" id="{11FCA536-4919-2995-C128-91B5627DE596}"/>
              </a:ext>
            </a:extLst>
          </p:cNvPr>
          <p:cNvSpPr txBox="1"/>
          <p:nvPr/>
        </p:nvSpPr>
        <p:spPr>
          <a:xfrm>
            <a:off x="6096000" y="3064199"/>
            <a:ext cx="3046708" cy="1477328"/>
          </a:xfrm>
          <a:prstGeom prst="rect">
            <a:avLst/>
          </a:prstGeom>
          <a:noFill/>
        </p:spPr>
        <p:txBody>
          <a:bodyPr wrap="square">
            <a:spAutoFit/>
          </a:bodyPr>
          <a:lstStyle/>
          <a:p>
            <a:r>
              <a:rPr lang="en-US" dirty="0"/>
              <a:t>THREAD Y</a:t>
            </a:r>
          </a:p>
          <a:p>
            <a:endParaRPr lang="en-US" dirty="0"/>
          </a:p>
          <a:p>
            <a:r>
              <a:rPr lang="en-US" dirty="0"/>
              <a:t>wait(</a:t>
            </a:r>
            <a:r>
              <a:rPr lang="en-US" dirty="0" err="1"/>
              <a:t>semB</a:t>
            </a:r>
            <a:r>
              <a:rPr lang="en-US" dirty="0"/>
              <a:t>);</a:t>
            </a:r>
          </a:p>
          <a:p>
            <a:r>
              <a:rPr lang="en-US" dirty="0" err="1"/>
              <a:t>opY</a:t>
            </a:r>
            <a:r>
              <a:rPr lang="en-US" dirty="0"/>
              <a:t>;</a:t>
            </a:r>
          </a:p>
          <a:p>
            <a:r>
              <a:rPr lang="en-US" dirty="0"/>
              <a:t>signal(</a:t>
            </a:r>
            <a:r>
              <a:rPr lang="en-US" dirty="0" err="1"/>
              <a:t>semC</a:t>
            </a:r>
            <a:r>
              <a:rPr lang="en-US" dirty="0"/>
              <a:t>);</a:t>
            </a:r>
          </a:p>
        </p:txBody>
      </p:sp>
      <p:sp>
        <p:nvSpPr>
          <p:cNvPr id="10" name="TextBox 9">
            <a:extLst>
              <a:ext uri="{FF2B5EF4-FFF2-40B4-BE49-F238E27FC236}">
                <a16:creationId xmlns:a16="http://schemas.microsoft.com/office/drawing/2014/main" id="{27AA2EB2-ADC6-DFDE-A86D-DA018E32B47A}"/>
              </a:ext>
            </a:extLst>
          </p:cNvPr>
          <p:cNvSpPr txBox="1"/>
          <p:nvPr/>
        </p:nvSpPr>
        <p:spPr>
          <a:xfrm>
            <a:off x="8045557" y="3064199"/>
            <a:ext cx="2483603" cy="1477328"/>
          </a:xfrm>
          <a:prstGeom prst="rect">
            <a:avLst/>
          </a:prstGeom>
          <a:noFill/>
        </p:spPr>
        <p:txBody>
          <a:bodyPr wrap="square">
            <a:spAutoFit/>
          </a:bodyPr>
          <a:lstStyle/>
          <a:p>
            <a:r>
              <a:rPr lang="en-US" dirty="0"/>
              <a:t>THREAD Z</a:t>
            </a:r>
          </a:p>
          <a:p>
            <a:endParaRPr lang="en-US" dirty="0"/>
          </a:p>
          <a:p>
            <a:r>
              <a:rPr lang="en-US" dirty="0"/>
              <a:t>wait(</a:t>
            </a:r>
            <a:r>
              <a:rPr lang="en-US" dirty="0" err="1"/>
              <a:t>semC</a:t>
            </a:r>
            <a:r>
              <a:rPr lang="en-US" dirty="0"/>
              <a:t>);</a:t>
            </a:r>
          </a:p>
          <a:p>
            <a:r>
              <a:rPr lang="en-US" dirty="0" err="1"/>
              <a:t>opZ</a:t>
            </a:r>
            <a:r>
              <a:rPr lang="en-US" dirty="0"/>
              <a:t>;</a:t>
            </a:r>
          </a:p>
          <a:p>
            <a:r>
              <a:rPr lang="en-US" dirty="0"/>
              <a:t>signal(</a:t>
            </a:r>
            <a:r>
              <a:rPr lang="en-US" dirty="0" err="1"/>
              <a:t>semA</a:t>
            </a:r>
            <a:r>
              <a:rPr lang="en-US" dirty="0"/>
              <a:t>);</a:t>
            </a:r>
          </a:p>
        </p:txBody>
      </p:sp>
      <p:sp>
        <p:nvSpPr>
          <p:cNvPr id="5" name="Date Placeholder 4">
            <a:extLst>
              <a:ext uri="{FF2B5EF4-FFF2-40B4-BE49-F238E27FC236}">
                <a16:creationId xmlns:a16="http://schemas.microsoft.com/office/drawing/2014/main" id="{60686EA4-3EF2-9CCB-9B69-DE20621C290E}"/>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6721511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67116-A431-8163-2A2B-517716BE1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425AE-7E58-4942-D74F-0DF8C372A01F}"/>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91C2C583-82BF-4E57-1DC6-4D97AE6080E7}"/>
              </a:ext>
            </a:extLst>
          </p:cNvPr>
          <p:cNvSpPr>
            <a:spLocks noGrp="1"/>
          </p:cNvSpPr>
          <p:nvPr>
            <p:ph idx="1"/>
          </p:nvPr>
        </p:nvSpPr>
        <p:spPr/>
        <p:txBody>
          <a:bodyPr/>
          <a:lstStyle/>
          <a:p>
            <a:r>
              <a:rPr lang="en-US" dirty="0"/>
              <a:t>Consider the following semaphore setup:</a:t>
            </a:r>
          </a:p>
          <a:p>
            <a:pPr lvl="1"/>
            <a:r>
              <a:rPr lang="en-US" dirty="0" err="1"/>
              <a:t>semA</a:t>
            </a:r>
            <a:r>
              <a:rPr lang="en-US" dirty="0"/>
              <a:t> = 1;</a:t>
            </a:r>
          </a:p>
          <a:p>
            <a:pPr lvl="1"/>
            <a:r>
              <a:rPr lang="en-US" dirty="0" err="1"/>
              <a:t>semB</a:t>
            </a:r>
            <a:r>
              <a:rPr lang="en-US" dirty="0"/>
              <a:t> = 1;</a:t>
            </a:r>
          </a:p>
          <a:p>
            <a:pPr lvl="1"/>
            <a:r>
              <a:rPr lang="en-US" dirty="0" err="1"/>
              <a:t>semC</a:t>
            </a:r>
            <a:r>
              <a:rPr lang="en-US" dirty="0"/>
              <a:t> = 0;</a:t>
            </a:r>
          </a:p>
          <a:p>
            <a:pPr lvl="1"/>
            <a:endParaRPr lang="en-US" dirty="0"/>
          </a:p>
          <a:p>
            <a:pPr lvl="1"/>
            <a:endParaRPr lang="en-US" dirty="0"/>
          </a:p>
          <a:p>
            <a:pPr lvl="1"/>
            <a:endParaRPr lang="en-US" dirty="0"/>
          </a:p>
          <a:p>
            <a:pPr lvl="1"/>
            <a:endParaRPr lang="en-US" dirty="0"/>
          </a:p>
          <a:p>
            <a:r>
              <a:rPr lang="en-US" dirty="0"/>
              <a:t>Are </a:t>
            </a:r>
            <a:r>
              <a:rPr lang="en-US" dirty="0" err="1"/>
              <a:t>opY</a:t>
            </a:r>
            <a:r>
              <a:rPr lang="en-US" dirty="0"/>
              <a:t> &amp; </a:t>
            </a:r>
            <a:r>
              <a:rPr lang="en-US" dirty="0" err="1"/>
              <a:t>opX</a:t>
            </a:r>
            <a:r>
              <a:rPr lang="en-US" dirty="0"/>
              <a:t> → </a:t>
            </a:r>
            <a:r>
              <a:rPr lang="en-US" dirty="0" err="1"/>
              <a:t>opZ</a:t>
            </a:r>
            <a:r>
              <a:rPr lang="en-US" dirty="0"/>
              <a:t> and </a:t>
            </a:r>
            <a:r>
              <a:rPr lang="en-US" dirty="0" err="1"/>
              <a:t>opX</a:t>
            </a:r>
            <a:r>
              <a:rPr lang="en-US" dirty="0"/>
              <a:t> &amp; </a:t>
            </a:r>
            <a:r>
              <a:rPr lang="en-US" dirty="0" err="1"/>
              <a:t>opY</a:t>
            </a:r>
            <a:r>
              <a:rPr lang="en-US" dirty="0"/>
              <a:t> → </a:t>
            </a:r>
            <a:r>
              <a:rPr lang="en-US" dirty="0" err="1"/>
              <a:t>opZ</a:t>
            </a:r>
            <a:r>
              <a:rPr lang="en-US" dirty="0"/>
              <a:t> valid?</a:t>
            </a:r>
          </a:p>
          <a:p>
            <a:pPr lvl="1"/>
            <a:endParaRPr lang="en-US" dirty="0"/>
          </a:p>
        </p:txBody>
      </p:sp>
      <p:sp>
        <p:nvSpPr>
          <p:cNvPr id="4" name="Slide Number Placeholder 3">
            <a:extLst>
              <a:ext uri="{FF2B5EF4-FFF2-40B4-BE49-F238E27FC236}">
                <a16:creationId xmlns:a16="http://schemas.microsoft.com/office/drawing/2014/main" id="{680A75F0-055A-8911-D78A-9311FF8F81D5}"/>
              </a:ext>
            </a:extLst>
          </p:cNvPr>
          <p:cNvSpPr>
            <a:spLocks noGrp="1"/>
          </p:cNvSpPr>
          <p:nvPr>
            <p:ph type="sldNum" sz="quarter" idx="12"/>
          </p:nvPr>
        </p:nvSpPr>
        <p:spPr/>
        <p:txBody>
          <a:bodyPr/>
          <a:lstStyle/>
          <a:p>
            <a:fld id="{67FCC1A6-2294-BF46-A2F7-E6BDB92DF1BF}" type="slidenum">
              <a:rPr lang="en-US" smtClean="0"/>
              <a:t>45</a:t>
            </a:fld>
            <a:endParaRPr lang="en-US"/>
          </a:p>
        </p:txBody>
      </p:sp>
      <p:sp>
        <p:nvSpPr>
          <p:cNvPr id="6" name="TextBox 5">
            <a:extLst>
              <a:ext uri="{FF2B5EF4-FFF2-40B4-BE49-F238E27FC236}">
                <a16:creationId xmlns:a16="http://schemas.microsoft.com/office/drawing/2014/main" id="{244F15DE-8919-AD6D-4646-F9F6E64105F3}"/>
              </a:ext>
            </a:extLst>
          </p:cNvPr>
          <p:cNvSpPr txBox="1"/>
          <p:nvPr/>
        </p:nvSpPr>
        <p:spPr>
          <a:xfrm>
            <a:off x="4366647" y="3064199"/>
            <a:ext cx="1584702" cy="1477328"/>
          </a:xfrm>
          <a:prstGeom prst="rect">
            <a:avLst/>
          </a:prstGeom>
          <a:noFill/>
        </p:spPr>
        <p:txBody>
          <a:bodyPr wrap="square">
            <a:spAutoFit/>
          </a:bodyPr>
          <a:lstStyle/>
          <a:p>
            <a:r>
              <a:rPr lang="en-US" dirty="0"/>
              <a:t>THREAD X</a:t>
            </a:r>
            <a:br>
              <a:rPr lang="en-US" dirty="0"/>
            </a:br>
            <a:endParaRPr lang="en-US" dirty="0"/>
          </a:p>
          <a:p>
            <a:r>
              <a:rPr lang="en-US" dirty="0"/>
              <a:t>wait(</a:t>
            </a:r>
            <a:r>
              <a:rPr lang="en-US" dirty="0" err="1"/>
              <a:t>semA</a:t>
            </a:r>
            <a:r>
              <a:rPr lang="en-US" dirty="0"/>
              <a:t>);</a:t>
            </a:r>
          </a:p>
          <a:p>
            <a:r>
              <a:rPr lang="en-US" dirty="0" err="1"/>
              <a:t>opX</a:t>
            </a:r>
            <a:r>
              <a:rPr lang="en-US" dirty="0"/>
              <a:t>;</a:t>
            </a:r>
          </a:p>
          <a:p>
            <a:r>
              <a:rPr lang="en-US" dirty="0"/>
              <a:t>signal(</a:t>
            </a:r>
            <a:r>
              <a:rPr lang="en-US" dirty="0" err="1"/>
              <a:t>semB</a:t>
            </a:r>
            <a:r>
              <a:rPr lang="en-US" dirty="0"/>
              <a:t>);</a:t>
            </a:r>
          </a:p>
        </p:txBody>
      </p:sp>
      <p:sp>
        <p:nvSpPr>
          <p:cNvPr id="8" name="TextBox 7">
            <a:extLst>
              <a:ext uri="{FF2B5EF4-FFF2-40B4-BE49-F238E27FC236}">
                <a16:creationId xmlns:a16="http://schemas.microsoft.com/office/drawing/2014/main" id="{A9AE8E93-6808-816D-9D6C-E43051D41D07}"/>
              </a:ext>
            </a:extLst>
          </p:cNvPr>
          <p:cNvSpPr txBox="1"/>
          <p:nvPr/>
        </p:nvSpPr>
        <p:spPr>
          <a:xfrm>
            <a:off x="6096000" y="3064199"/>
            <a:ext cx="3046708" cy="1477328"/>
          </a:xfrm>
          <a:prstGeom prst="rect">
            <a:avLst/>
          </a:prstGeom>
          <a:noFill/>
        </p:spPr>
        <p:txBody>
          <a:bodyPr wrap="square">
            <a:spAutoFit/>
          </a:bodyPr>
          <a:lstStyle/>
          <a:p>
            <a:r>
              <a:rPr lang="en-US" dirty="0"/>
              <a:t>THREAD Y</a:t>
            </a:r>
          </a:p>
          <a:p>
            <a:endParaRPr lang="en-US" dirty="0"/>
          </a:p>
          <a:p>
            <a:r>
              <a:rPr lang="en-US" dirty="0"/>
              <a:t>wait(</a:t>
            </a:r>
            <a:r>
              <a:rPr lang="en-US" dirty="0" err="1"/>
              <a:t>semB</a:t>
            </a:r>
            <a:r>
              <a:rPr lang="en-US" dirty="0"/>
              <a:t>);</a:t>
            </a:r>
          </a:p>
          <a:p>
            <a:r>
              <a:rPr lang="en-US" dirty="0" err="1"/>
              <a:t>opY</a:t>
            </a:r>
            <a:r>
              <a:rPr lang="en-US" dirty="0"/>
              <a:t>;</a:t>
            </a:r>
          </a:p>
          <a:p>
            <a:r>
              <a:rPr lang="en-US" dirty="0"/>
              <a:t>signal(</a:t>
            </a:r>
            <a:r>
              <a:rPr lang="en-US" dirty="0" err="1"/>
              <a:t>semC</a:t>
            </a:r>
            <a:r>
              <a:rPr lang="en-US" dirty="0"/>
              <a:t>);</a:t>
            </a:r>
          </a:p>
        </p:txBody>
      </p:sp>
      <p:sp>
        <p:nvSpPr>
          <p:cNvPr id="10" name="TextBox 9">
            <a:extLst>
              <a:ext uri="{FF2B5EF4-FFF2-40B4-BE49-F238E27FC236}">
                <a16:creationId xmlns:a16="http://schemas.microsoft.com/office/drawing/2014/main" id="{6823CFB3-5FCF-1E3A-AC51-903B9A4A6384}"/>
              </a:ext>
            </a:extLst>
          </p:cNvPr>
          <p:cNvSpPr txBox="1"/>
          <p:nvPr/>
        </p:nvSpPr>
        <p:spPr>
          <a:xfrm>
            <a:off x="8045557" y="3064199"/>
            <a:ext cx="2483603" cy="1477328"/>
          </a:xfrm>
          <a:prstGeom prst="rect">
            <a:avLst/>
          </a:prstGeom>
          <a:noFill/>
        </p:spPr>
        <p:txBody>
          <a:bodyPr wrap="square">
            <a:spAutoFit/>
          </a:bodyPr>
          <a:lstStyle/>
          <a:p>
            <a:r>
              <a:rPr lang="en-US" dirty="0"/>
              <a:t>THREAD Z</a:t>
            </a:r>
          </a:p>
          <a:p>
            <a:endParaRPr lang="en-US" dirty="0"/>
          </a:p>
          <a:p>
            <a:r>
              <a:rPr lang="en-US" dirty="0"/>
              <a:t>wait(</a:t>
            </a:r>
            <a:r>
              <a:rPr lang="en-US" dirty="0" err="1"/>
              <a:t>semC</a:t>
            </a:r>
            <a:r>
              <a:rPr lang="en-US" dirty="0"/>
              <a:t>);</a:t>
            </a:r>
          </a:p>
          <a:p>
            <a:r>
              <a:rPr lang="en-US" dirty="0" err="1"/>
              <a:t>opZ</a:t>
            </a:r>
            <a:r>
              <a:rPr lang="en-US" dirty="0"/>
              <a:t>;</a:t>
            </a:r>
          </a:p>
          <a:p>
            <a:r>
              <a:rPr lang="en-US" dirty="0"/>
              <a:t>signal(</a:t>
            </a:r>
            <a:r>
              <a:rPr lang="en-US" dirty="0" err="1"/>
              <a:t>semA</a:t>
            </a:r>
            <a:r>
              <a:rPr lang="en-US" dirty="0"/>
              <a:t>);</a:t>
            </a:r>
          </a:p>
        </p:txBody>
      </p:sp>
      <p:sp>
        <p:nvSpPr>
          <p:cNvPr id="5" name="Date Placeholder 4">
            <a:extLst>
              <a:ext uri="{FF2B5EF4-FFF2-40B4-BE49-F238E27FC236}">
                <a16:creationId xmlns:a16="http://schemas.microsoft.com/office/drawing/2014/main" id="{220F3303-F6E2-D538-3110-41892067A978}"/>
              </a:ext>
            </a:extLst>
          </p:cNvPr>
          <p:cNvSpPr>
            <a:spLocks noGrp="1"/>
          </p:cNvSpPr>
          <p:nvPr>
            <p:ph type="dt" sz="half" idx="10"/>
          </p:nvPr>
        </p:nvSpPr>
        <p:spPr/>
        <p:txBody>
          <a:bodyPr/>
          <a:lstStyle/>
          <a:p>
            <a:r>
              <a:rPr lang="en-US"/>
              <a:t>Vincenzo Gulisano</a:t>
            </a:r>
          </a:p>
        </p:txBody>
      </p:sp>
    </p:spTree>
    <p:extLst>
      <p:ext uri="{BB962C8B-B14F-4D97-AF65-F5344CB8AC3E}">
        <p14:creationId xmlns:p14="http://schemas.microsoft.com/office/powerpoint/2010/main" val="2778479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1873B2-11C8-784E-5D69-ED0966228813}"/>
              </a:ext>
            </a:extLst>
          </p:cNvPr>
          <p:cNvSpPr>
            <a:spLocks noGrp="1"/>
          </p:cNvSpPr>
          <p:nvPr>
            <p:ph idx="1"/>
          </p:nvPr>
        </p:nvSpPr>
        <p:spPr/>
        <p:txBody>
          <a:bodyPr/>
          <a:lstStyle/>
          <a:p>
            <a:pPr marL="0" indent="0">
              <a:buNone/>
            </a:pPr>
            <a:r>
              <a:rPr lang="en-US" dirty="0"/>
              <a:t>If two threads share memory, one thread with high priority wants to enter the critical section, it busy-waits for the same lock, but another thread with lower priority is in the CS, and the scheduling is preemptive priority based, that could lead to:</a:t>
            </a:r>
          </a:p>
          <a:p>
            <a:pPr marL="457200" indent="-457200">
              <a:buFont typeface="+mj-lt"/>
              <a:buAutoNum type="arabicPeriod"/>
            </a:pPr>
            <a:r>
              <a:rPr lang="en-US" dirty="0"/>
              <a:t>Unfair sharing of CPU time</a:t>
            </a:r>
          </a:p>
          <a:p>
            <a:pPr marL="457200" indent="-457200">
              <a:buFont typeface="+mj-lt"/>
              <a:buAutoNum type="arabicPeriod"/>
            </a:pPr>
            <a:r>
              <a:rPr lang="en-US" dirty="0"/>
              <a:t>Deadlock</a:t>
            </a:r>
          </a:p>
          <a:p>
            <a:pPr marL="457200" indent="-457200">
              <a:buFont typeface="+mj-lt"/>
              <a:buAutoNum type="arabicPeriod"/>
            </a:pPr>
            <a:r>
              <a:rPr lang="en-US" dirty="0"/>
              <a:t>Violation of mutual exclusion</a:t>
            </a:r>
          </a:p>
          <a:p>
            <a:endParaRPr lang="en-US" dirty="0"/>
          </a:p>
        </p:txBody>
      </p:sp>
      <p:sp>
        <p:nvSpPr>
          <p:cNvPr id="4" name="Date Placeholder 3">
            <a:extLst>
              <a:ext uri="{FF2B5EF4-FFF2-40B4-BE49-F238E27FC236}">
                <a16:creationId xmlns:a16="http://schemas.microsoft.com/office/drawing/2014/main" id="{7C097E0E-0BB1-87A1-F97E-9A97A43EFCA2}"/>
              </a:ext>
            </a:extLst>
          </p:cNvPr>
          <p:cNvSpPr>
            <a:spLocks noGrp="1"/>
          </p:cNvSpPr>
          <p:nvPr>
            <p:ph type="dt" sz="half" idx="10"/>
          </p:nvPr>
        </p:nvSpPr>
        <p:spPr/>
        <p:txBody>
          <a:bodyPr/>
          <a:lstStyle/>
          <a:p>
            <a:r>
              <a:rPr lang="en-US"/>
              <a:t>Vincenzo Gulisano</a:t>
            </a:r>
          </a:p>
        </p:txBody>
      </p:sp>
      <p:sp>
        <p:nvSpPr>
          <p:cNvPr id="5" name="Slide Number Placeholder 4">
            <a:extLst>
              <a:ext uri="{FF2B5EF4-FFF2-40B4-BE49-F238E27FC236}">
                <a16:creationId xmlns:a16="http://schemas.microsoft.com/office/drawing/2014/main" id="{A59E56E9-2437-3371-663A-07F48BB6BA1B}"/>
              </a:ext>
            </a:extLst>
          </p:cNvPr>
          <p:cNvSpPr>
            <a:spLocks noGrp="1"/>
          </p:cNvSpPr>
          <p:nvPr>
            <p:ph type="sldNum" sz="quarter" idx="12"/>
          </p:nvPr>
        </p:nvSpPr>
        <p:spPr/>
        <p:txBody>
          <a:bodyPr/>
          <a:lstStyle/>
          <a:p>
            <a:fld id="{67FCC1A6-2294-BF46-A2F7-E6BDB92DF1BF}" type="slidenum">
              <a:rPr lang="en-US" smtClean="0"/>
              <a:t>46</a:t>
            </a:fld>
            <a:endParaRPr lang="en-US"/>
          </a:p>
        </p:txBody>
      </p:sp>
    </p:spTree>
    <p:extLst>
      <p:ext uri="{BB962C8B-B14F-4D97-AF65-F5344CB8AC3E}">
        <p14:creationId xmlns:p14="http://schemas.microsoft.com/office/powerpoint/2010/main" val="1004857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39F1F-B927-B5A1-36C9-BA8B0DC2DAB3}"/>
              </a:ext>
            </a:extLst>
          </p:cNvPr>
          <p:cNvSpPr>
            <a:spLocks noGrp="1"/>
          </p:cNvSpPr>
          <p:nvPr>
            <p:ph type="title"/>
          </p:nvPr>
        </p:nvSpPr>
        <p:spPr/>
        <p:txBody>
          <a:bodyPr/>
          <a:lstStyle/>
          <a:p>
            <a:r>
              <a:rPr lang="en-US" dirty="0"/>
              <a:t>Is mutual exclusion guaranteed by this approach?</a:t>
            </a:r>
          </a:p>
        </p:txBody>
      </p:sp>
      <p:sp>
        <p:nvSpPr>
          <p:cNvPr id="4" name="Date Placeholder 3">
            <a:extLst>
              <a:ext uri="{FF2B5EF4-FFF2-40B4-BE49-F238E27FC236}">
                <a16:creationId xmlns:a16="http://schemas.microsoft.com/office/drawing/2014/main" id="{53B0A70A-9D04-00BA-930B-37C6FBC4AE9A}"/>
              </a:ext>
            </a:extLst>
          </p:cNvPr>
          <p:cNvSpPr>
            <a:spLocks noGrp="1"/>
          </p:cNvSpPr>
          <p:nvPr>
            <p:ph type="dt" sz="half" idx="10"/>
          </p:nvPr>
        </p:nvSpPr>
        <p:spPr/>
        <p:txBody>
          <a:bodyPr/>
          <a:lstStyle/>
          <a:p>
            <a:r>
              <a:rPr lang="en-US"/>
              <a:t>Vincenzo Gulisano</a:t>
            </a:r>
          </a:p>
        </p:txBody>
      </p:sp>
      <p:sp>
        <p:nvSpPr>
          <p:cNvPr id="5" name="Slide Number Placeholder 4">
            <a:extLst>
              <a:ext uri="{FF2B5EF4-FFF2-40B4-BE49-F238E27FC236}">
                <a16:creationId xmlns:a16="http://schemas.microsoft.com/office/drawing/2014/main" id="{1039D5B2-5398-8070-B55C-81D561F8F15E}"/>
              </a:ext>
            </a:extLst>
          </p:cNvPr>
          <p:cNvSpPr>
            <a:spLocks noGrp="1"/>
          </p:cNvSpPr>
          <p:nvPr>
            <p:ph type="sldNum" sz="quarter" idx="12"/>
          </p:nvPr>
        </p:nvSpPr>
        <p:spPr/>
        <p:txBody>
          <a:bodyPr/>
          <a:lstStyle/>
          <a:p>
            <a:fld id="{67FCC1A6-2294-BF46-A2F7-E6BDB92DF1BF}" type="slidenum">
              <a:rPr lang="en-US" smtClean="0"/>
              <a:t>47</a:t>
            </a:fld>
            <a:endParaRPr lang="en-US"/>
          </a:p>
        </p:txBody>
      </p:sp>
      <p:pic>
        <p:nvPicPr>
          <p:cNvPr id="6" name="Graphic 5">
            <a:extLst>
              <a:ext uri="{FF2B5EF4-FFF2-40B4-BE49-F238E27FC236}">
                <a16:creationId xmlns:a16="http://schemas.microsoft.com/office/drawing/2014/main" id="{ADF92F92-99D5-C9D1-887E-9C1CC9CEDB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89560" y="2120470"/>
            <a:ext cx="5501000" cy="3806098"/>
          </a:xfrm>
          <a:prstGeom prst="rect">
            <a:avLst/>
          </a:prstGeom>
        </p:spPr>
      </p:pic>
    </p:spTree>
    <p:extLst>
      <p:ext uri="{BB962C8B-B14F-4D97-AF65-F5344CB8AC3E}">
        <p14:creationId xmlns:p14="http://schemas.microsoft.com/office/powerpoint/2010/main" val="12212924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2264</TotalTime>
  <Words>8140</Words>
  <Application>Microsoft Macintosh PowerPoint</Application>
  <PresentationFormat>Widescreen</PresentationFormat>
  <Paragraphs>854</Paragraphs>
  <Slides>47</Slides>
  <Notes>45</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47</vt:i4>
      </vt:variant>
    </vt:vector>
  </HeadingPairs>
  <TitlesOfParts>
    <vt:vector size="64" baseType="lpstr">
      <vt:lpstr>MS PGothic</vt:lpstr>
      <vt:lpstr>MS PGothic</vt:lpstr>
      <vt:lpstr>Arial</vt:lpstr>
      <vt:lpstr>Calibri</vt:lpstr>
      <vt:lpstr>Calibri Light</vt:lpstr>
      <vt:lpstr>Comic Sans MS</vt:lpstr>
      <vt:lpstr>Courier New</vt:lpstr>
      <vt:lpstr>Garamond</vt:lpstr>
      <vt:lpstr>Helvetica</vt:lpstr>
      <vt:lpstr>Monotype Sorts</vt:lpstr>
      <vt:lpstr>MT Extra</vt:lpstr>
      <vt:lpstr>Symbol</vt:lpstr>
      <vt:lpstr>Times New Roman</vt:lpstr>
      <vt:lpstr>Verdana</vt:lpstr>
      <vt:lpstr>Wingdings</vt:lpstr>
      <vt:lpstr>Office Theme</vt:lpstr>
      <vt:lpstr>1_Office Theme</vt:lpstr>
      <vt:lpstr>Synchronization - Part 1 Operating Systems – EDA093/DIT401  Vincenzo Gulisano vincenzo.gulisano@chalmers.se</vt:lpstr>
      <vt:lpstr>What to read (Main textbook)  - This is for both lectures on synchronization</vt:lpstr>
      <vt:lpstr>Agenda</vt:lpstr>
      <vt:lpstr>Agenda</vt:lpstr>
      <vt:lpstr>Previously on Operating Systems</vt:lpstr>
      <vt:lpstr>On the need for proper synchronization: example</vt:lpstr>
      <vt:lpstr>Question</vt:lpstr>
      <vt:lpstr>Agenda</vt:lpstr>
      <vt:lpstr>The Critical-Section (aka Critical Region) Problem</vt:lpstr>
      <vt:lpstr>Critical section: desirable behavior</vt:lpstr>
      <vt:lpstr>Beware!</vt:lpstr>
      <vt:lpstr>PowerPoint Presentation</vt:lpstr>
      <vt:lpstr>check-competition: mutual exclusion property?</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On counterexamples &amp; proofs by way of contradiction:</vt:lpstr>
      <vt:lpstr>Agenda</vt:lpstr>
      <vt:lpstr>PowerPoint Presentation</vt:lpstr>
      <vt:lpstr>PowerPoint Presentation</vt:lpstr>
      <vt:lpstr>PowerPoint Presentation</vt:lpstr>
      <vt:lpstr>PowerPoint Presentation</vt:lpstr>
      <vt:lpstr>PowerPoint Presentation</vt:lpstr>
      <vt:lpstr>Agenda</vt:lpstr>
      <vt:lpstr>PowerPoint Presentation</vt:lpstr>
      <vt:lpstr>Critical section of n threads using semaphores</vt:lpstr>
      <vt:lpstr>Semaphores as General Synchronization Tools </vt:lpstr>
      <vt:lpstr>Agenda</vt:lpstr>
      <vt:lpstr>Other synchronization operations/constructs:</vt:lpstr>
      <vt:lpstr>Linux Synchronization provides support for:</vt:lpstr>
      <vt:lpstr>Pthreads Synchronization</vt:lpstr>
      <vt:lpstr>Questions</vt:lpstr>
      <vt:lpstr>Question</vt:lpstr>
      <vt:lpstr>Question</vt:lpstr>
      <vt:lpstr>PowerPoint Presentation</vt:lpstr>
      <vt:lpstr>Is mutual exclusion guaranteed by this approach?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Vincenzo Massimiliano Gulisano</dc:creator>
  <cp:lastModifiedBy>Vincenzo Gulisano</cp:lastModifiedBy>
  <cp:revision>34</cp:revision>
  <dcterms:created xsi:type="dcterms:W3CDTF">2022-07-22T10:28:46Z</dcterms:created>
  <dcterms:modified xsi:type="dcterms:W3CDTF">2026-09-16T07:20:42Z</dcterms:modified>
</cp:coreProperties>
</file>